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x="18288000" cy="10287000"/>
  <p:notesSz cx="6858000" cy="9144000"/>
  <p:embeddedFontLst>
    <p:embeddedFont>
      <p:font typeface="Pompiere" charset="1" panose="02000000000000000000"/>
      <p:regular r:id="rId33"/>
    </p:embeddedFont>
    <p:embeddedFont>
      <p:font typeface="A Day Without Sun Text Bold" charset="1" panose="02000506000000090004"/>
      <p:regular r:id="rId34"/>
    </p:embeddedFont>
    <p:embeddedFont>
      <p:font typeface="A Day Without Sun Text" charset="1" panose="02000506000000090004"/>
      <p:regular r:id="rId35"/>
    </p:embeddedFont>
    <p:embeddedFont>
      <p:font typeface="Telegraf Bold" charset="1" panose="00000800000000000000"/>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6.png" Type="http://schemas.openxmlformats.org/officeDocument/2006/relationships/image"/><Relationship Id="rId2" Target="../media/image15.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1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jpe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2" Target="../media/image22.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1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 Id="rId4" Target="../media/image2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6.png" Type="http://schemas.openxmlformats.org/officeDocument/2006/relationships/image"/><Relationship Id="rId9" Target="../media/image13.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4442528" cy="4867312"/>
          </a:xfrm>
          <a:custGeom>
            <a:avLst/>
            <a:gdLst/>
            <a:ahLst/>
            <a:cxnLst/>
            <a:rect r="r" b="b" t="t" l="l"/>
            <a:pathLst>
              <a:path h="4867312" w="4442528">
                <a:moveTo>
                  <a:pt x="0" y="0"/>
                </a:moveTo>
                <a:lnTo>
                  <a:pt x="4442528" y="0"/>
                </a:lnTo>
                <a:lnTo>
                  <a:pt x="4442528" y="4867312"/>
                </a:lnTo>
                <a:lnTo>
                  <a:pt x="0" y="48673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127318" y="6803185"/>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0" y="6803185"/>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166785" y="-81427"/>
            <a:ext cx="5121215" cy="3771077"/>
          </a:xfrm>
          <a:custGeom>
            <a:avLst/>
            <a:gdLst/>
            <a:ahLst/>
            <a:cxnLst/>
            <a:rect r="r" b="b" t="t" l="l"/>
            <a:pathLst>
              <a:path h="3771077" w="5121215">
                <a:moveTo>
                  <a:pt x="0" y="0"/>
                </a:moveTo>
                <a:lnTo>
                  <a:pt x="5121215" y="0"/>
                </a:lnTo>
                <a:lnTo>
                  <a:pt x="5121215" y="3771077"/>
                </a:lnTo>
                <a:lnTo>
                  <a:pt x="0" y="37710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10266217">
            <a:off x="5556980" y="-1060729"/>
            <a:ext cx="7315200" cy="3165487"/>
          </a:xfrm>
          <a:custGeom>
            <a:avLst/>
            <a:gdLst/>
            <a:ahLst/>
            <a:cxnLst/>
            <a:rect r="r" b="b" t="t" l="l"/>
            <a:pathLst>
              <a:path h="3165487" w="7315200">
                <a:moveTo>
                  <a:pt x="0" y="0"/>
                </a:moveTo>
                <a:lnTo>
                  <a:pt x="7315200" y="0"/>
                </a:lnTo>
                <a:lnTo>
                  <a:pt x="7315200" y="3165487"/>
                </a:lnTo>
                <a:lnTo>
                  <a:pt x="0" y="316548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1005739">
            <a:off x="6416724" y="7692852"/>
            <a:ext cx="6775868" cy="4114800"/>
          </a:xfrm>
          <a:custGeom>
            <a:avLst/>
            <a:gdLst/>
            <a:ahLst/>
            <a:cxnLst/>
            <a:rect r="r" b="b" t="t" l="l"/>
            <a:pathLst>
              <a:path h="4114800" w="6775868">
                <a:moveTo>
                  <a:pt x="0" y="0"/>
                </a:moveTo>
                <a:lnTo>
                  <a:pt x="6775868" y="0"/>
                </a:lnTo>
                <a:lnTo>
                  <a:pt x="6775868"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8" id="8"/>
          <p:cNvSpPr txBox="true"/>
          <p:nvPr/>
        </p:nvSpPr>
        <p:spPr>
          <a:xfrm rot="0">
            <a:off x="5208943" y="1730718"/>
            <a:ext cx="7870114" cy="3002419"/>
          </a:xfrm>
          <a:prstGeom prst="rect">
            <a:avLst/>
          </a:prstGeom>
        </p:spPr>
        <p:txBody>
          <a:bodyPr anchor="t" rtlCol="false" tIns="0" lIns="0" bIns="0" rIns="0">
            <a:spAutoFit/>
          </a:bodyPr>
          <a:lstStyle/>
          <a:p>
            <a:pPr algn="ctr">
              <a:lnSpc>
                <a:spcPts val="24510"/>
              </a:lnSpc>
            </a:pPr>
            <a:r>
              <a:rPr lang="en-US" sz="17507">
                <a:solidFill>
                  <a:srgbClr val="000000"/>
                </a:solidFill>
                <a:latin typeface="Pompiere"/>
                <a:ea typeface="Pompiere"/>
                <a:cs typeface="Pompiere"/>
                <a:sym typeface="Pompiere"/>
              </a:rPr>
              <a:t>CURSO  DE</a:t>
            </a:r>
          </a:p>
        </p:txBody>
      </p:sp>
      <p:sp>
        <p:nvSpPr>
          <p:cNvPr name="TextBox 9" id="9"/>
          <p:cNvSpPr txBox="true"/>
          <p:nvPr/>
        </p:nvSpPr>
        <p:spPr>
          <a:xfrm rot="0">
            <a:off x="4332481" y="3015679"/>
            <a:ext cx="9623038" cy="4645348"/>
          </a:xfrm>
          <a:prstGeom prst="rect">
            <a:avLst/>
          </a:prstGeom>
        </p:spPr>
        <p:txBody>
          <a:bodyPr anchor="t" rtlCol="false" tIns="0" lIns="0" bIns="0" rIns="0">
            <a:spAutoFit/>
          </a:bodyPr>
          <a:lstStyle/>
          <a:p>
            <a:pPr algn="ctr">
              <a:lnSpc>
                <a:spcPts val="37564"/>
              </a:lnSpc>
            </a:pPr>
            <a:r>
              <a:rPr lang="en-US" b="true" sz="26831">
                <a:solidFill>
                  <a:srgbClr val="000000"/>
                </a:solidFill>
                <a:latin typeface="A Day Without Sun Text Bold"/>
                <a:ea typeface="A Day Without Sun Text Bold"/>
                <a:cs typeface="A Day Without Sun Text Bold"/>
                <a:sym typeface="A Day Without Sun Text Bold"/>
              </a:rPr>
              <a:t>PYTHON</a:t>
            </a:r>
          </a:p>
        </p:txBody>
      </p:sp>
      <p:sp>
        <p:nvSpPr>
          <p:cNvPr name="TextBox 10" id="10"/>
          <p:cNvSpPr txBox="true"/>
          <p:nvPr/>
        </p:nvSpPr>
        <p:spPr>
          <a:xfrm rot="0">
            <a:off x="8128992" y="6958479"/>
            <a:ext cx="2030016" cy="712832"/>
          </a:xfrm>
          <a:prstGeom prst="rect">
            <a:avLst/>
          </a:prstGeom>
        </p:spPr>
        <p:txBody>
          <a:bodyPr anchor="t" rtlCol="false" tIns="0" lIns="0" bIns="0" rIns="0">
            <a:spAutoFit/>
          </a:bodyPr>
          <a:lstStyle/>
          <a:p>
            <a:pPr algn="ctr">
              <a:lnSpc>
                <a:spcPts val="5860"/>
              </a:lnSpc>
            </a:pPr>
            <a:r>
              <a:rPr lang="en-US" sz="4185">
                <a:solidFill>
                  <a:srgbClr val="000000"/>
                </a:solidFill>
                <a:latin typeface="Pompiere"/>
                <a:ea typeface="Pompiere"/>
                <a:cs typeface="Pompiere"/>
                <a:sym typeface="Pompiere"/>
              </a:rPr>
              <a:t>SUPERATEC</a:t>
            </a:r>
          </a:p>
        </p:txBody>
      </p:sp>
      <p:sp>
        <p:nvSpPr>
          <p:cNvPr name="TextBox 11" id="11"/>
          <p:cNvSpPr txBox="true"/>
          <p:nvPr/>
        </p:nvSpPr>
        <p:spPr>
          <a:xfrm rot="0">
            <a:off x="8522615" y="1727912"/>
            <a:ext cx="1242771" cy="576493"/>
          </a:xfrm>
          <a:prstGeom prst="rect">
            <a:avLst/>
          </a:prstGeom>
        </p:spPr>
        <p:txBody>
          <a:bodyPr anchor="t" rtlCol="false" tIns="0" lIns="0" bIns="0" rIns="0">
            <a:spAutoFit/>
          </a:bodyPr>
          <a:lstStyle/>
          <a:p>
            <a:pPr algn="ctr">
              <a:lnSpc>
                <a:spcPts val="4605"/>
              </a:lnSpc>
            </a:pPr>
            <a:r>
              <a:rPr lang="en-US" sz="3289">
                <a:solidFill>
                  <a:srgbClr val="000000"/>
                </a:solidFill>
                <a:latin typeface="Pompiere"/>
                <a:ea typeface="Pompiere"/>
                <a:cs typeface="Pompiere"/>
                <a:sym typeface="Pompiere"/>
              </a:rPr>
              <a:t>CLASE III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07021">
            <a:off x="12622351" y="6816928"/>
            <a:ext cx="7783365" cy="4358685"/>
          </a:xfrm>
          <a:custGeom>
            <a:avLst/>
            <a:gdLst/>
            <a:ahLst/>
            <a:cxnLst/>
            <a:rect r="r" b="b" t="t" l="l"/>
            <a:pathLst>
              <a:path h="4358685" w="7783365">
                <a:moveTo>
                  <a:pt x="0" y="0"/>
                </a:moveTo>
                <a:lnTo>
                  <a:pt x="7783365" y="0"/>
                </a:lnTo>
                <a:lnTo>
                  <a:pt x="7783365" y="4358684"/>
                </a:lnTo>
                <a:lnTo>
                  <a:pt x="0" y="43586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2474472"/>
            <a:ext cx="16440560" cy="6027485"/>
          </a:xfrm>
          <a:prstGeom prst="rect">
            <a:avLst/>
          </a:prstGeom>
        </p:spPr>
        <p:txBody>
          <a:bodyPr anchor="t" rtlCol="false" tIns="0" lIns="0" bIns="0" rIns="0">
            <a:spAutoFit/>
          </a:bodyPr>
          <a:lstStyle/>
          <a:p>
            <a:pPr algn="l">
              <a:lnSpc>
                <a:spcPts val="7976"/>
              </a:lnSpc>
            </a:pPr>
            <a:r>
              <a:rPr lang="en-US" sz="5697">
                <a:solidFill>
                  <a:srgbClr val="000000"/>
                </a:solidFill>
                <a:latin typeface="A Day Without Sun Text"/>
                <a:ea typeface="A Day Without Sun Text"/>
                <a:cs typeface="A Day Without Sun Text"/>
                <a:sym typeface="A Day Without Sun Text"/>
              </a:rPr>
              <a:t>1- Frontend VS Backend</a:t>
            </a:r>
          </a:p>
          <a:p>
            <a:pPr algn="l">
              <a:lnSpc>
                <a:spcPts val="7976"/>
              </a:lnSpc>
            </a:pPr>
            <a:r>
              <a:rPr lang="en-US" sz="5697">
                <a:solidFill>
                  <a:srgbClr val="000000"/>
                </a:solidFill>
                <a:latin typeface="A Day Without Sun Text"/>
                <a:ea typeface="A Day Without Sun Text"/>
                <a:cs typeface="A Day Without Sun Text"/>
                <a:sym typeface="A Day Without Sun Text"/>
              </a:rPr>
              <a:t>2-  La identación en Python ( El uso del tabulador )</a:t>
            </a:r>
          </a:p>
          <a:p>
            <a:pPr algn="l">
              <a:lnSpc>
                <a:spcPts val="7976"/>
              </a:lnSpc>
            </a:pPr>
            <a:r>
              <a:rPr lang="en-US" sz="5697">
                <a:solidFill>
                  <a:srgbClr val="000000"/>
                </a:solidFill>
                <a:latin typeface="A Day Without Sun Text"/>
                <a:ea typeface="A Day Without Sun Text"/>
                <a:cs typeface="A Day Without Sun Text"/>
                <a:sym typeface="A Day Without Sun Text"/>
              </a:rPr>
              <a:t>3- Comentarios en Python</a:t>
            </a:r>
          </a:p>
          <a:p>
            <a:pPr algn="l">
              <a:lnSpc>
                <a:spcPts val="7976"/>
              </a:lnSpc>
            </a:pPr>
            <a:r>
              <a:rPr lang="en-US" sz="5697">
                <a:solidFill>
                  <a:srgbClr val="000000"/>
                </a:solidFill>
                <a:latin typeface="A Day Without Sun Text"/>
                <a:ea typeface="A Day Without Sun Text"/>
                <a:cs typeface="A Day Without Sun Text"/>
                <a:sym typeface="A Day Without Sun Text"/>
              </a:rPr>
              <a:t>4- Operadores Aritméticos, Comparación, Lógicos y Asignación </a:t>
            </a:r>
          </a:p>
          <a:p>
            <a:pPr algn="l">
              <a:lnSpc>
                <a:spcPts val="7976"/>
              </a:lnSpc>
            </a:pPr>
            <a:r>
              <a:rPr lang="en-US" sz="5697">
                <a:solidFill>
                  <a:srgbClr val="000000"/>
                </a:solidFill>
                <a:latin typeface="A Day Without Sun Text"/>
                <a:ea typeface="A Day Without Sun Text"/>
                <a:cs typeface="A Day Without Sun Text"/>
                <a:sym typeface="A Day Without Sun Text"/>
              </a:rPr>
              <a:t>( + - / *, &lt; &gt; =&lt; =&gt;, != == +=, AND OR NOT )</a:t>
            </a:r>
          </a:p>
          <a:p>
            <a:pPr algn="l">
              <a:lnSpc>
                <a:spcPts val="7976"/>
              </a:lnSpc>
              <a:spcBef>
                <a:spcPct val="0"/>
              </a:spcBef>
            </a:pPr>
            <a:r>
              <a:rPr lang="en-US" sz="5697">
                <a:solidFill>
                  <a:srgbClr val="000000"/>
                </a:solidFill>
                <a:latin typeface="A Day Without Sun Text"/>
                <a:ea typeface="A Day Without Sun Text"/>
                <a:cs typeface="A Day Without Sun Text"/>
                <a:sym typeface="A Day Without Sun Text"/>
              </a:rPr>
              <a:t>5- Estructuras condicionales ( if, else y elif )</a:t>
            </a:r>
          </a:p>
        </p:txBody>
      </p:sp>
      <p:sp>
        <p:nvSpPr>
          <p:cNvPr name="Freeform 4" id="4"/>
          <p:cNvSpPr/>
          <p:nvPr/>
        </p:nvSpPr>
        <p:spPr>
          <a:xfrm flipH="false" flipV="false" rot="0">
            <a:off x="-587569" y="-789600"/>
            <a:ext cx="4442528" cy="4867312"/>
          </a:xfrm>
          <a:custGeom>
            <a:avLst/>
            <a:gdLst/>
            <a:ahLst/>
            <a:cxnLst/>
            <a:rect r="r" b="b" t="t" l="l"/>
            <a:pathLst>
              <a:path h="4867312" w="4442528">
                <a:moveTo>
                  <a:pt x="0" y="0"/>
                </a:moveTo>
                <a:lnTo>
                  <a:pt x="4442528" y="0"/>
                </a:lnTo>
                <a:lnTo>
                  <a:pt x="4442528" y="4867311"/>
                </a:lnTo>
                <a:lnTo>
                  <a:pt x="0" y="48673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301756">
            <a:off x="-1476855" y="8545092"/>
            <a:ext cx="6221098" cy="3483815"/>
          </a:xfrm>
          <a:custGeom>
            <a:avLst/>
            <a:gdLst/>
            <a:ahLst/>
            <a:cxnLst/>
            <a:rect r="r" b="b" t="t" l="l"/>
            <a:pathLst>
              <a:path h="3483815" w="6221098">
                <a:moveTo>
                  <a:pt x="0" y="0"/>
                </a:moveTo>
                <a:lnTo>
                  <a:pt x="6221099" y="0"/>
                </a:lnTo>
                <a:lnTo>
                  <a:pt x="6221099" y="3483816"/>
                </a:lnTo>
                <a:lnTo>
                  <a:pt x="0" y="34838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7310127">
            <a:off x="11263284" y="-2460977"/>
            <a:ext cx="9597730" cy="5008270"/>
          </a:xfrm>
          <a:custGeom>
            <a:avLst/>
            <a:gdLst/>
            <a:ahLst/>
            <a:cxnLst/>
            <a:rect r="r" b="b" t="t" l="l"/>
            <a:pathLst>
              <a:path h="5008270" w="9597730">
                <a:moveTo>
                  <a:pt x="0" y="0"/>
                </a:moveTo>
                <a:lnTo>
                  <a:pt x="9597730" y="0"/>
                </a:lnTo>
                <a:lnTo>
                  <a:pt x="9597730" y="5008270"/>
                </a:lnTo>
                <a:lnTo>
                  <a:pt x="0" y="500827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5293774" y="1269524"/>
            <a:ext cx="6571651" cy="872466"/>
          </a:xfrm>
          <a:prstGeom prst="rect">
            <a:avLst/>
          </a:prstGeom>
        </p:spPr>
        <p:txBody>
          <a:bodyPr anchor="t" rtlCol="false" tIns="0" lIns="0" bIns="0" rIns="0">
            <a:spAutoFit/>
          </a:bodyPr>
          <a:lstStyle/>
          <a:p>
            <a:pPr algn="ctr" marL="0" indent="0" lvl="0">
              <a:lnSpc>
                <a:spcPts val="7000"/>
              </a:lnSpc>
              <a:spcBef>
                <a:spcPct val="0"/>
              </a:spcBef>
            </a:pPr>
            <a:r>
              <a:rPr lang="en-US" b="true" sz="5000">
                <a:solidFill>
                  <a:srgbClr val="000000"/>
                </a:solidFill>
                <a:latin typeface="A Day Without Sun Text Bold"/>
                <a:ea typeface="A Day Without Sun Text Bold"/>
                <a:cs typeface="A Day Without Sun Text Bold"/>
                <a:sym typeface="A Day Without Sun Text Bold"/>
              </a:rPr>
              <a:t>RESUMEN</a:t>
            </a:r>
            <a:r>
              <a:rPr lang="en-US" b="true" sz="5000">
                <a:solidFill>
                  <a:srgbClr val="000000"/>
                </a:solidFill>
                <a:latin typeface="A Day Without Sun Text Bold"/>
                <a:ea typeface="A Day Without Sun Text Bold"/>
                <a:cs typeface="A Day Without Sun Text Bold"/>
                <a:sym typeface="A Day Without Sun Text Bold"/>
              </a:rPr>
              <a:t> DE CLASE ANTERIOR</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07021">
            <a:off x="12622351" y="6816928"/>
            <a:ext cx="7783365" cy="4358685"/>
          </a:xfrm>
          <a:custGeom>
            <a:avLst/>
            <a:gdLst/>
            <a:ahLst/>
            <a:cxnLst/>
            <a:rect r="r" b="b" t="t" l="l"/>
            <a:pathLst>
              <a:path h="4358685" w="7783365">
                <a:moveTo>
                  <a:pt x="0" y="0"/>
                </a:moveTo>
                <a:lnTo>
                  <a:pt x="7783365" y="0"/>
                </a:lnTo>
                <a:lnTo>
                  <a:pt x="7783365" y="4358684"/>
                </a:lnTo>
                <a:lnTo>
                  <a:pt x="0" y="43586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854959" y="2801949"/>
            <a:ext cx="10160820" cy="2892455"/>
          </a:xfrm>
          <a:prstGeom prst="rect">
            <a:avLst/>
          </a:prstGeom>
        </p:spPr>
        <p:txBody>
          <a:bodyPr anchor="t" rtlCol="false" tIns="0" lIns="0" bIns="0" rIns="0">
            <a:spAutoFit/>
          </a:bodyPr>
          <a:lstStyle/>
          <a:p>
            <a:pPr algn="l">
              <a:lnSpc>
                <a:spcPts val="7702"/>
              </a:lnSpc>
              <a:spcBef>
                <a:spcPct val="0"/>
              </a:spcBef>
            </a:pPr>
            <a:r>
              <a:rPr lang="en-US" sz="5501">
                <a:solidFill>
                  <a:srgbClr val="000000"/>
                </a:solidFill>
                <a:latin typeface="A Day Without Sun Text"/>
                <a:ea typeface="A Day Without Sun Text"/>
                <a:cs typeface="A Day Without Sun Text"/>
                <a:sym typeface="A Day Without Sun Text"/>
              </a:rPr>
              <a:t>Crear un algoritmo donde el usuario pueda interactuar con un sistema el cual represente sus acciones en tiempo real</a:t>
            </a:r>
          </a:p>
        </p:txBody>
      </p:sp>
      <p:sp>
        <p:nvSpPr>
          <p:cNvPr name="Freeform 4" id="4"/>
          <p:cNvSpPr/>
          <p:nvPr/>
        </p:nvSpPr>
        <p:spPr>
          <a:xfrm flipH="false" flipV="false" rot="0">
            <a:off x="-587569" y="-789600"/>
            <a:ext cx="4442528" cy="4867312"/>
          </a:xfrm>
          <a:custGeom>
            <a:avLst/>
            <a:gdLst/>
            <a:ahLst/>
            <a:cxnLst/>
            <a:rect r="r" b="b" t="t" l="l"/>
            <a:pathLst>
              <a:path h="4867312" w="4442528">
                <a:moveTo>
                  <a:pt x="0" y="0"/>
                </a:moveTo>
                <a:lnTo>
                  <a:pt x="4442528" y="0"/>
                </a:lnTo>
                <a:lnTo>
                  <a:pt x="4442528" y="4867311"/>
                </a:lnTo>
                <a:lnTo>
                  <a:pt x="0" y="48673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301756">
            <a:off x="-1476855" y="8545092"/>
            <a:ext cx="6221098" cy="3483815"/>
          </a:xfrm>
          <a:custGeom>
            <a:avLst/>
            <a:gdLst/>
            <a:ahLst/>
            <a:cxnLst/>
            <a:rect r="r" b="b" t="t" l="l"/>
            <a:pathLst>
              <a:path h="3483815" w="6221098">
                <a:moveTo>
                  <a:pt x="0" y="0"/>
                </a:moveTo>
                <a:lnTo>
                  <a:pt x="6221099" y="0"/>
                </a:lnTo>
                <a:lnTo>
                  <a:pt x="6221099" y="3483816"/>
                </a:lnTo>
                <a:lnTo>
                  <a:pt x="0" y="34838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7310127">
            <a:off x="11256058" y="-1370536"/>
            <a:ext cx="9597730" cy="5008270"/>
          </a:xfrm>
          <a:custGeom>
            <a:avLst/>
            <a:gdLst/>
            <a:ahLst/>
            <a:cxnLst/>
            <a:rect r="r" b="b" t="t" l="l"/>
            <a:pathLst>
              <a:path h="5008270" w="9597730">
                <a:moveTo>
                  <a:pt x="0" y="0"/>
                </a:moveTo>
                <a:lnTo>
                  <a:pt x="9597730" y="0"/>
                </a:lnTo>
                <a:lnTo>
                  <a:pt x="9597730" y="5008270"/>
                </a:lnTo>
                <a:lnTo>
                  <a:pt x="0" y="500827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5437268" y="1269524"/>
            <a:ext cx="6284664" cy="872466"/>
          </a:xfrm>
          <a:prstGeom prst="rect">
            <a:avLst/>
          </a:prstGeom>
        </p:spPr>
        <p:txBody>
          <a:bodyPr anchor="t" rtlCol="false" tIns="0" lIns="0" bIns="0" rIns="0">
            <a:spAutoFit/>
          </a:bodyPr>
          <a:lstStyle/>
          <a:p>
            <a:pPr algn="ctr" marL="0" indent="0" lvl="0">
              <a:lnSpc>
                <a:spcPts val="7000"/>
              </a:lnSpc>
              <a:spcBef>
                <a:spcPct val="0"/>
              </a:spcBef>
            </a:pPr>
            <a:r>
              <a:rPr lang="en-US" b="true" sz="5000">
                <a:solidFill>
                  <a:srgbClr val="000000"/>
                </a:solidFill>
                <a:latin typeface="A Day Without Sun Text Bold"/>
                <a:ea typeface="A Day Without Sun Text Bold"/>
                <a:cs typeface="A Day Without Sun Text Bold"/>
                <a:sym typeface="A Day Without Sun Text Bold"/>
              </a:rPr>
              <a:t>REPASO DE CLASE ANTERIOR</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07021">
            <a:off x="12622351" y="6816928"/>
            <a:ext cx="7783365" cy="4358685"/>
          </a:xfrm>
          <a:custGeom>
            <a:avLst/>
            <a:gdLst/>
            <a:ahLst/>
            <a:cxnLst/>
            <a:rect r="r" b="b" t="t" l="l"/>
            <a:pathLst>
              <a:path h="4358685" w="7783365">
                <a:moveTo>
                  <a:pt x="0" y="0"/>
                </a:moveTo>
                <a:lnTo>
                  <a:pt x="7783365" y="0"/>
                </a:lnTo>
                <a:lnTo>
                  <a:pt x="7783365" y="4358684"/>
                </a:lnTo>
                <a:lnTo>
                  <a:pt x="0" y="43586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825865" y="2791614"/>
            <a:ext cx="10522467" cy="6997322"/>
          </a:xfrm>
          <a:prstGeom prst="rect">
            <a:avLst/>
          </a:prstGeom>
        </p:spPr>
        <p:txBody>
          <a:bodyPr anchor="t" rtlCol="false" tIns="0" lIns="0" bIns="0" rIns="0">
            <a:spAutoFit/>
          </a:bodyPr>
          <a:lstStyle/>
          <a:p>
            <a:pPr algn="l">
              <a:lnSpc>
                <a:spcPts val="7976"/>
              </a:lnSpc>
            </a:pPr>
            <a:r>
              <a:rPr lang="en-US" sz="5697">
                <a:solidFill>
                  <a:srgbClr val="000000"/>
                </a:solidFill>
                <a:latin typeface="A Day Without Sun Text"/>
                <a:ea typeface="A Day Without Sun Text"/>
                <a:cs typeface="A Day Without Sun Text"/>
                <a:sym typeface="A Day Without Sun Text"/>
              </a:rPr>
              <a:t>1- Como se comunica el front-end con el back-end.</a:t>
            </a:r>
          </a:p>
          <a:p>
            <a:pPr algn="l">
              <a:lnSpc>
                <a:spcPts val="7976"/>
              </a:lnSpc>
            </a:pPr>
            <a:r>
              <a:rPr lang="en-US" sz="5697">
                <a:solidFill>
                  <a:srgbClr val="000000"/>
                </a:solidFill>
                <a:latin typeface="A Day Without Sun Text"/>
                <a:ea typeface="A Day Without Sun Text"/>
                <a:cs typeface="A Day Without Sun Text"/>
                <a:sym typeface="A Day Without Sun Text"/>
              </a:rPr>
              <a:t>2- APIs</a:t>
            </a:r>
          </a:p>
          <a:p>
            <a:pPr algn="l">
              <a:lnSpc>
                <a:spcPts val="7976"/>
              </a:lnSpc>
            </a:pPr>
            <a:r>
              <a:rPr lang="en-US" sz="5697">
                <a:solidFill>
                  <a:srgbClr val="000000"/>
                </a:solidFill>
                <a:latin typeface="A Day Without Sun Text"/>
                <a:ea typeface="A Day Without Sun Text"/>
                <a:cs typeface="A Day Without Sun Text"/>
                <a:sym typeface="A Day Without Sun Text"/>
              </a:rPr>
              <a:t>1- Bucle While</a:t>
            </a:r>
          </a:p>
          <a:p>
            <a:pPr algn="l">
              <a:lnSpc>
                <a:spcPts val="7976"/>
              </a:lnSpc>
            </a:pPr>
            <a:r>
              <a:rPr lang="en-US" sz="5697">
                <a:solidFill>
                  <a:srgbClr val="000000"/>
                </a:solidFill>
                <a:latin typeface="A Day Without Sun Text"/>
                <a:ea typeface="A Day Without Sun Text"/>
                <a:cs typeface="A Day Without Sun Text"/>
                <a:sym typeface="A Day Without Sun Text"/>
              </a:rPr>
              <a:t>2- Bucle For</a:t>
            </a:r>
          </a:p>
          <a:p>
            <a:pPr algn="l">
              <a:lnSpc>
                <a:spcPts val="7976"/>
              </a:lnSpc>
              <a:spcBef>
                <a:spcPct val="0"/>
              </a:spcBef>
            </a:pPr>
            <a:r>
              <a:rPr lang="en-US" sz="5697">
                <a:solidFill>
                  <a:srgbClr val="000000"/>
                </a:solidFill>
                <a:latin typeface="A Day Without Sun Text"/>
                <a:ea typeface="A Day Without Sun Text"/>
                <a:cs typeface="A Day Without Sun Text"/>
                <a:sym typeface="A Day Without Sun Text"/>
              </a:rPr>
              <a:t>3- Uso de librerias nativas y el modulo ramdon</a:t>
            </a:r>
          </a:p>
        </p:txBody>
      </p:sp>
      <p:sp>
        <p:nvSpPr>
          <p:cNvPr name="Freeform 4" id="4"/>
          <p:cNvSpPr/>
          <p:nvPr/>
        </p:nvSpPr>
        <p:spPr>
          <a:xfrm flipH="false" flipV="false" rot="0">
            <a:off x="-587569" y="-789600"/>
            <a:ext cx="4442528" cy="4867312"/>
          </a:xfrm>
          <a:custGeom>
            <a:avLst/>
            <a:gdLst/>
            <a:ahLst/>
            <a:cxnLst/>
            <a:rect r="r" b="b" t="t" l="l"/>
            <a:pathLst>
              <a:path h="4867312" w="4442528">
                <a:moveTo>
                  <a:pt x="0" y="0"/>
                </a:moveTo>
                <a:lnTo>
                  <a:pt x="4442528" y="0"/>
                </a:lnTo>
                <a:lnTo>
                  <a:pt x="4442528" y="4867311"/>
                </a:lnTo>
                <a:lnTo>
                  <a:pt x="0" y="48673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301756">
            <a:off x="-1476855" y="8545092"/>
            <a:ext cx="6221098" cy="3483815"/>
          </a:xfrm>
          <a:custGeom>
            <a:avLst/>
            <a:gdLst/>
            <a:ahLst/>
            <a:cxnLst/>
            <a:rect r="r" b="b" t="t" l="l"/>
            <a:pathLst>
              <a:path h="3483815" w="6221098">
                <a:moveTo>
                  <a:pt x="0" y="0"/>
                </a:moveTo>
                <a:lnTo>
                  <a:pt x="6221099" y="0"/>
                </a:lnTo>
                <a:lnTo>
                  <a:pt x="6221099" y="3483816"/>
                </a:lnTo>
                <a:lnTo>
                  <a:pt x="0" y="34838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7310127">
            <a:off x="11256058" y="-1370536"/>
            <a:ext cx="9597730" cy="5008270"/>
          </a:xfrm>
          <a:custGeom>
            <a:avLst/>
            <a:gdLst/>
            <a:ahLst/>
            <a:cxnLst/>
            <a:rect r="r" b="b" t="t" l="l"/>
            <a:pathLst>
              <a:path h="5008270" w="9597730">
                <a:moveTo>
                  <a:pt x="0" y="0"/>
                </a:moveTo>
                <a:lnTo>
                  <a:pt x="9597730" y="0"/>
                </a:lnTo>
                <a:lnTo>
                  <a:pt x="9597730" y="5008270"/>
                </a:lnTo>
                <a:lnTo>
                  <a:pt x="0" y="500827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4499702" y="1269524"/>
            <a:ext cx="8159797" cy="872466"/>
          </a:xfrm>
          <a:prstGeom prst="rect">
            <a:avLst/>
          </a:prstGeom>
        </p:spPr>
        <p:txBody>
          <a:bodyPr anchor="t" rtlCol="false" tIns="0" lIns="0" bIns="0" rIns="0">
            <a:spAutoFit/>
          </a:bodyPr>
          <a:lstStyle/>
          <a:p>
            <a:pPr algn="ctr" marL="0" indent="0" lvl="0">
              <a:lnSpc>
                <a:spcPts val="7000"/>
              </a:lnSpc>
              <a:spcBef>
                <a:spcPct val="0"/>
              </a:spcBef>
            </a:pPr>
            <a:r>
              <a:rPr lang="en-US" b="true" sz="5000">
                <a:solidFill>
                  <a:srgbClr val="000000"/>
                </a:solidFill>
                <a:latin typeface="A Day Without Sun Text Bold"/>
                <a:ea typeface="A Day Without Sun Text Bold"/>
                <a:cs typeface="A Day Without Sun Text Bold"/>
                <a:sym typeface="A Day Without Sun Text Bold"/>
              </a:rPr>
              <a:t>PUNTOS A TRATAR EN EL DIA DE HOY</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447234" y="406244"/>
            <a:ext cx="1063265" cy="106326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4BBB"/>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144000" y="6475849"/>
            <a:ext cx="6515119" cy="5263655"/>
          </a:xfrm>
          <a:custGeom>
            <a:avLst/>
            <a:gdLst/>
            <a:ahLst/>
            <a:cxnLst/>
            <a:rect r="r" b="b" t="t" l="l"/>
            <a:pathLst>
              <a:path h="5263655" w="6515119">
                <a:moveTo>
                  <a:pt x="0" y="0"/>
                </a:moveTo>
                <a:lnTo>
                  <a:pt x="6515119" y="0"/>
                </a:lnTo>
                <a:lnTo>
                  <a:pt x="6515119" y="5263655"/>
                </a:lnTo>
                <a:lnTo>
                  <a:pt x="0" y="5263655"/>
                </a:lnTo>
                <a:lnTo>
                  <a:pt x="0" y="0"/>
                </a:lnTo>
                <a:close/>
              </a:path>
            </a:pathLst>
          </a:custGeom>
          <a:blipFill>
            <a:blip r:embed="rId2"/>
            <a:stretch>
              <a:fillRect l="-12480" t="0" r="-29333" b="0"/>
            </a:stretch>
          </a:blipFill>
        </p:spPr>
      </p:sp>
      <p:sp>
        <p:nvSpPr>
          <p:cNvPr name="Freeform 6" id="6"/>
          <p:cNvSpPr/>
          <p:nvPr/>
        </p:nvSpPr>
        <p:spPr>
          <a:xfrm flipH="false" flipV="false" rot="0">
            <a:off x="14758059" y="7504390"/>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055321" y="-1495779"/>
            <a:ext cx="4442528" cy="4867312"/>
          </a:xfrm>
          <a:custGeom>
            <a:avLst/>
            <a:gdLst/>
            <a:ahLst/>
            <a:cxnLst/>
            <a:rect r="r" b="b" t="t" l="l"/>
            <a:pathLst>
              <a:path h="4867312" w="4442528">
                <a:moveTo>
                  <a:pt x="0" y="0"/>
                </a:moveTo>
                <a:lnTo>
                  <a:pt x="4442528" y="0"/>
                </a:lnTo>
                <a:lnTo>
                  <a:pt x="4442528" y="4867311"/>
                </a:lnTo>
                <a:lnTo>
                  <a:pt x="0" y="48673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301756">
            <a:off x="-914593" y="8451872"/>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7310127">
            <a:off x="12882178" y="-1379687"/>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2195956" y="6475849"/>
            <a:ext cx="6134912" cy="6261507"/>
          </a:xfrm>
          <a:custGeom>
            <a:avLst/>
            <a:gdLst/>
            <a:ahLst/>
            <a:cxnLst/>
            <a:rect r="r" b="b" t="t" l="l"/>
            <a:pathLst>
              <a:path h="6261507" w="6134912">
                <a:moveTo>
                  <a:pt x="0" y="0"/>
                </a:moveTo>
                <a:lnTo>
                  <a:pt x="6134912" y="0"/>
                </a:lnTo>
                <a:lnTo>
                  <a:pt x="6134912" y="6261507"/>
                </a:lnTo>
                <a:lnTo>
                  <a:pt x="0" y="6261507"/>
                </a:lnTo>
                <a:lnTo>
                  <a:pt x="0" y="0"/>
                </a:lnTo>
                <a:close/>
              </a:path>
            </a:pathLst>
          </a:custGeom>
          <a:blipFill>
            <a:blip r:embed="rId11"/>
            <a:stretch>
              <a:fillRect l="-81746" t="0" r="0" b="0"/>
            </a:stretch>
          </a:blipFill>
        </p:spPr>
      </p:sp>
      <p:sp>
        <p:nvSpPr>
          <p:cNvPr name="TextBox 11" id="11"/>
          <p:cNvSpPr txBox="true"/>
          <p:nvPr/>
        </p:nvSpPr>
        <p:spPr>
          <a:xfrm rot="0">
            <a:off x="4551236" y="291944"/>
            <a:ext cx="9185529" cy="872466"/>
          </a:xfrm>
          <a:prstGeom prst="rect">
            <a:avLst/>
          </a:prstGeom>
        </p:spPr>
        <p:txBody>
          <a:bodyPr anchor="t" rtlCol="false" tIns="0" lIns="0" bIns="0" rIns="0">
            <a:spAutoFit/>
          </a:bodyPr>
          <a:lstStyle/>
          <a:p>
            <a:pPr algn="ctr" marL="0" indent="0" lvl="0">
              <a:lnSpc>
                <a:spcPts val="7000"/>
              </a:lnSpc>
              <a:spcBef>
                <a:spcPct val="0"/>
              </a:spcBef>
            </a:pPr>
            <a:r>
              <a:rPr lang="en-US" b="true" sz="5000">
                <a:solidFill>
                  <a:srgbClr val="000000"/>
                </a:solidFill>
                <a:latin typeface="A Day Without Sun Text Bold"/>
                <a:ea typeface="A Day Without Sun Text Bold"/>
                <a:cs typeface="A Day Without Sun Text Bold"/>
                <a:sym typeface="A Day Without Sun Text Bold"/>
              </a:rPr>
              <a:t>FRONT END </a:t>
            </a:r>
          </a:p>
        </p:txBody>
      </p:sp>
      <p:sp>
        <p:nvSpPr>
          <p:cNvPr name="TextBox 12" id="12"/>
          <p:cNvSpPr txBox="true"/>
          <p:nvPr/>
        </p:nvSpPr>
        <p:spPr>
          <a:xfrm rot="0">
            <a:off x="5447234" y="253844"/>
            <a:ext cx="1063265" cy="944245"/>
          </a:xfrm>
          <a:prstGeom prst="rect">
            <a:avLst/>
          </a:prstGeom>
        </p:spPr>
        <p:txBody>
          <a:bodyPr anchor="t" rtlCol="false" tIns="0" lIns="0" bIns="0" rIns="0">
            <a:spAutoFit/>
          </a:bodyPr>
          <a:lstStyle/>
          <a:p>
            <a:pPr algn="ctr">
              <a:lnSpc>
                <a:spcPts val="7279"/>
              </a:lnSpc>
            </a:pPr>
            <a:r>
              <a:rPr lang="en-US" sz="5199" b="true">
                <a:solidFill>
                  <a:srgbClr val="FFFFFF"/>
                </a:solidFill>
                <a:latin typeface="Telegraf Bold"/>
                <a:ea typeface="Telegraf Bold"/>
                <a:cs typeface="Telegraf Bold"/>
                <a:sym typeface="Telegraf Bold"/>
              </a:rPr>
              <a:t>2</a:t>
            </a:r>
          </a:p>
        </p:txBody>
      </p:sp>
      <p:sp>
        <p:nvSpPr>
          <p:cNvPr name="TextBox 13" id="13"/>
          <p:cNvSpPr txBox="true"/>
          <p:nvPr/>
        </p:nvSpPr>
        <p:spPr>
          <a:xfrm rot="0">
            <a:off x="2037623" y="1393309"/>
            <a:ext cx="14212754" cy="4777740"/>
          </a:xfrm>
          <a:prstGeom prst="rect">
            <a:avLst/>
          </a:prstGeom>
        </p:spPr>
        <p:txBody>
          <a:bodyPr anchor="t" rtlCol="false" tIns="0" lIns="0" bIns="0" rIns="0">
            <a:spAutoFit/>
          </a:bodyPr>
          <a:lstStyle/>
          <a:p>
            <a:pPr algn="ctr" marL="0" indent="0" lvl="0">
              <a:lnSpc>
                <a:spcPts val="5459"/>
              </a:lnSpc>
              <a:spcBef>
                <a:spcPct val="0"/>
              </a:spcBef>
            </a:pPr>
            <a:r>
              <a:rPr lang="en-US" b="true" sz="3900">
                <a:solidFill>
                  <a:srgbClr val="000000"/>
                </a:solidFill>
                <a:latin typeface="A Day Without Sun Text Bold"/>
                <a:ea typeface="A Day Without Sun Text Bold"/>
                <a:cs typeface="A Day Without Sun Text Bold"/>
                <a:sym typeface="A Day Without Sun Text Bold"/>
              </a:rPr>
              <a:t>LA COMUNICACIÓN DE FRONT-END, SE CENTRA EN LOS COMPONENTES DEL LADO DEL CLIENTE DE UNA APLICACIÓN WEB. INCLUYE HTML, CSS Y JAVASCRIPT, QUE SE ENCARGAN DE RENDERIZAR LOS ELEMENTOS VISUALES Y LOS COMPONENTES DE LA INTERFAZ DE USUARIO CON LOS QUE LOS USUARIOS INTERACTÚAN EN SUS NAVEGADORES. ESTO ABARCA EL DISEÑO DEL DISEÑO, LA IMPLEMENTACIÓN DE FUNCIONES INTERACTIVAS Y LA GARANTÍA DE UNA EXPERIENCIA DE USUARIO FLUIDA.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758059" y="7504390"/>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5321" y="-1495779"/>
            <a:ext cx="4442528" cy="4867312"/>
          </a:xfrm>
          <a:custGeom>
            <a:avLst/>
            <a:gdLst/>
            <a:ahLst/>
            <a:cxnLst/>
            <a:rect r="r" b="b" t="t" l="l"/>
            <a:pathLst>
              <a:path h="4867312" w="4442528">
                <a:moveTo>
                  <a:pt x="0" y="0"/>
                </a:moveTo>
                <a:lnTo>
                  <a:pt x="4442528" y="0"/>
                </a:lnTo>
                <a:lnTo>
                  <a:pt x="4442528" y="4867311"/>
                </a:lnTo>
                <a:lnTo>
                  <a:pt x="0" y="48673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7310127">
            <a:off x="12882178" y="-1379687"/>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2037623" y="1844597"/>
            <a:ext cx="14212754" cy="5463540"/>
          </a:xfrm>
          <a:prstGeom prst="rect">
            <a:avLst/>
          </a:prstGeom>
        </p:spPr>
        <p:txBody>
          <a:bodyPr anchor="t" rtlCol="false" tIns="0" lIns="0" bIns="0" rIns="0">
            <a:spAutoFit/>
          </a:bodyPr>
          <a:lstStyle/>
          <a:p>
            <a:pPr algn="ctr">
              <a:lnSpc>
                <a:spcPts val="5459"/>
              </a:lnSpc>
            </a:pPr>
            <a:r>
              <a:rPr lang="en-US" b="true" sz="3900">
                <a:solidFill>
                  <a:srgbClr val="000000"/>
                </a:solidFill>
                <a:latin typeface="A Day Without Sun Text Bold"/>
                <a:ea typeface="A Day Without Sun Text Bold"/>
                <a:cs typeface="A Day Without Sun Text Bold"/>
                <a:sym typeface="A Day Without Sun Text Bold"/>
              </a:rPr>
              <a:t>EL BACK-END (O LADO DEL SERVIDOR) ES LA CAPA INTERNA DE UNA APLICACIÓN WEB O SOFTWARE QUE FUNCIONA DETRÁS DE ESCENA. ES LA LÓGICA DE NEGOCIO QUE LOS USUARIOS NO VEN DIRECTAMENTE, PERO QUE SE ENCARGA DE PROCESAR LOS DATOS, ADMINISTRAR LAS BASES DE DATOS, GESTIONAR LA AUTENTICACIÓN Y GARANTIZAR QUE EL SISTEMA FUNCIONE DE FORMA CORRECTA Y SEGURA.</a:t>
            </a:r>
          </a:p>
          <a:p>
            <a:pPr algn="ctr">
              <a:lnSpc>
                <a:spcPts val="5459"/>
              </a:lnSpc>
            </a:pPr>
          </a:p>
          <a:p>
            <a:pPr algn="ctr" marL="0" indent="0" lvl="0">
              <a:lnSpc>
                <a:spcPts val="5459"/>
              </a:lnSpc>
              <a:spcBef>
                <a:spcPct val="0"/>
              </a:spcBef>
            </a:pPr>
          </a:p>
        </p:txBody>
      </p:sp>
      <p:grpSp>
        <p:nvGrpSpPr>
          <p:cNvPr name="Group 6" id="6"/>
          <p:cNvGrpSpPr/>
          <p:nvPr/>
        </p:nvGrpSpPr>
        <p:grpSpPr>
          <a:xfrm rot="0">
            <a:off x="5447234" y="406244"/>
            <a:ext cx="1063265" cy="106326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4BBB"/>
            </a:solidFill>
          </p:spPr>
        </p:sp>
        <p:sp>
          <p:nvSpPr>
            <p:cNvPr name="TextBox 8" id="8"/>
            <p:cNvSpPr txBox="true"/>
            <p:nvPr/>
          </p:nvSpPr>
          <p:spPr>
            <a:xfrm>
              <a:off x="76200" y="9525"/>
              <a:ext cx="660400" cy="727075"/>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2037623" y="6875899"/>
            <a:ext cx="14954491" cy="5566153"/>
          </a:xfrm>
          <a:custGeom>
            <a:avLst/>
            <a:gdLst/>
            <a:ahLst/>
            <a:cxnLst/>
            <a:rect r="r" b="b" t="t" l="l"/>
            <a:pathLst>
              <a:path h="5566153" w="14954491">
                <a:moveTo>
                  <a:pt x="0" y="0"/>
                </a:moveTo>
                <a:lnTo>
                  <a:pt x="14954491" y="0"/>
                </a:lnTo>
                <a:lnTo>
                  <a:pt x="14954491" y="5566154"/>
                </a:lnTo>
                <a:lnTo>
                  <a:pt x="0" y="5566154"/>
                </a:lnTo>
                <a:lnTo>
                  <a:pt x="0" y="0"/>
                </a:lnTo>
                <a:close/>
              </a:path>
            </a:pathLst>
          </a:custGeom>
          <a:blipFill>
            <a:blip r:embed="rId8"/>
            <a:stretch>
              <a:fillRect l="0" t="-20148" r="0" b="-20148"/>
            </a:stretch>
          </a:blipFill>
        </p:spPr>
      </p:sp>
      <p:sp>
        <p:nvSpPr>
          <p:cNvPr name="TextBox 10" id="10"/>
          <p:cNvSpPr txBox="true"/>
          <p:nvPr/>
        </p:nvSpPr>
        <p:spPr>
          <a:xfrm rot="0">
            <a:off x="4551236" y="291944"/>
            <a:ext cx="9185529" cy="872466"/>
          </a:xfrm>
          <a:prstGeom prst="rect">
            <a:avLst/>
          </a:prstGeom>
        </p:spPr>
        <p:txBody>
          <a:bodyPr anchor="t" rtlCol="false" tIns="0" lIns="0" bIns="0" rIns="0">
            <a:spAutoFit/>
          </a:bodyPr>
          <a:lstStyle/>
          <a:p>
            <a:pPr algn="ctr" marL="0" indent="0" lvl="0">
              <a:lnSpc>
                <a:spcPts val="7000"/>
              </a:lnSpc>
              <a:spcBef>
                <a:spcPct val="0"/>
              </a:spcBef>
            </a:pPr>
            <a:r>
              <a:rPr lang="en-US" b="true" sz="5000">
                <a:solidFill>
                  <a:srgbClr val="000000"/>
                </a:solidFill>
                <a:latin typeface="A Day Without Sun Text Bold"/>
                <a:ea typeface="A Day Without Sun Text Bold"/>
                <a:cs typeface="A Day Without Sun Text Bold"/>
                <a:sym typeface="A Day Without Sun Text Bold"/>
              </a:rPr>
              <a:t>BACK END</a:t>
            </a:r>
          </a:p>
        </p:txBody>
      </p:sp>
      <p:sp>
        <p:nvSpPr>
          <p:cNvPr name="TextBox 11" id="11"/>
          <p:cNvSpPr txBox="true"/>
          <p:nvPr/>
        </p:nvSpPr>
        <p:spPr>
          <a:xfrm rot="0">
            <a:off x="5447234" y="253844"/>
            <a:ext cx="1063265" cy="944245"/>
          </a:xfrm>
          <a:prstGeom prst="rect">
            <a:avLst/>
          </a:prstGeom>
        </p:spPr>
        <p:txBody>
          <a:bodyPr anchor="t" rtlCol="false" tIns="0" lIns="0" bIns="0" rIns="0">
            <a:spAutoFit/>
          </a:bodyPr>
          <a:lstStyle/>
          <a:p>
            <a:pPr algn="ctr">
              <a:lnSpc>
                <a:spcPts val="7279"/>
              </a:lnSpc>
            </a:pPr>
            <a:r>
              <a:rPr lang="en-US" sz="5199" b="true">
                <a:solidFill>
                  <a:srgbClr val="FFFFFF"/>
                </a:solidFill>
                <a:latin typeface="Telegraf Bold"/>
                <a:ea typeface="Telegraf Bold"/>
                <a:cs typeface="Telegraf Bold"/>
                <a:sym typeface="Telegraf Bold"/>
              </a:rPr>
              <a:t>2</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262709" y="859311"/>
            <a:ext cx="1063265" cy="106326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4BBB"/>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4758059" y="7504390"/>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147773">
            <a:off x="-2557047" y="-1726948"/>
            <a:ext cx="5469034" cy="5991969"/>
          </a:xfrm>
          <a:custGeom>
            <a:avLst/>
            <a:gdLst/>
            <a:ahLst/>
            <a:cxnLst/>
            <a:rect r="r" b="b" t="t" l="l"/>
            <a:pathLst>
              <a:path h="5991969" w="5469034">
                <a:moveTo>
                  <a:pt x="0" y="0"/>
                </a:moveTo>
                <a:lnTo>
                  <a:pt x="5469033" y="0"/>
                </a:lnTo>
                <a:lnTo>
                  <a:pt x="5469033" y="5991969"/>
                </a:lnTo>
                <a:lnTo>
                  <a:pt x="0" y="59919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301756">
            <a:off x="-914593" y="8451872"/>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7310127">
            <a:off x="12882178" y="-1379687"/>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5272212" y="8185893"/>
            <a:ext cx="2829878" cy="1775856"/>
          </a:xfrm>
          <a:custGeom>
            <a:avLst/>
            <a:gdLst/>
            <a:ahLst/>
            <a:cxnLst/>
            <a:rect r="r" b="b" t="t" l="l"/>
            <a:pathLst>
              <a:path h="1775856" w="2829878">
                <a:moveTo>
                  <a:pt x="0" y="0"/>
                </a:moveTo>
                <a:lnTo>
                  <a:pt x="2829878" y="0"/>
                </a:lnTo>
                <a:lnTo>
                  <a:pt x="2829878" y="1775856"/>
                </a:lnTo>
                <a:lnTo>
                  <a:pt x="0" y="1775856"/>
                </a:lnTo>
                <a:lnTo>
                  <a:pt x="0" y="0"/>
                </a:lnTo>
                <a:close/>
              </a:path>
            </a:pathLst>
          </a:custGeom>
          <a:blipFill>
            <a:blip r:embed="rId10"/>
            <a:stretch>
              <a:fillRect l="-188243" t="-477026" r="-97811" b="-38163"/>
            </a:stretch>
          </a:blipFill>
        </p:spPr>
      </p:sp>
      <p:sp>
        <p:nvSpPr>
          <p:cNvPr name="Freeform 10" id="10"/>
          <p:cNvSpPr/>
          <p:nvPr/>
        </p:nvSpPr>
        <p:spPr>
          <a:xfrm flipH="false" flipV="false" rot="0">
            <a:off x="12550711" y="8058335"/>
            <a:ext cx="1870068" cy="2228665"/>
          </a:xfrm>
          <a:custGeom>
            <a:avLst/>
            <a:gdLst/>
            <a:ahLst/>
            <a:cxnLst/>
            <a:rect r="r" b="b" t="t" l="l"/>
            <a:pathLst>
              <a:path h="2228665" w="1870068">
                <a:moveTo>
                  <a:pt x="0" y="0"/>
                </a:moveTo>
                <a:lnTo>
                  <a:pt x="1870069" y="0"/>
                </a:lnTo>
                <a:lnTo>
                  <a:pt x="1870069" y="2228665"/>
                </a:lnTo>
                <a:lnTo>
                  <a:pt x="0" y="2228665"/>
                </a:lnTo>
                <a:lnTo>
                  <a:pt x="0" y="0"/>
                </a:lnTo>
                <a:close/>
              </a:path>
            </a:pathLst>
          </a:custGeom>
          <a:blipFill>
            <a:blip r:embed="rId10"/>
            <a:stretch>
              <a:fillRect l="-135236" t="-298893" r="-240147" b="0"/>
            </a:stretch>
          </a:blipFill>
        </p:spPr>
      </p:sp>
      <p:sp>
        <p:nvSpPr>
          <p:cNvPr name="TextBox 11" id="11"/>
          <p:cNvSpPr txBox="true"/>
          <p:nvPr/>
        </p:nvSpPr>
        <p:spPr>
          <a:xfrm rot="0">
            <a:off x="1028700" y="931240"/>
            <a:ext cx="9185529" cy="872466"/>
          </a:xfrm>
          <a:prstGeom prst="rect">
            <a:avLst/>
          </a:prstGeom>
        </p:spPr>
        <p:txBody>
          <a:bodyPr anchor="t" rtlCol="false" tIns="0" lIns="0" bIns="0" rIns="0">
            <a:spAutoFit/>
          </a:bodyPr>
          <a:lstStyle/>
          <a:p>
            <a:pPr algn="ctr" marL="0" indent="0" lvl="0">
              <a:lnSpc>
                <a:spcPts val="7000"/>
              </a:lnSpc>
              <a:spcBef>
                <a:spcPct val="0"/>
              </a:spcBef>
            </a:pPr>
            <a:r>
              <a:rPr lang="en-US" b="true" sz="5000">
                <a:solidFill>
                  <a:srgbClr val="000000"/>
                </a:solidFill>
                <a:latin typeface="A Day Without Sun Text Bold"/>
                <a:ea typeface="A Day Without Sun Text Bold"/>
                <a:cs typeface="A Day Without Sun Text Bold"/>
                <a:sym typeface="A Day Without Sun Text Bold"/>
              </a:rPr>
              <a:t>ENVIO Y SOLICITUD </a:t>
            </a:r>
          </a:p>
        </p:txBody>
      </p:sp>
      <p:sp>
        <p:nvSpPr>
          <p:cNvPr name="TextBox 12" id="12"/>
          <p:cNvSpPr txBox="true"/>
          <p:nvPr/>
        </p:nvSpPr>
        <p:spPr>
          <a:xfrm rot="0">
            <a:off x="2262709" y="876300"/>
            <a:ext cx="1063265" cy="944245"/>
          </a:xfrm>
          <a:prstGeom prst="rect">
            <a:avLst/>
          </a:prstGeom>
        </p:spPr>
        <p:txBody>
          <a:bodyPr anchor="t" rtlCol="false" tIns="0" lIns="0" bIns="0" rIns="0">
            <a:spAutoFit/>
          </a:bodyPr>
          <a:lstStyle/>
          <a:p>
            <a:pPr algn="ctr">
              <a:lnSpc>
                <a:spcPts val="7279"/>
              </a:lnSpc>
            </a:pPr>
            <a:r>
              <a:rPr lang="en-US" sz="5199" b="true">
                <a:solidFill>
                  <a:srgbClr val="FFFFFF"/>
                </a:solidFill>
                <a:latin typeface="Telegraf Bold"/>
                <a:ea typeface="Telegraf Bold"/>
                <a:cs typeface="Telegraf Bold"/>
                <a:sym typeface="Telegraf Bold"/>
              </a:rPr>
              <a:t>3</a:t>
            </a:r>
          </a:p>
        </p:txBody>
      </p:sp>
      <p:sp>
        <p:nvSpPr>
          <p:cNvPr name="TextBox 13" id="13"/>
          <p:cNvSpPr txBox="true"/>
          <p:nvPr/>
        </p:nvSpPr>
        <p:spPr>
          <a:xfrm rot="0">
            <a:off x="2037623" y="3059430"/>
            <a:ext cx="14212754" cy="4091940"/>
          </a:xfrm>
          <a:prstGeom prst="rect">
            <a:avLst/>
          </a:prstGeom>
        </p:spPr>
        <p:txBody>
          <a:bodyPr anchor="t" rtlCol="false" tIns="0" lIns="0" bIns="0" rIns="0">
            <a:spAutoFit/>
          </a:bodyPr>
          <a:lstStyle/>
          <a:p>
            <a:pPr algn="ctr" marL="0" indent="0" lvl="0">
              <a:lnSpc>
                <a:spcPts val="5459"/>
              </a:lnSpc>
              <a:spcBef>
                <a:spcPct val="0"/>
              </a:spcBef>
            </a:pPr>
            <a:r>
              <a:rPr lang="en-US" b="true" sz="3900">
                <a:solidFill>
                  <a:srgbClr val="000000"/>
                </a:solidFill>
                <a:latin typeface="A Day Without Sun Text Bold"/>
                <a:ea typeface="A Day Without Sun Text Bold"/>
                <a:cs typeface="A Day Without Sun Text Bold"/>
                <a:sym typeface="A Day Without Sun Text Bold"/>
              </a:rPr>
              <a:t>EL COMPONENTE DE INTERFAZ ENVÍA UNA SOLICITUD , QUE EL SERVIDOR RECIBE. EL SERVIDOR PROCESA LA SOLICITUD, LO QUE PUEDE IMPLICAR LA RECUPERACIÓN O MODIFICACIÓN DE DATOS ALMACENADOS EN UNA BASE DE DATOS. POR EJEMPLO, UNA SOLICITUD PARA OBTENER INFORMACIÓN DE UN USUARIO DE UNA BASE DE DATOS REQUERIRÍA CONSULTAR LA TABLA CORRESPONDIENTE Y RECUPERAR LOS DATOS SOLICITADOS.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447234" y="1028700"/>
            <a:ext cx="1063265" cy="106326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4BBB"/>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4758059" y="7504390"/>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89189" y="-224270"/>
            <a:ext cx="4442528" cy="4867312"/>
          </a:xfrm>
          <a:custGeom>
            <a:avLst/>
            <a:gdLst/>
            <a:ahLst/>
            <a:cxnLst/>
            <a:rect r="r" b="b" t="t" l="l"/>
            <a:pathLst>
              <a:path h="4867312" w="4442528">
                <a:moveTo>
                  <a:pt x="0" y="0"/>
                </a:moveTo>
                <a:lnTo>
                  <a:pt x="4442528" y="0"/>
                </a:lnTo>
                <a:lnTo>
                  <a:pt x="4442528" y="4867312"/>
                </a:lnTo>
                <a:lnTo>
                  <a:pt x="0" y="48673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301756">
            <a:off x="-914593" y="8451872"/>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7310127">
            <a:off x="12882178" y="-1379687"/>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2037623" y="3022788"/>
            <a:ext cx="14212754" cy="4091940"/>
          </a:xfrm>
          <a:prstGeom prst="rect">
            <a:avLst/>
          </a:prstGeom>
        </p:spPr>
        <p:txBody>
          <a:bodyPr anchor="t" rtlCol="false" tIns="0" lIns="0" bIns="0" rIns="0">
            <a:spAutoFit/>
          </a:bodyPr>
          <a:lstStyle/>
          <a:p>
            <a:pPr algn="ctr" marL="0" indent="0" lvl="0">
              <a:lnSpc>
                <a:spcPts val="5459"/>
              </a:lnSpc>
              <a:spcBef>
                <a:spcPct val="0"/>
              </a:spcBef>
            </a:pPr>
            <a:r>
              <a:rPr lang="en-US" b="true" sz="3900">
                <a:solidFill>
                  <a:srgbClr val="000000"/>
                </a:solidFill>
                <a:latin typeface="A Day Without Sun Text Bold"/>
                <a:ea typeface="A Day Without Sun Text Bold"/>
                <a:cs typeface="A Day Without Sun Text Bold"/>
                <a:sym typeface="A Day Without Sun Text Bold"/>
              </a:rPr>
              <a:t>UNA VEZ QUE EL SERVIDOR HA PROCESADO LA SOLICITUD Y REALIZADO LAS OPERACIONES NECESARIAS, GENERA UNA RESPUESTA HTTP ADECUADA. ESTA RESPUESTA CONTIENE ENCABEZADOS, DATOS Y UN CÓDIGO DE ESTADO (POR EJEMPLO, 200 PARA UNA SOLICITUD EXITOSA, 404 PARA UN RECURSO NO ENCONTRADO). A CONTINUACIÓN, LA RESPUESTA SE ENVÍA DE VUELTA AL SERVIDOR, COMPLETANDO ASÍ EL CICLO DE COMUNICACIÓN.</a:t>
            </a:r>
          </a:p>
        </p:txBody>
      </p:sp>
      <p:sp>
        <p:nvSpPr>
          <p:cNvPr name="Freeform 10" id="10"/>
          <p:cNvSpPr/>
          <p:nvPr/>
        </p:nvSpPr>
        <p:spPr>
          <a:xfrm flipH="false" flipV="false" rot="0">
            <a:off x="4619912" y="7905998"/>
            <a:ext cx="2717908" cy="1617155"/>
          </a:xfrm>
          <a:custGeom>
            <a:avLst/>
            <a:gdLst/>
            <a:ahLst/>
            <a:cxnLst/>
            <a:rect r="r" b="b" t="t" l="l"/>
            <a:pathLst>
              <a:path h="1617155" w="2717908">
                <a:moveTo>
                  <a:pt x="0" y="0"/>
                </a:moveTo>
                <a:lnTo>
                  <a:pt x="2717908" y="0"/>
                </a:lnTo>
                <a:lnTo>
                  <a:pt x="2717908" y="1617155"/>
                </a:lnTo>
                <a:lnTo>
                  <a:pt x="0" y="161715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0">
            <a:off x="4955568" y="1066950"/>
            <a:ext cx="9185529" cy="872466"/>
          </a:xfrm>
          <a:prstGeom prst="rect">
            <a:avLst/>
          </a:prstGeom>
        </p:spPr>
        <p:txBody>
          <a:bodyPr anchor="t" rtlCol="false" tIns="0" lIns="0" bIns="0" rIns="0">
            <a:spAutoFit/>
          </a:bodyPr>
          <a:lstStyle/>
          <a:p>
            <a:pPr algn="ctr" marL="0" indent="0" lvl="0">
              <a:lnSpc>
                <a:spcPts val="7000"/>
              </a:lnSpc>
              <a:spcBef>
                <a:spcPct val="0"/>
              </a:spcBef>
            </a:pPr>
            <a:r>
              <a:rPr lang="en-US" b="true" sz="5000">
                <a:solidFill>
                  <a:srgbClr val="000000"/>
                </a:solidFill>
                <a:latin typeface="A Day Without Sun Text Bold"/>
                <a:ea typeface="A Day Without Sun Text Bold"/>
                <a:cs typeface="A Day Without Sun Text Bold"/>
                <a:sym typeface="A Day Without Sun Text Bold"/>
              </a:rPr>
              <a:t>PROCESO DE SOLICITUDES</a:t>
            </a:r>
          </a:p>
        </p:txBody>
      </p:sp>
      <p:sp>
        <p:nvSpPr>
          <p:cNvPr name="TextBox 12" id="12"/>
          <p:cNvSpPr txBox="true"/>
          <p:nvPr/>
        </p:nvSpPr>
        <p:spPr>
          <a:xfrm rot="0">
            <a:off x="5447234" y="1012010"/>
            <a:ext cx="1063265" cy="944245"/>
          </a:xfrm>
          <a:prstGeom prst="rect">
            <a:avLst/>
          </a:prstGeom>
        </p:spPr>
        <p:txBody>
          <a:bodyPr anchor="t" rtlCol="false" tIns="0" lIns="0" bIns="0" rIns="0">
            <a:spAutoFit/>
          </a:bodyPr>
          <a:lstStyle/>
          <a:p>
            <a:pPr algn="ctr">
              <a:lnSpc>
                <a:spcPts val="7279"/>
              </a:lnSpc>
            </a:pPr>
            <a:r>
              <a:rPr lang="en-US" sz="5199" b="true">
                <a:solidFill>
                  <a:srgbClr val="FFFFFF"/>
                </a:solidFill>
                <a:latin typeface="Telegraf Bold"/>
                <a:ea typeface="Telegraf Bold"/>
                <a:cs typeface="Telegraf Bold"/>
                <a:sym typeface="Telegraf Bold"/>
              </a:rPr>
              <a:t>3</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447234" y="1028700"/>
            <a:ext cx="1063265" cy="106326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4BBB"/>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4758059" y="7504390"/>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89189" y="-224270"/>
            <a:ext cx="4442528" cy="4867312"/>
          </a:xfrm>
          <a:custGeom>
            <a:avLst/>
            <a:gdLst/>
            <a:ahLst/>
            <a:cxnLst/>
            <a:rect r="r" b="b" t="t" l="l"/>
            <a:pathLst>
              <a:path h="4867312" w="4442528">
                <a:moveTo>
                  <a:pt x="0" y="0"/>
                </a:moveTo>
                <a:lnTo>
                  <a:pt x="4442528" y="0"/>
                </a:lnTo>
                <a:lnTo>
                  <a:pt x="4442528" y="4867312"/>
                </a:lnTo>
                <a:lnTo>
                  <a:pt x="0" y="48673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301756">
            <a:off x="-914593" y="8451872"/>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7310127">
            <a:off x="12882178" y="-1379687"/>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4694472" y="1121880"/>
            <a:ext cx="9185529" cy="872466"/>
          </a:xfrm>
          <a:prstGeom prst="rect">
            <a:avLst/>
          </a:prstGeom>
        </p:spPr>
        <p:txBody>
          <a:bodyPr anchor="t" rtlCol="false" tIns="0" lIns="0" bIns="0" rIns="0">
            <a:spAutoFit/>
          </a:bodyPr>
          <a:lstStyle/>
          <a:p>
            <a:pPr algn="ctr" marL="0" indent="0" lvl="0">
              <a:lnSpc>
                <a:spcPts val="7000"/>
              </a:lnSpc>
              <a:spcBef>
                <a:spcPct val="0"/>
              </a:spcBef>
            </a:pPr>
            <a:r>
              <a:rPr lang="en-US" b="true" sz="5000">
                <a:solidFill>
                  <a:srgbClr val="000000"/>
                </a:solidFill>
                <a:latin typeface="A Day Without Sun Text Bold"/>
                <a:ea typeface="A Day Without Sun Text Bold"/>
                <a:cs typeface="A Day Without Sun Text Bold"/>
                <a:sym typeface="A Day Without Sun Text Bold"/>
              </a:rPr>
              <a:t>OBTENCIÓN DE DATOS</a:t>
            </a:r>
          </a:p>
        </p:txBody>
      </p:sp>
      <p:sp>
        <p:nvSpPr>
          <p:cNvPr name="TextBox 10" id="10"/>
          <p:cNvSpPr txBox="true"/>
          <p:nvPr/>
        </p:nvSpPr>
        <p:spPr>
          <a:xfrm rot="0">
            <a:off x="5447234" y="1012010"/>
            <a:ext cx="1063265" cy="944245"/>
          </a:xfrm>
          <a:prstGeom prst="rect">
            <a:avLst/>
          </a:prstGeom>
        </p:spPr>
        <p:txBody>
          <a:bodyPr anchor="t" rtlCol="false" tIns="0" lIns="0" bIns="0" rIns="0">
            <a:spAutoFit/>
          </a:bodyPr>
          <a:lstStyle/>
          <a:p>
            <a:pPr algn="ctr">
              <a:lnSpc>
                <a:spcPts val="7279"/>
              </a:lnSpc>
            </a:pPr>
            <a:r>
              <a:rPr lang="en-US" sz="5199" b="true">
                <a:solidFill>
                  <a:srgbClr val="FFFFFF"/>
                </a:solidFill>
                <a:latin typeface="Telegraf Bold"/>
                <a:ea typeface="Telegraf Bold"/>
                <a:cs typeface="Telegraf Bold"/>
                <a:sym typeface="Telegraf Bold"/>
              </a:rPr>
              <a:t>3</a:t>
            </a:r>
          </a:p>
        </p:txBody>
      </p:sp>
      <p:sp>
        <p:nvSpPr>
          <p:cNvPr name="TextBox 11" id="11"/>
          <p:cNvSpPr txBox="true"/>
          <p:nvPr/>
        </p:nvSpPr>
        <p:spPr>
          <a:xfrm rot="0">
            <a:off x="2037623" y="3022788"/>
            <a:ext cx="14212754" cy="4777740"/>
          </a:xfrm>
          <a:prstGeom prst="rect">
            <a:avLst/>
          </a:prstGeom>
        </p:spPr>
        <p:txBody>
          <a:bodyPr anchor="t" rtlCol="false" tIns="0" lIns="0" bIns="0" rIns="0">
            <a:spAutoFit/>
          </a:bodyPr>
          <a:lstStyle/>
          <a:p>
            <a:pPr algn="ctr" marL="0" indent="0" lvl="0">
              <a:lnSpc>
                <a:spcPts val="5459"/>
              </a:lnSpc>
              <a:spcBef>
                <a:spcPct val="0"/>
              </a:spcBef>
            </a:pPr>
            <a:r>
              <a:rPr lang="en-US" b="true" sz="3900">
                <a:solidFill>
                  <a:srgbClr val="000000"/>
                </a:solidFill>
                <a:latin typeface="A Day Without Sun Text Bold"/>
                <a:ea typeface="A Day Without Sun Text Bold"/>
                <a:cs typeface="A Day Without Sun Text Bold"/>
                <a:sym typeface="A Day Without Sun Text Bold"/>
              </a:rPr>
              <a:t>EN ESCENARIOS MÁS COMPLEJOS, EL BACK-END TAMBIÉN PUEDE COMUNICARSE CON SISTEMAS EXTERNOS O API. POR EJEMPLO, UNA APLICACIÓN WEB PUEDE INTEGRARSE CON UNA API DE PASARELA DE PAGO PARA PROCESAR TRANSACCIONES EN LÍNEA O CONSUMIR DATOS DE UN SERVICIO DE TERCEROS PARA MOSTRAR INFORMACIÓN EN TIEMPO REAL. EL BACK-END GESTIONA LA COMUNICACIÓN CON ESTAS ENTIDADES EXTERNAS, INTERCAMBIANDO DATOS Y ASEGURANDO UNA INTEGRACIÓN ADECUADA.</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290074" y="892990"/>
            <a:ext cx="1063265" cy="106326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4BBB"/>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5685004" y="8185893"/>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84460" y="-1705291"/>
            <a:ext cx="4442528" cy="4867312"/>
          </a:xfrm>
          <a:custGeom>
            <a:avLst/>
            <a:gdLst/>
            <a:ahLst/>
            <a:cxnLst/>
            <a:rect r="r" b="b" t="t" l="l"/>
            <a:pathLst>
              <a:path h="4867312" w="4442528">
                <a:moveTo>
                  <a:pt x="0" y="0"/>
                </a:moveTo>
                <a:lnTo>
                  <a:pt x="4442528" y="0"/>
                </a:lnTo>
                <a:lnTo>
                  <a:pt x="4442528" y="4867311"/>
                </a:lnTo>
                <a:lnTo>
                  <a:pt x="0" y="48673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301756">
            <a:off x="-914593" y="8451872"/>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7310127">
            <a:off x="13565420" y="-1015612"/>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4353339" y="914400"/>
            <a:ext cx="9185529" cy="872466"/>
          </a:xfrm>
          <a:prstGeom prst="rect">
            <a:avLst/>
          </a:prstGeom>
        </p:spPr>
        <p:txBody>
          <a:bodyPr anchor="t" rtlCol="false" tIns="0" lIns="0" bIns="0" rIns="0">
            <a:spAutoFit/>
          </a:bodyPr>
          <a:lstStyle/>
          <a:p>
            <a:pPr algn="ctr" marL="0" indent="0" lvl="0">
              <a:lnSpc>
                <a:spcPts val="7000"/>
              </a:lnSpc>
              <a:spcBef>
                <a:spcPct val="0"/>
              </a:spcBef>
            </a:pPr>
            <a:r>
              <a:rPr lang="en-US" b="true" sz="5000">
                <a:solidFill>
                  <a:srgbClr val="000000"/>
                </a:solidFill>
                <a:latin typeface="A Day Without Sun Text Bold"/>
                <a:ea typeface="A Day Without Sun Text Bold"/>
                <a:cs typeface="A Day Without Sun Text Bold"/>
                <a:sym typeface="A Day Without Sun Text Bold"/>
              </a:rPr>
              <a:t>API ¿QUE SON Y COMO FUNCIONAN</a:t>
            </a:r>
          </a:p>
        </p:txBody>
      </p:sp>
      <p:sp>
        <p:nvSpPr>
          <p:cNvPr name="TextBox 10" id="10"/>
          <p:cNvSpPr txBox="true"/>
          <p:nvPr/>
        </p:nvSpPr>
        <p:spPr>
          <a:xfrm rot="0">
            <a:off x="3290074" y="876300"/>
            <a:ext cx="1063265" cy="944245"/>
          </a:xfrm>
          <a:prstGeom prst="rect">
            <a:avLst/>
          </a:prstGeom>
        </p:spPr>
        <p:txBody>
          <a:bodyPr anchor="t" rtlCol="false" tIns="0" lIns="0" bIns="0" rIns="0">
            <a:spAutoFit/>
          </a:bodyPr>
          <a:lstStyle/>
          <a:p>
            <a:pPr algn="ctr">
              <a:lnSpc>
                <a:spcPts val="7279"/>
              </a:lnSpc>
            </a:pPr>
            <a:r>
              <a:rPr lang="en-US" sz="5199" b="true">
                <a:solidFill>
                  <a:srgbClr val="FFFFFF"/>
                </a:solidFill>
                <a:latin typeface="Telegraf Bold"/>
                <a:ea typeface="Telegraf Bold"/>
                <a:cs typeface="Telegraf Bold"/>
                <a:sym typeface="Telegraf Bold"/>
              </a:rPr>
              <a:t>3</a:t>
            </a:r>
          </a:p>
        </p:txBody>
      </p:sp>
      <p:sp>
        <p:nvSpPr>
          <p:cNvPr name="TextBox 11" id="11"/>
          <p:cNvSpPr txBox="true"/>
          <p:nvPr/>
        </p:nvSpPr>
        <p:spPr>
          <a:xfrm rot="0">
            <a:off x="1839727" y="2504609"/>
            <a:ext cx="14212754" cy="3406140"/>
          </a:xfrm>
          <a:prstGeom prst="rect">
            <a:avLst/>
          </a:prstGeom>
        </p:spPr>
        <p:txBody>
          <a:bodyPr anchor="t" rtlCol="false" tIns="0" lIns="0" bIns="0" rIns="0">
            <a:spAutoFit/>
          </a:bodyPr>
          <a:lstStyle/>
          <a:p>
            <a:pPr algn="l" marL="0" indent="0" lvl="0">
              <a:lnSpc>
                <a:spcPts val="5459"/>
              </a:lnSpc>
              <a:spcBef>
                <a:spcPct val="0"/>
              </a:spcBef>
            </a:pPr>
            <a:r>
              <a:rPr lang="en-US" b="true" sz="3900">
                <a:solidFill>
                  <a:srgbClr val="000000"/>
                </a:solidFill>
                <a:latin typeface="A Day Without Sun Text Bold"/>
                <a:ea typeface="A Day Without Sun Text Bold"/>
                <a:cs typeface="A Day Without Sun Text Bold"/>
                <a:sym typeface="A Day Without Sun Text Bold"/>
              </a:rPr>
              <a:t>API SIGNIFICA INTERFAZ DE PROGRAMACIÓN DE APLICACIONES. EN ESENCIA, UNA API ES UN INTERMEDIARIO. PERMITE QUE DOS SISTEMAS DE SOFTWARE SE COMUNIQUEN ENTRE SÍ DE FORMA PREDECIBLE. UN SISTEMA PUEDE SOLICITAR A OTRO QUE REALICE UNA ACCIÓN, Y LA API DEFINE CÓMO DEBE REALIZARSE ESA SOLICITUD Y QUÉ TIPO DE RESPUESTA SE DEBE ESPERAR.</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290074" y="892990"/>
            <a:ext cx="1063265" cy="106326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4BBB"/>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5685004" y="8185893"/>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84460" y="-1705291"/>
            <a:ext cx="4442528" cy="4867312"/>
          </a:xfrm>
          <a:custGeom>
            <a:avLst/>
            <a:gdLst/>
            <a:ahLst/>
            <a:cxnLst/>
            <a:rect r="r" b="b" t="t" l="l"/>
            <a:pathLst>
              <a:path h="4867312" w="4442528">
                <a:moveTo>
                  <a:pt x="0" y="0"/>
                </a:moveTo>
                <a:lnTo>
                  <a:pt x="4442528" y="0"/>
                </a:lnTo>
                <a:lnTo>
                  <a:pt x="4442528" y="4867311"/>
                </a:lnTo>
                <a:lnTo>
                  <a:pt x="0" y="48673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301756">
            <a:off x="-914593" y="8451872"/>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7310127">
            <a:off x="12882178" y="-1379687"/>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2649294" y="914400"/>
            <a:ext cx="9185529" cy="872466"/>
          </a:xfrm>
          <a:prstGeom prst="rect">
            <a:avLst/>
          </a:prstGeom>
        </p:spPr>
        <p:txBody>
          <a:bodyPr anchor="t" rtlCol="false" tIns="0" lIns="0" bIns="0" rIns="0">
            <a:spAutoFit/>
          </a:bodyPr>
          <a:lstStyle/>
          <a:p>
            <a:pPr algn="ctr" marL="0" indent="0" lvl="0">
              <a:lnSpc>
                <a:spcPts val="7000"/>
              </a:lnSpc>
              <a:spcBef>
                <a:spcPct val="0"/>
              </a:spcBef>
            </a:pPr>
            <a:r>
              <a:rPr lang="en-US" b="true" sz="5000">
                <a:solidFill>
                  <a:srgbClr val="000000"/>
                </a:solidFill>
                <a:latin typeface="A Day Without Sun Text Bold"/>
                <a:ea typeface="A Day Without Sun Text Bold"/>
                <a:cs typeface="A Day Without Sun Text Bold"/>
                <a:sym typeface="A Day Without Sun Text Bold"/>
              </a:rPr>
              <a:t>PORQUE UTILIZARLAS:</a:t>
            </a:r>
          </a:p>
        </p:txBody>
      </p:sp>
      <p:sp>
        <p:nvSpPr>
          <p:cNvPr name="TextBox 10" id="10"/>
          <p:cNvSpPr txBox="true"/>
          <p:nvPr/>
        </p:nvSpPr>
        <p:spPr>
          <a:xfrm rot="0">
            <a:off x="3290074" y="876300"/>
            <a:ext cx="1063265" cy="944245"/>
          </a:xfrm>
          <a:prstGeom prst="rect">
            <a:avLst/>
          </a:prstGeom>
        </p:spPr>
        <p:txBody>
          <a:bodyPr anchor="t" rtlCol="false" tIns="0" lIns="0" bIns="0" rIns="0">
            <a:spAutoFit/>
          </a:bodyPr>
          <a:lstStyle/>
          <a:p>
            <a:pPr algn="ctr">
              <a:lnSpc>
                <a:spcPts val="7279"/>
              </a:lnSpc>
            </a:pPr>
            <a:r>
              <a:rPr lang="en-US" sz="5199" b="true">
                <a:solidFill>
                  <a:srgbClr val="FFFFFF"/>
                </a:solidFill>
                <a:latin typeface="Telegraf Bold"/>
                <a:ea typeface="Telegraf Bold"/>
                <a:cs typeface="Telegraf Bold"/>
                <a:sym typeface="Telegraf Bold"/>
              </a:rPr>
              <a:t>3</a:t>
            </a:r>
          </a:p>
        </p:txBody>
      </p:sp>
      <p:sp>
        <p:nvSpPr>
          <p:cNvPr name="TextBox 11" id="11"/>
          <p:cNvSpPr txBox="true"/>
          <p:nvPr/>
        </p:nvSpPr>
        <p:spPr>
          <a:xfrm rot="0">
            <a:off x="1839727" y="2317392"/>
            <a:ext cx="14212754" cy="3406140"/>
          </a:xfrm>
          <a:prstGeom prst="rect">
            <a:avLst/>
          </a:prstGeom>
        </p:spPr>
        <p:txBody>
          <a:bodyPr anchor="t" rtlCol="false" tIns="0" lIns="0" bIns="0" rIns="0">
            <a:spAutoFit/>
          </a:bodyPr>
          <a:lstStyle/>
          <a:p>
            <a:pPr algn="l" marL="0" indent="0" lvl="0">
              <a:lnSpc>
                <a:spcPts val="5459"/>
              </a:lnSpc>
              <a:spcBef>
                <a:spcPct val="0"/>
              </a:spcBef>
            </a:pPr>
            <a:r>
              <a:rPr lang="en-US" b="true" sz="3900">
                <a:solidFill>
                  <a:srgbClr val="000000"/>
                </a:solidFill>
                <a:latin typeface="A Day Without Sun Text Bold"/>
                <a:ea typeface="A Day Without Sun Text Bold"/>
                <a:cs typeface="A Day Without Sun Text Bold"/>
                <a:sym typeface="A Day Without Sun Text Bold"/>
              </a:rPr>
              <a:t>LAS API SON IMPORTANTES PORQUE CREAN LÍMITES ENTRE LOS SISTEMAS. UNA APLICACIÓN MÓVIL NO NECESITA SABER CÓMO UN SERVIDOR BACKEND PROCESA LOS DATOS; SOLO NECESITA SABER CÓMO SOLICITARLOS MEDIANTE LA API. ESTA SEPARACIÓN DE RESPONSABILIDADES SE TRADUCE EN UNA MAYOR ESCALABILIDAD, SEGURIDAD Y FLEXIBILIDAD EN LAS DISTINTAS CAPAS DE UNA APLICACIÓN.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17583" y="575815"/>
            <a:ext cx="1063265" cy="106326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4BBB"/>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5685004" y="8185893"/>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7058945">
            <a:off x="6376442" y="-3067072"/>
            <a:ext cx="4701064" cy="5150568"/>
          </a:xfrm>
          <a:custGeom>
            <a:avLst/>
            <a:gdLst/>
            <a:ahLst/>
            <a:cxnLst/>
            <a:rect r="r" b="b" t="t" l="l"/>
            <a:pathLst>
              <a:path h="5150568" w="4701064">
                <a:moveTo>
                  <a:pt x="0" y="0"/>
                </a:moveTo>
                <a:lnTo>
                  <a:pt x="4701065" y="0"/>
                </a:lnTo>
                <a:lnTo>
                  <a:pt x="4701065" y="5150568"/>
                </a:lnTo>
                <a:lnTo>
                  <a:pt x="0" y="51505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301756">
            <a:off x="-1810591" y="8684733"/>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7310127">
            <a:off x="13601700" y="-3553881"/>
            <a:ext cx="7315200" cy="3817204"/>
          </a:xfrm>
          <a:custGeom>
            <a:avLst/>
            <a:gdLst/>
            <a:ahLst/>
            <a:cxnLst/>
            <a:rect r="r" b="b" t="t" l="l"/>
            <a:pathLst>
              <a:path h="3817204" w="7315200">
                <a:moveTo>
                  <a:pt x="0" y="0"/>
                </a:moveTo>
                <a:lnTo>
                  <a:pt x="7315200" y="0"/>
                </a:lnTo>
                <a:lnTo>
                  <a:pt x="7315200" y="3817205"/>
                </a:lnTo>
                <a:lnTo>
                  <a:pt x="0" y="381720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1024014" y="614064"/>
            <a:ext cx="9185529" cy="872466"/>
          </a:xfrm>
          <a:prstGeom prst="rect">
            <a:avLst/>
          </a:prstGeom>
        </p:spPr>
        <p:txBody>
          <a:bodyPr anchor="t" rtlCol="false" tIns="0" lIns="0" bIns="0" rIns="0">
            <a:spAutoFit/>
          </a:bodyPr>
          <a:lstStyle/>
          <a:p>
            <a:pPr algn="ctr" marL="0" indent="0" lvl="0">
              <a:lnSpc>
                <a:spcPts val="7000"/>
              </a:lnSpc>
              <a:spcBef>
                <a:spcPct val="0"/>
              </a:spcBef>
            </a:pPr>
            <a:r>
              <a:rPr lang="en-US" b="true" sz="5000">
                <a:solidFill>
                  <a:srgbClr val="000000"/>
                </a:solidFill>
                <a:latin typeface="A Day Without Sun Text Bold"/>
                <a:ea typeface="A Day Without Sun Text Bold"/>
                <a:cs typeface="A Day Without Sun Text Bold"/>
                <a:sym typeface="A Day Without Sun Text Bold"/>
              </a:rPr>
              <a:t>TIPOS DE API</a:t>
            </a:r>
          </a:p>
        </p:txBody>
      </p:sp>
      <p:sp>
        <p:nvSpPr>
          <p:cNvPr name="TextBox 10" id="10"/>
          <p:cNvSpPr txBox="true"/>
          <p:nvPr/>
        </p:nvSpPr>
        <p:spPr>
          <a:xfrm rot="0">
            <a:off x="717583" y="575964"/>
            <a:ext cx="1063265" cy="944245"/>
          </a:xfrm>
          <a:prstGeom prst="rect">
            <a:avLst/>
          </a:prstGeom>
        </p:spPr>
        <p:txBody>
          <a:bodyPr anchor="t" rtlCol="false" tIns="0" lIns="0" bIns="0" rIns="0">
            <a:spAutoFit/>
          </a:bodyPr>
          <a:lstStyle/>
          <a:p>
            <a:pPr algn="ctr">
              <a:lnSpc>
                <a:spcPts val="7279"/>
              </a:lnSpc>
            </a:pPr>
            <a:r>
              <a:rPr lang="en-US" sz="5199" b="true">
                <a:solidFill>
                  <a:srgbClr val="FFFFFF"/>
                </a:solidFill>
                <a:latin typeface="Telegraf Bold"/>
                <a:ea typeface="Telegraf Bold"/>
                <a:cs typeface="Telegraf Bold"/>
                <a:sym typeface="Telegraf Bold"/>
              </a:rPr>
              <a:t>3</a:t>
            </a:r>
          </a:p>
        </p:txBody>
      </p:sp>
      <p:sp>
        <p:nvSpPr>
          <p:cNvPr name="TextBox 11" id="11"/>
          <p:cNvSpPr txBox="true"/>
          <p:nvPr/>
        </p:nvSpPr>
        <p:spPr>
          <a:xfrm rot="0">
            <a:off x="717583" y="2411698"/>
            <a:ext cx="4977747" cy="5329837"/>
          </a:xfrm>
          <a:prstGeom prst="rect">
            <a:avLst/>
          </a:prstGeom>
        </p:spPr>
        <p:txBody>
          <a:bodyPr anchor="t" rtlCol="false" tIns="0" lIns="0" bIns="0" rIns="0">
            <a:spAutoFit/>
          </a:bodyPr>
          <a:lstStyle/>
          <a:p>
            <a:pPr algn="l" marL="0" indent="0" lvl="0">
              <a:lnSpc>
                <a:spcPts val="3843"/>
              </a:lnSpc>
              <a:spcBef>
                <a:spcPct val="0"/>
              </a:spcBef>
            </a:pPr>
            <a:r>
              <a:rPr lang="en-US" b="true" sz="2745">
                <a:solidFill>
                  <a:srgbClr val="000000"/>
                </a:solidFill>
                <a:latin typeface="A Day Without Sun Text Bold"/>
                <a:ea typeface="A Day Without Sun Text Bold"/>
                <a:cs typeface="A Day Without Sun Text Bold"/>
                <a:sym typeface="A Day Without Sun Text Bold"/>
              </a:rPr>
              <a:t>API REST: SON LAS MÁS COMUNES. REST SIGNIFICA TRANSFERENCIA DE ESTADO REPRESENTACIONAL. LAS API REST UTILIZAN MÉTODOS HTTP COMO GET, POST, PUT Y DELETE. SON SIN ESTADO Y SE BASAN EN UNA ESTRUCTURA CLARA Y PREDECIBLE. SI HAS UTILIZADO UNA URL COMO /USERS/123 PARA OBTENER INFORMACIÓN SOBRE UN USUARIO ESPECÍFICO, HAS TRABAJADO CON UNA API REST.</a:t>
            </a:r>
          </a:p>
        </p:txBody>
      </p:sp>
      <p:sp>
        <p:nvSpPr>
          <p:cNvPr name="TextBox 12" id="12"/>
          <p:cNvSpPr txBox="true"/>
          <p:nvPr/>
        </p:nvSpPr>
        <p:spPr>
          <a:xfrm rot="0">
            <a:off x="6853280" y="2411698"/>
            <a:ext cx="4977747" cy="6301187"/>
          </a:xfrm>
          <a:prstGeom prst="rect">
            <a:avLst/>
          </a:prstGeom>
        </p:spPr>
        <p:txBody>
          <a:bodyPr anchor="t" rtlCol="false" tIns="0" lIns="0" bIns="0" rIns="0">
            <a:spAutoFit/>
          </a:bodyPr>
          <a:lstStyle/>
          <a:p>
            <a:pPr algn="l" marL="0" indent="0" lvl="0">
              <a:lnSpc>
                <a:spcPts val="3843"/>
              </a:lnSpc>
              <a:spcBef>
                <a:spcPct val="0"/>
              </a:spcBef>
            </a:pPr>
            <a:r>
              <a:rPr lang="en-US" b="true" sz="2745">
                <a:solidFill>
                  <a:srgbClr val="000000"/>
                </a:solidFill>
                <a:latin typeface="A Day Without Sun Text Bold"/>
                <a:ea typeface="A Day Without Sun Text Bold"/>
                <a:cs typeface="A Day Without Sun Text Bold"/>
                <a:sym typeface="A Day Without Sun Text Bold"/>
              </a:rPr>
              <a:t>API GRAPHQL: GRAPHQL ES UN LENGUAJE DE CONSULTA DESARROLLADO POR FACEBOOK. A DIFERENCIA DE REST, QUE ENVÍA ESTRUCTURAS DE DATOS PREDEFINIDAS, GRAPHQL PERMITE AL CLIENTE ESPECIFICAR CON PRECISIÓN LOS DATOS QUE NECESITA. ESTO REDUCE LA SOBRECARGA O LA FALTA DE DATOS Y RESULTA ESPECIALMENTE ÚTIL EN APLICACIONES CON UN ALTO COMPONENTE DE INTERFAZ, DONDE EL RENDIMIENTO Y LA FLEXIBILIDAD SON CRUCIALES.</a:t>
            </a:r>
          </a:p>
        </p:txBody>
      </p:sp>
      <p:sp>
        <p:nvSpPr>
          <p:cNvPr name="TextBox 13" id="13"/>
          <p:cNvSpPr txBox="true"/>
          <p:nvPr/>
        </p:nvSpPr>
        <p:spPr>
          <a:xfrm rot="0">
            <a:off x="12993077" y="2402173"/>
            <a:ext cx="4977747" cy="5487035"/>
          </a:xfrm>
          <a:prstGeom prst="rect">
            <a:avLst/>
          </a:prstGeom>
        </p:spPr>
        <p:txBody>
          <a:bodyPr anchor="t" rtlCol="false" tIns="0" lIns="0" bIns="0" rIns="0">
            <a:spAutoFit/>
          </a:bodyPr>
          <a:lstStyle/>
          <a:p>
            <a:pPr algn="l" marL="0" indent="0" lvl="0">
              <a:lnSpc>
                <a:spcPts val="3640"/>
              </a:lnSpc>
              <a:spcBef>
                <a:spcPct val="0"/>
              </a:spcBef>
            </a:pPr>
            <a:r>
              <a:rPr lang="en-US" b="true" sz="2600">
                <a:solidFill>
                  <a:srgbClr val="000000"/>
                </a:solidFill>
                <a:latin typeface="A Day Without Sun Text Bold"/>
                <a:ea typeface="A Day Without Sun Text Bold"/>
                <a:cs typeface="A Day Without Sun Text Bold"/>
                <a:sym typeface="A Day Without Sun Text Bold"/>
              </a:rPr>
              <a:t>API DE WEBSOCKET: WEBSOCKET PERMITE LA COMUNICACIÓN BIDIRECCIONAL EN TIEMPO REAL ENTRE UN CLIENTE Y UN SERVIDOR. EN LUGAR DE QUE EL CLIENTE TENGA QUE SOLICITAR ACTUALIZACIONES AL SERVIDOR, WEBSOCKET PERMITE QUE EL SERVIDOR ENVÍE LAS ACTUALIZACIONES AL CLIENTE A MEDIDA QUE SE PRODUCEN. ESTO SE UTILIZA COMÚNMENTE EN APLICACIONES DE CHAT, RESULTADOS DEPORTIVOS EN DIRECTO Y HERRAMIENTAS COLABORATIVAS COMO GOOGLE DOCS.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156018" y="7504390"/>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37204" y="-1404956"/>
            <a:ext cx="4442528" cy="4867312"/>
          </a:xfrm>
          <a:custGeom>
            <a:avLst/>
            <a:gdLst/>
            <a:ahLst/>
            <a:cxnLst/>
            <a:rect r="r" b="b" t="t" l="l"/>
            <a:pathLst>
              <a:path h="4867312" w="4442528">
                <a:moveTo>
                  <a:pt x="0" y="0"/>
                </a:moveTo>
                <a:lnTo>
                  <a:pt x="4442528" y="0"/>
                </a:lnTo>
                <a:lnTo>
                  <a:pt x="4442528" y="4867312"/>
                </a:lnTo>
                <a:lnTo>
                  <a:pt x="0" y="48673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301756">
            <a:off x="-1126489" y="8545092"/>
            <a:ext cx="6221098" cy="3483815"/>
          </a:xfrm>
          <a:custGeom>
            <a:avLst/>
            <a:gdLst/>
            <a:ahLst/>
            <a:cxnLst/>
            <a:rect r="r" b="b" t="t" l="l"/>
            <a:pathLst>
              <a:path h="3483815" w="6221098">
                <a:moveTo>
                  <a:pt x="0" y="0"/>
                </a:moveTo>
                <a:lnTo>
                  <a:pt x="6221098" y="0"/>
                </a:lnTo>
                <a:lnTo>
                  <a:pt x="6221098" y="3483816"/>
                </a:lnTo>
                <a:lnTo>
                  <a:pt x="0" y="34838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7310127">
            <a:off x="13601700" y="-2132872"/>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 id="6"/>
          <p:cNvGrpSpPr/>
          <p:nvPr/>
        </p:nvGrpSpPr>
        <p:grpSpPr>
          <a:xfrm rot="0">
            <a:off x="4994740" y="731284"/>
            <a:ext cx="1063265" cy="106326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4BBB"/>
            </a:solidFill>
          </p:spPr>
        </p:sp>
        <p:sp>
          <p:nvSpPr>
            <p:cNvPr name="TextBox 8" id="8"/>
            <p:cNvSpPr txBox="true"/>
            <p:nvPr/>
          </p:nvSpPr>
          <p:spPr>
            <a:xfrm>
              <a:off x="76200" y="9525"/>
              <a:ext cx="660400" cy="72707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110254" y="2948646"/>
            <a:ext cx="16230600" cy="4313508"/>
          </a:xfrm>
          <a:prstGeom prst="rect">
            <a:avLst/>
          </a:prstGeom>
        </p:spPr>
        <p:txBody>
          <a:bodyPr anchor="t" rtlCol="false" tIns="0" lIns="0" bIns="0" rIns="0">
            <a:spAutoFit/>
          </a:bodyPr>
          <a:lstStyle/>
          <a:p>
            <a:pPr algn="ctr">
              <a:lnSpc>
                <a:spcPts val="5789"/>
              </a:lnSpc>
              <a:spcBef>
                <a:spcPct val="0"/>
              </a:spcBef>
            </a:pPr>
            <a:r>
              <a:rPr lang="en-US" b="true" sz="4135">
                <a:solidFill>
                  <a:srgbClr val="000000"/>
                </a:solidFill>
                <a:latin typeface="A Day Without Sun Text Bold"/>
                <a:ea typeface="A Day Without Sun Text Bold"/>
                <a:cs typeface="A Day Without Sun Text Bold"/>
                <a:sym typeface="A Day Without Sun Text Bold"/>
              </a:rPr>
              <a:t>EN PYTHON, UN BUCLE (O CICLO) ES UNA ESTRUCTURA DE CONTROL REPETITIVA QUE PERMITE EJECUTAR UN MISMO BLOQUE DE CÓDIGO DE FORMA AUTOMÁTICA E ITERATIVA MIENTRAS SE CUMPLA UNA CONDICIÓN DETERMINADA O MIENTRAS SE RECORRA UNA COLECCIÓN DE ELEMENTOS. SU OBJETIVO PRINCIPAL ES EVITAR LA REPETICIÓN MANUAL DE CÓDIGO, AUTOMATIZAR TAREAS ITERATIVAS Y PROCESAR ESTRUCTURAS DE DATOS DE MANERA EFICIENTE.</a:t>
            </a:r>
          </a:p>
        </p:txBody>
      </p:sp>
      <p:sp>
        <p:nvSpPr>
          <p:cNvPr name="TextBox 10" id="10"/>
          <p:cNvSpPr txBox="true"/>
          <p:nvPr/>
        </p:nvSpPr>
        <p:spPr>
          <a:xfrm rot="0">
            <a:off x="4994740" y="714594"/>
            <a:ext cx="1063265" cy="944245"/>
          </a:xfrm>
          <a:prstGeom prst="rect">
            <a:avLst/>
          </a:prstGeom>
        </p:spPr>
        <p:txBody>
          <a:bodyPr anchor="t" rtlCol="false" tIns="0" lIns="0" bIns="0" rIns="0">
            <a:spAutoFit/>
          </a:bodyPr>
          <a:lstStyle/>
          <a:p>
            <a:pPr algn="ctr">
              <a:lnSpc>
                <a:spcPts val="7279"/>
              </a:lnSpc>
            </a:pPr>
            <a:r>
              <a:rPr lang="en-US" sz="5199" b="true">
                <a:solidFill>
                  <a:srgbClr val="FFFFFF"/>
                </a:solidFill>
                <a:latin typeface="Telegraf Bold"/>
                <a:ea typeface="Telegraf Bold"/>
                <a:cs typeface="Telegraf Bold"/>
                <a:sym typeface="Telegraf Bold"/>
              </a:rPr>
              <a:t>4</a:t>
            </a:r>
          </a:p>
        </p:txBody>
      </p:sp>
      <p:sp>
        <p:nvSpPr>
          <p:cNvPr name="TextBox 11" id="11"/>
          <p:cNvSpPr txBox="true"/>
          <p:nvPr/>
        </p:nvSpPr>
        <p:spPr>
          <a:xfrm rot="0">
            <a:off x="5923649" y="786373"/>
            <a:ext cx="5630701" cy="872466"/>
          </a:xfrm>
          <a:prstGeom prst="rect">
            <a:avLst/>
          </a:prstGeom>
        </p:spPr>
        <p:txBody>
          <a:bodyPr anchor="t" rtlCol="false" tIns="0" lIns="0" bIns="0" rIns="0">
            <a:spAutoFit/>
          </a:bodyPr>
          <a:lstStyle/>
          <a:p>
            <a:pPr algn="ctr" marL="0" indent="0" lvl="0">
              <a:lnSpc>
                <a:spcPts val="7000"/>
              </a:lnSpc>
              <a:spcBef>
                <a:spcPct val="0"/>
              </a:spcBef>
            </a:pPr>
            <a:r>
              <a:rPr lang="en-US" b="true" sz="5000">
                <a:solidFill>
                  <a:srgbClr val="000000"/>
                </a:solidFill>
                <a:latin typeface="A Day Without Sun Text Bold"/>
                <a:ea typeface="A Day Without Sun Text Bold"/>
                <a:cs typeface="A Day Without Sun Text Bold"/>
                <a:sym typeface="A Day Without Sun Text Bold"/>
              </a:rPr>
              <a:t>BUCLES</a:t>
            </a:r>
            <a:r>
              <a:rPr lang="en-US" b="true" sz="5000">
                <a:solidFill>
                  <a:srgbClr val="000000"/>
                </a:solidFill>
                <a:latin typeface="A Day Without Sun Text Bold"/>
                <a:ea typeface="A Day Without Sun Text Bold"/>
                <a:cs typeface="A Day Without Sun Text Bold"/>
                <a:sym typeface="A Day Without Sun Text Bold"/>
              </a:rPr>
              <a:t> EN PYTHON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156018" y="7504390"/>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37204" y="-1404956"/>
            <a:ext cx="4442528" cy="4867312"/>
          </a:xfrm>
          <a:custGeom>
            <a:avLst/>
            <a:gdLst/>
            <a:ahLst/>
            <a:cxnLst/>
            <a:rect r="r" b="b" t="t" l="l"/>
            <a:pathLst>
              <a:path h="4867312" w="4442528">
                <a:moveTo>
                  <a:pt x="0" y="0"/>
                </a:moveTo>
                <a:lnTo>
                  <a:pt x="4442528" y="0"/>
                </a:lnTo>
                <a:lnTo>
                  <a:pt x="4442528" y="4867312"/>
                </a:lnTo>
                <a:lnTo>
                  <a:pt x="0" y="48673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301756">
            <a:off x="-1126489" y="8545092"/>
            <a:ext cx="6221098" cy="3483815"/>
          </a:xfrm>
          <a:custGeom>
            <a:avLst/>
            <a:gdLst/>
            <a:ahLst/>
            <a:cxnLst/>
            <a:rect r="r" b="b" t="t" l="l"/>
            <a:pathLst>
              <a:path h="3483815" w="6221098">
                <a:moveTo>
                  <a:pt x="0" y="0"/>
                </a:moveTo>
                <a:lnTo>
                  <a:pt x="6221098" y="0"/>
                </a:lnTo>
                <a:lnTo>
                  <a:pt x="6221098" y="3483816"/>
                </a:lnTo>
                <a:lnTo>
                  <a:pt x="0" y="34838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7310127">
            <a:off x="13601700" y="-2132872"/>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 id="6"/>
          <p:cNvGrpSpPr/>
          <p:nvPr/>
        </p:nvGrpSpPr>
        <p:grpSpPr>
          <a:xfrm rot="0">
            <a:off x="4994740" y="731284"/>
            <a:ext cx="1063265" cy="106326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4BBB"/>
            </a:solidFill>
          </p:spPr>
        </p:sp>
        <p:sp>
          <p:nvSpPr>
            <p:cNvPr name="TextBox 8" id="8"/>
            <p:cNvSpPr txBox="true"/>
            <p:nvPr/>
          </p:nvSpPr>
          <p:spPr>
            <a:xfrm>
              <a:off x="76200" y="9525"/>
              <a:ext cx="660400" cy="72707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110254" y="2224921"/>
            <a:ext cx="16230600" cy="5760959"/>
          </a:xfrm>
          <a:prstGeom prst="rect">
            <a:avLst/>
          </a:prstGeom>
        </p:spPr>
        <p:txBody>
          <a:bodyPr anchor="t" rtlCol="false" tIns="0" lIns="0" bIns="0" rIns="0">
            <a:spAutoFit/>
          </a:bodyPr>
          <a:lstStyle/>
          <a:p>
            <a:pPr algn="ctr">
              <a:lnSpc>
                <a:spcPts val="5789"/>
              </a:lnSpc>
              <a:spcBef>
                <a:spcPct val="0"/>
              </a:spcBef>
            </a:pPr>
            <a:r>
              <a:rPr lang="en-US" b="true" sz="4135">
                <a:solidFill>
                  <a:srgbClr val="000000"/>
                </a:solidFill>
                <a:latin typeface="A Day Without Sun Text Bold"/>
                <a:ea typeface="A Day Without Sun Text Bold"/>
                <a:cs typeface="A Day Without Sun Text Bold"/>
                <a:sym typeface="A Day Without Sun Text Bold"/>
              </a:rPr>
              <a:t>TIP</a:t>
            </a:r>
            <a:r>
              <a:rPr lang="en-US" b="true" sz="4135">
                <a:solidFill>
                  <a:srgbClr val="000000"/>
                </a:solidFill>
                <a:latin typeface="A Day Without Sun Text Bold"/>
                <a:ea typeface="A Day Without Sun Text Bold"/>
                <a:cs typeface="A Day Without Sun Text Bold"/>
                <a:sym typeface="A Day Without Sun Text Bold"/>
              </a:rPr>
              <a:t>OS PRINCIPALES DE BUCLES EN PYTHON</a:t>
            </a:r>
          </a:p>
          <a:p>
            <a:pPr algn="ctr">
              <a:lnSpc>
                <a:spcPts val="5789"/>
              </a:lnSpc>
              <a:spcBef>
                <a:spcPct val="0"/>
              </a:spcBef>
            </a:pPr>
          </a:p>
          <a:p>
            <a:pPr algn="ctr">
              <a:lnSpc>
                <a:spcPts val="5789"/>
              </a:lnSpc>
              <a:spcBef>
                <a:spcPct val="0"/>
              </a:spcBef>
            </a:pPr>
            <a:r>
              <a:rPr lang="en-US" b="true" sz="4135">
                <a:solidFill>
                  <a:srgbClr val="000000"/>
                </a:solidFill>
                <a:latin typeface="A Day Without Sun Text Bold"/>
                <a:ea typeface="A Day Without Sun Text Bold"/>
                <a:cs typeface="A Day Without Sun Text Bold"/>
                <a:sym typeface="A Day Without Sun Text Bold"/>
              </a:rPr>
              <a:t>BUCLE WHILE: SE UTILIZA PARA REPETIR UN BLOQUE DE CÓDIGO INDEFINIDAMENTE MIENTRAS UNA CONDICIÓN SE MANTENGA COMO VERDADERA (TRUE).</a:t>
            </a:r>
          </a:p>
          <a:p>
            <a:pPr algn="ctr">
              <a:lnSpc>
                <a:spcPts val="5789"/>
              </a:lnSpc>
              <a:spcBef>
                <a:spcPct val="0"/>
              </a:spcBef>
            </a:pPr>
          </a:p>
          <a:p>
            <a:pPr algn="ctr">
              <a:lnSpc>
                <a:spcPts val="5789"/>
              </a:lnSpc>
              <a:spcBef>
                <a:spcPct val="0"/>
              </a:spcBef>
            </a:pPr>
            <a:r>
              <a:rPr lang="en-US" b="true" sz="4135">
                <a:solidFill>
                  <a:srgbClr val="000000"/>
                </a:solidFill>
                <a:latin typeface="A Day Without Sun Text Bold"/>
                <a:ea typeface="A Day Without Sun Text Bold"/>
                <a:cs typeface="A Day Without Sun Text Bold"/>
                <a:sym typeface="A Day Without Sun Text Bold"/>
              </a:rPr>
              <a:t>BUCLE FOR: SE UTILIZA PARA ITERAR SOBRE UNA SECUENCIA (COMO UNA LISTA, UNA CADENA DE TEXTO O UN RANGO NUMÉRICO) UN NÚMERO CONOCIDO O DETERMINADO DE VECES.</a:t>
            </a:r>
          </a:p>
        </p:txBody>
      </p:sp>
      <p:sp>
        <p:nvSpPr>
          <p:cNvPr name="TextBox 10" id="10"/>
          <p:cNvSpPr txBox="true"/>
          <p:nvPr/>
        </p:nvSpPr>
        <p:spPr>
          <a:xfrm rot="0">
            <a:off x="4994740" y="714594"/>
            <a:ext cx="1063265" cy="944245"/>
          </a:xfrm>
          <a:prstGeom prst="rect">
            <a:avLst/>
          </a:prstGeom>
        </p:spPr>
        <p:txBody>
          <a:bodyPr anchor="t" rtlCol="false" tIns="0" lIns="0" bIns="0" rIns="0">
            <a:spAutoFit/>
          </a:bodyPr>
          <a:lstStyle/>
          <a:p>
            <a:pPr algn="ctr">
              <a:lnSpc>
                <a:spcPts val="7279"/>
              </a:lnSpc>
            </a:pPr>
            <a:r>
              <a:rPr lang="en-US" sz="5199" b="true">
                <a:solidFill>
                  <a:srgbClr val="FFFFFF"/>
                </a:solidFill>
                <a:latin typeface="Telegraf Bold"/>
                <a:ea typeface="Telegraf Bold"/>
                <a:cs typeface="Telegraf Bold"/>
                <a:sym typeface="Telegraf Bold"/>
              </a:rPr>
              <a:t>5</a:t>
            </a:r>
          </a:p>
        </p:txBody>
      </p:sp>
      <p:sp>
        <p:nvSpPr>
          <p:cNvPr name="TextBox 11" id="11"/>
          <p:cNvSpPr txBox="true"/>
          <p:nvPr/>
        </p:nvSpPr>
        <p:spPr>
          <a:xfrm rot="0">
            <a:off x="6848580" y="786373"/>
            <a:ext cx="6969739" cy="872466"/>
          </a:xfrm>
          <a:prstGeom prst="rect">
            <a:avLst/>
          </a:prstGeom>
        </p:spPr>
        <p:txBody>
          <a:bodyPr anchor="t" rtlCol="false" tIns="0" lIns="0" bIns="0" rIns="0">
            <a:spAutoFit/>
          </a:bodyPr>
          <a:lstStyle/>
          <a:p>
            <a:pPr algn="ctr" marL="0" indent="0" lvl="0">
              <a:lnSpc>
                <a:spcPts val="7000"/>
              </a:lnSpc>
              <a:spcBef>
                <a:spcPct val="0"/>
              </a:spcBef>
            </a:pPr>
            <a:r>
              <a:rPr lang="en-US" b="true" sz="5000">
                <a:solidFill>
                  <a:srgbClr val="000000"/>
                </a:solidFill>
                <a:latin typeface="A Day Without Sun Text Bold"/>
                <a:ea typeface="A Day Without Sun Text Bold"/>
                <a:cs typeface="A Day Without Sun Text Bold"/>
                <a:sym typeface="A Day Without Sun Text Bold"/>
              </a:rPr>
              <a:t>TIPOS DE BUCLES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229061" y="186726"/>
            <a:ext cx="12740810" cy="9431782"/>
          </a:xfrm>
          <a:custGeom>
            <a:avLst/>
            <a:gdLst/>
            <a:ahLst/>
            <a:cxnLst/>
            <a:rect r="r" b="b" t="t" l="l"/>
            <a:pathLst>
              <a:path h="9431782" w="12740810">
                <a:moveTo>
                  <a:pt x="0" y="0"/>
                </a:moveTo>
                <a:lnTo>
                  <a:pt x="12740810" y="0"/>
                </a:lnTo>
                <a:lnTo>
                  <a:pt x="12740810" y="9431783"/>
                </a:lnTo>
                <a:lnTo>
                  <a:pt x="0" y="9431783"/>
                </a:lnTo>
                <a:lnTo>
                  <a:pt x="0" y="0"/>
                </a:lnTo>
                <a:close/>
              </a:path>
            </a:pathLst>
          </a:custGeom>
          <a:blipFill>
            <a:blip r:embed="rId2"/>
            <a:stretch>
              <a:fillRect l="0" t="0" r="0" b="0"/>
            </a:stretch>
          </a:blipFill>
        </p:spPr>
      </p:sp>
      <p:sp>
        <p:nvSpPr>
          <p:cNvPr name="Freeform 3" id="3"/>
          <p:cNvSpPr/>
          <p:nvPr/>
        </p:nvSpPr>
        <p:spPr>
          <a:xfrm flipH="false" flipV="false" rot="301756">
            <a:off x="-279953" y="7069164"/>
            <a:ext cx="6221098" cy="3483815"/>
          </a:xfrm>
          <a:custGeom>
            <a:avLst/>
            <a:gdLst/>
            <a:ahLst/>
            <a:cxnLst/>
            <a:rect r="r" b="b" t="t" l="l"/>
            <a:pathLst>
              <a:path h="3483815" w="6221098">
                <a:moveTo>
                  <a:pt x="0" y="0"/>
                </a:moveTo>
                <a:lnTo>
                  <a:pt x="6221099" y="0"/>
                </a:lnTo>
                <a:lnTo>
                  <a:pt x="6221099" y="3483815"/>
                </a:lnTo>
                <a:lnTo>
                  <a:pt x="0" y="348381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7310127">
            <a:off x="13063153" y="-1560662"/>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9491188">
            <a:off x="-2730184" y="-808361"/>
            <a:ext cx="5460369" cy="2849320"/>
          </a:xfrm>
          <a:custGeom>
            <a:avLst/>
            <a:gdLst/>
            <a:ahLst/>
            <a:cxnLst/>
            <a:rect r="r" b="b" t="t" l="l"/>
            <a:pathLst>
              <a:path h="2849320" w="5460369">
                <a:moveTo>
                  <a:pt x="0" y="0"/>
                </a:moveTo>
                <a:lnTo>
                  <a:pt x="5460368" y="0"/>
                </a:lnTo>
                <a:lnTo>
                  <a:pt x="5460368" y="2849319"/>
                </a:lnTo>
                <a:lnTo>
                  <a:pt x="0" y="28493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824223" y="1919184"/>
            <a:ext cx="4479720" cy="5382889"/>
          </a:xfrm>
          <a:prstGeom prst="rect">
            <a:avLst/>
          </a:prstGeom>
        </p:spPr>
        <p:txBody>
          <a:bodyPr anchor="t" rtlCol="false" tIns="0" lIns="0" bIns="0" rIns="0">
            <a:spAutoFit/>
          </a:bodyPr>
          <a:lstStyle/>
          <a:p>
            <a:pPr algn="ctr">
              <a:lnSpc>
                <a:spcPts val="3524"/>
              </a:lnSpc>
              <a:spcBef>
                <a:spcPct val="0"/>
              </a:spcBef>
            </a:pPr>
            <a:r>
              <a:rPr lang="en-US" b="true" sz="2517">
                <a:solidFill>
                  <a:srgbClr val="000000"/>
                </a:solidFill>
                <a:latin typeface="Telegraf Bold"/>
                <a:ea typeface="Telegraf Bold"/>
                <a:cs typeface="Telegraf Bold"/>
                <a:sym typeface="Telegraf Bold"/>
              </a:rPr>
              <a:t>En este diagrama, el flujo entra por la parte superior (A), evalúa la condición una sola vez, se divide en dos caminos excluyentes (TRUE o FALSE) para ejecutar un conjunto de instrucciones de manera lineal, y finalmente confluye hacia un punto de salida común (B) sin volver a repetir la evaluación.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898364" y="1533457"/>
            <a:ext cx="8947362" cy="8777548"/>
          </a:xfrm>
          <a:custGeom>
            <a:avLst/>
            <a:gdLst/>
            <a:ahLst/>
            <a:cxnLst/>
            <a:rect r="r" b="b" t="t" l="l"/>
            <a:pathLst>
              <a:path h="8777548" w="8947362">
                <a:moveTo>
                  <a:pt x="0" y="0"/>
                </a:moveTo>
                <a:lnTo>
                  <a:pt x="8947362" y="0"/>
                </a:lnTo>
                <a:lnTo>
                  <a:pt x="8947362" y="8777548"/>
                </a:lnTo>
                <a:lnTo>
                  <a:pt x="0" y="8777548"/>
                </a:lnTo>
                <a:lnTo>
                  <a:pt x="0" y="0"/>
                </a:lnTo>
                <a:close/>
              </a:path>
            </a:pathLst>
          </a:custGeom>
          <a:blipFill>
            <a:blip r:embed="rId2"/>
            <a:stretch>
              <a:fillRect l="0" t="-4170" r="0" b="0"/>
            </a:stretch>
          </a:blipFill>
        </p:spPr>
      </p:sp>
      <p:sp>
        <p:nvSpPr>
          <p:cNvPr name="Freeform 3" id="3"/>
          <p:cNvSpPr/>
          <p:nvPr/>
        </p:nvSpPr>
        <p:spPr>
          <a:xfrm flipH="false" flipV="false" rot="0">
            <a:off x="14127318" y="6803185"/>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9189" y="-224270"/>
            <a:ext cx="4442528" cy="4867312"/>
          </a:xfrm>
          <a:custGeom>
            <a:avLst/>
            <a:gdLst/>
            <a:ahLst/>
            <a:cxnLst/>
            <a:rect r="r" b="b" t="t" l="l"/>
            <a:pathLst>
              <a:path h="4867312" w="4442528">
                <a:moveTo>
                  <a:pt x="0" y="0"/>
                </a:moveTo>
                <a:lnTo>
                  <a:pt x="4442528" y="0"/>
                </a:lnTo>
                <a:lnTo>
                  <a:pt x="4442528" y="4867312"/>
                </a:lnTo>
                <a:lnTo>
                  <a:pt x="0" y="48673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301756">
            <a:off x="-279953" y="7069164"/>
            <a:ext cx="6221098" cy="3483815"/>
          </a:xfrm>
          <a:custGeom>
            <a:avLst/>
            <a:gdLst/>
            <a:ahLst/>
            <a:cxnLst/>
            <a:rect r="r" b="b" t="t" l="l"/>
            <a:pathLst>
              <a:path h="3483815" w="6221098">
                <a:moveTo>
                  <a:pt x="0" y="0"/>
                </a:moveTo>
                <a:lnTo>
                  <a:pt x="6221099" y="0"/>
                </a:lnTo>
                <a:lnTo>
                  <a:pt x="6221099" y="3483815"/>
                </a:lnTo>
                <a:lnTo>
                  <a:pt x="0" y="348381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7310127">
            <a:off x="12882178" y="-1379687"/>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7" id="7"/>
          <p:cNvGrpSpPr/>
          <p:nvPr/>
        </p:nvGrpSpPr>
        <p:grpSpPr>
          <a:xfrm rot="0">
            <a:off x="4715289" y="320138"/>
            <a:ext cx="1063265" cy="1063265"/>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4BBB"/>
            </a:solidFill>
          </p:spPr>
        </p:sp>
        <p:sp>
          <p:nvSpPr>
            <p:cNvPr name="TextBox 9" id="9"/>
            <p:cNvSpPr txBox="true"/>
            <p:nvPr/>
          </p:nvSpPr>
          <p:spPr>
            <a:xfrm>
              <a:off x="76200" y="9525"/>
              <a:ext cx="660400" cy="727075"/>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4715289" y="303448"/>
            <a:ext cx="1063265" cy="944245"/>
          </a:xfrm>
          <a:prstGeom prst="rect">
            <a:avLst/>
          </a:prstGeom>
        </p:spPr>
        <p:txBody>
          <a:bodyPr anchor="t" rtlCol="false" tIns="0" lIns="0" bIns="0" rIns="0">
            <a:spAutoFit/>
          </a:bodyPr>
          <a:lstStyle/>
          <a:p>
            <a:pPr algn="ctr">
              <a:lnSpc>
                <a:spcPts val="7279"/>
              </a:lnSpc>
            </a:pPr>
            <a:r>
              <a:rPr lang="en-US" sz="5199" b="true">
                <a:solidFill>
                  <a:srgbClr val="FFFFFF"/>
                </a:solidFill>
                <a:latin typeface="Telegraf Bold"/>
                <a:ea typeface="Telegraf Bold"/>
                <a:cs typeface="Telegraf Bold"/>
                <a:sym typeface="Telegraf Bold"/>
              </a:rPr>
              <a:t>6</a:t>
            </a:r>
          </a:p>
        </p:txBody>
      </p:sp>
      <p:sp>
        <p:nvSpPr>
          <p:cNvPr name="TextBox 11" id="11"/>
          <p:cNvSpPr txBox="true"/>
          <p:nvPr/>
        </p:nvSpPr>
        <p:spPr>
          <a:xfrm rot="0">
            <a:off x="6081874" y="375227"/>
            <a:ext cx="3723432" cy="872466"/>
          </a:xfrm>
          <a:prstGeom prst="rect">
            <a:avLst/>
          </a:prstGeom>
        </p:spPr>
        <p:txBody>
          <a:bodyPr anchor="t" rtlCol="false" tIns="0" lIns="0" bIns="0" rIns="0">
            <a:spAutoFit/>
          </a:bodyPr>
          <a:lstStyle/>
          <a:p>
            <a:pPr algn="ctr" marL="0" indent="0" lvl="0">
              <a:lnSpc>
                <a:spcPts val="7000"/>
              </a:lnSpc>
              <a:spcBef>
                <a:spcPct val="0"/>
              </a:spcBef>
            </a:pPr>
            <a:r>
              <a:rPr lang="en-US" b="true" sz="5000">
                <a:solidFill>
                  <a:srgbClr val="000000"/>
                </a:solidFill>
                <a:latin typeface="A Day Without Sun Text Bold"/>
                <a:ea typeface="A Day Without Sun Text Bold"/>
                <a:cs typeface="A Day Without Sun Text Bold"/>
                <a:sym typeface="A Day Without Sun Text Bold"/>
              </a:rPr>
              <a:t>BUCLE WHILE</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700000">
            <a:off x="-4161374" y="-3456943"/>
            <a:ext cx="27514548" cy="15408147"/>
          </a:xfrm>
          <a:custGeom>
            <a:avLst/>
            <a:gdLst/>
            <a:ahLst/>
            <a:cxnLst/>
            <a:rect r="r" b="b" t="t" l="l"/>
            <a:pathLst>
              <a:path h="15408147" w="27514548">
                <a:moveTo>
                  <a:pt x="0" y="0"/>
                </a:moveTo>
                <a:lnTo>
                  <a:pt x="27514549" y="0"/>
                </a:lnTo>
                <a:lnTo>
                  <a:pt x="27514549" y="15408147"/>
                </a:lnTo>
                <a:lnTo>
                  <a:pt x="0" y="154081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715289" y="1631169"/>
            <a:ext cx="8823579" cy="8132616"/>
          </a:xfrm>
          <a:custGeom>
            <a:avLst/>
            <a:gdLst/>
            <a:ahLst/>
            <a:cxnLst/>
            <a:rect r="r" b="b" t="t" l="l"/>
            <a:pathLst>
              <a:path h="8132616" w="8823579">
                <a:moveTo>
                  <a:pt x="0" y="0"/>
                </a:moveTo>
                <a:lnTo>
                  <a:pt x="8823579" y="0"/>
                </a:lnTo>
                <a:lnTo>
                  <a:pt x="8823579" y="8132617"/>
                </a:lnTo>
                <a:lnTo>
                  <a:pt x="0" y="8132617"/>
                </a:lnTo>
                <a:lnTo>
                  <a:pt x="0" y="0"/>
                </a:lnTo>
                <a:close/>
              </a:path>
            </a:pathLst>
          </a:custGeom>
          <a:blipFill>
            <a:blip r:embed="rId4"/>
            <a:stretch>
              <a:fillRect l="-265" t="0" r="0" b="0"/>
            </a:stretch>
          </a:blipFill>
          <a:ln w="38100" cap="sq">
            <a:solidFill>
              <a:srgbClr val="FFFFFF"/>
            </a:solidFill>
            <a:prstDash val="solid"/>
            <a:miter/>
          </a:ln>
        </p:spPr>
      </p:sp>
      <p:grpSp>
        <p:nvGrpSpPr>
          <p:cNvPr name="Group 4" id="4"/>
          <p:cNvGrpSpPr/>
          <p:nvPr/>
        </p:nvGrpSpPr>
        <p:grpSpPr>
          <a:xfrm rot="0">
            <a:off x="4715289" y="320138"/>
            <a:ext cx="1063265" cy="1063265"/>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4BBB"/>
            </a:solidFill>
          </p:spPr>
        </p:sp>
        <p:sp>
          <p:nvSpPr>
            <p:cNvPr name="TextBox 6" id="6"/>
            <p:cNvSpPr txBox="true"/>
            <p:nvPr/>
          </p:nvSpPr>
          <p:spPr>
            <a:xfrm>
              <a:off x="76200" y="9525"/>
              <a:ext cx="660400" cy="727075"/>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4715289" y="303448"/>
            <a:ext cx="1063265" cy="944245"/>
          </a:xfrm>
          <a:prstGeom prst="rect">
            <a:avLst/>
          </a:prstGeom>
        </p:spPr>
        <p:txBody>
          <a:bodyPr anchor="t" rtlCol="false" tIns="0" lIns="0" bIns="0" rIns="0">
            <a:spAutoFit/>
          </a:bodyPr>
          <a:lstStyle/>
          <a:p>
            <a:pPr algn="ctr">
              <a:lnSpc>
                <a:spcPts val="7279"/>
              </a:lnSpc>
            </a:pPr>
            <a:r>
              <a:rPr lang="en-US" sz="5199" b="true">
                <a:solidFill>
                  <a:srgbClr val="FFFFFF"/>
                </a:solidFill>
                <a:latin typeface="Telegraf Bold"/>
                <a:ea typeface="Telegraf Bold"/>
                <a:cs typeface="Telegraf Bold"/>
                <a:sym typeface="Telegraf Bold"/>
              </a:rPr>
              <a:t>7</a:t>
            </a:r>
          </a:p>
        </p:txBody>
      </p:sp>
      <p:sp>
        <p:nvSpPr>
          <p:cNvPr name="TextBox 8" id="8"/>
          <p:cNvSpPr txBox="true"/>
          <p:nvPr/>
        </p:nvSpPr>
        <p:spPr>
          <a:xfrm rot="0">
            <a:off x="6378996" y="375227"/>
            <a:ext cx="7159873" cy="872466"/>
          </a:xfrm>
          <a:prstGeom prst="rect">
            <a:avLst/>
          </a:prstGeom>
        </p:spPr>
        <p:txBody>
          <a:bodyPr anchor="t" rtlCol="false" tIns="0" lIns="0" bIns="0" rIns="0">
            <a:spAutoFit/>
          </a:bodyPr>
          <a:lstStyle/>
          <a:p>
            <a:pPr algn="ctr" marL="0" indent="0" lvl="0">
              <a:lnSpc>
                <a:spcPts val="7000"/>
              </a:lnSpc>
              <a:spcBef>
                <a:spcPct val="0"/>
              </a:spcBef>
            </a:pPr>
            <a:r>
              <a:rPr lang="en-US" b="true" sz="5000">
                <a:solidFill>
                  <a:srgbClr val="000000"/>
                </a:solidFill>
                <a:latin typeface="A Day Without Sun Text Bold"/>
                <a:ea typeface="A Day Without Sun Text Bold"/>
                <a:cs typeface="A Day Without Sun Text Bold"/>
                <a:sym typeface="A Day Without Sun Text Bold"/>
              </a:rPr>
              <a:t>BUCLE FOR</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690772" y="1250896"/>
            <a:ext cx="1063265" cy="106326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4BBB"/>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89189" y="-224270"/>
            <a:ext cx="4442528" cy="4867312"/>
          </a:xfrm>
          <a:custGeom>
            <a:avLst/>
            <a:gdLst/>
            <a:ahLst/>
            <a:cxnLst/>
            <a:rect r="r" b="b" t="t" l="l"/>
            <a:pathLst>
              <a:path h="4867312" w="4442528">
                <a:moveTo>
                  <a:pt x="0" y="0"/>
                </a:moveTo>
                <a:lnTo>
                  <a:pt x="4442528" y="0"/>
                </a:lnTo>
                <a:lnTo>
                  <a:pt x="4442528" y="4867312"/>
                </a:lnTo>
                <a:lnTo>
                  <a:pt x="0" y="48673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301756">
            <a:off x="-607790" y="7516392"/>
            <a:ext cx="6221098" cy="3483815"/>
          </a:xfrm>
          <a:custGeom>
            <a:avLst/>
            <a:gdLst/>
            <a:ahLst/>
            <a:cxnLst/>
            <a:rect r="r" b="b" t="t" l="l"/>
            <a:pathLst>
              <a:path h="3483815" w="6221098">
                <a:moveTo>
                  <a:pt x="0" y="0"/>
                </a:moveTo>
                <a:lnTo>
                  <a:pt x="6221099" y="0"/>
                </a:lnTo>
                <a:lnTo>
                  <a:pt x="6221099" y="3483816"/>
                </a:lnTo>
                <a:lnTo>
                  <a:pt x="0" y="34838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814325" y="3316537"/>
            <a:ext cx="8558262" cy="3933877"/>
          </a:xfrm>
          <a:prstGeom prst="rect">
            <a:avLst/>
          </a:prstGeom>
        </p:spPr>
        <p:txBody>
          <a:bodyPr anchor="t" rtlCol="false" tIns="0" lIns="0" bIns="0" rIns="0">
            <a:spAutoFit/>
          </a:bodyPr>
          <a:lstStyle/>
          <a:p>
            <a:pPr algn="l">
              <a:lnSpc>
                <a:spcPts val="6297"/>
              </a:lnSpc>
              <a:spcBef>
                <a:spcPct val="0"/>
              </a:spcBef>
            </a:pPr>
            <a:r>
              <a:rPr lang="en-US" sz="4497">
                <a:solidFill>
                  <a:srgbClr val="000000"/>
                </a:solidFill>
                <a:latin typeface="A Day Without Sun Text"/>
                <a:ea typeface="A Day Without Sun Text"/>
                <a:cs typeface="A Day Without Sun Text"/>
                <a:sym typeface="A Day Without Sun Text"/>
              </a:rPr>
              <a:t>  Un bucle for (o ciclo for) es una estructura de control en programación que te permite repetir un bloque de código varias veces de forma automática, ahorrándote tener que escribir la misma instrucción una y otra vez.</a:t>
            </a:r>
          </a:p>
        </p:txBody>
      </p:sp>
      <p:sp>
        <p:nvSpPr>
          <p:cNvPr name="Freeform 8" id="8"/>
          <p:cNvSpPr/>
          <p:nvPr/>
        </p:nvSpPr>
        <p:spPr>
          <a:xfrm flipH="false" flipV="false" rot="0">
            <a:off x="14127318" y="6803185"/>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0594364" y="2314161"/>
            <a:ext cx="7065907" cy="7167889"/>
          </a:xfrm>
          <a:custGeom>
            <a:avLst/>
            <a:gdLst/>
            <a:ahLst/>
            <a:cxnLst/>
            <a:rect r="r" b="b" t="t" l="l"/>
            <a:pathLst>
              <a:path h="7167889" w="7065907">
                <a:moveTo>
                  <a:pt x="0" y="0"/>
                </a:moveTo>
                <a:lnTo>
                  <a:pt x="7065908" y="0"/>
                </a:lnTo>
                <a:lnTo>
                  <a:pt x="7065908" y="7167889"/>
                </a:lnTo>
                <a:lnTo>
                  <a:pt x="0" y="7167889"/>
                </a:lnTo>
                <a:lnTo>
                  <a:pt x="0" y="0"/>
                </a:lnTo>
                <a:close/>
              </a:path>
            </a:pathLst>
          </a:custGeom>
          <a:blipFill>
            <a:blip r:embed="rId8"/>
            <a:stretch>
              <a:fillRect l="0" t="0" r="0" b="0"/>
            </a:stretch>
          </a:blipFill>
        </p:spPr>
      </p:sp>
      <p:sp>
        <p:nvSpPr>
          <p:cNvPr name="Freeform 10" id="10"/>
          <p:cNvSpPr/>
          <p:nvPr/>
        </p:nvSpPr>
        <p:spPr>
          <a:xfrm flipH="false" flipV="false" rot="-7310127">
            <a:off x="12882178" y="-1379687"/>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1" id="11"/>
          <p:cNvSpPr txBox="true"/>
          <p:nvPr/>
        </p:nvSpPr>
        <p:spPr>
          <a:xfrm rot="0">
            <a:off x="5754037" y="1409876"/>
            <a:ext cx="6387344" cy="669103"/>
          </a:xfrm>
          <a:prstGeom prst="rect">
            <a:avLst/>
          </a:prstGeom>
        </p:spPr>
        <p:txBody>
          <a:bodyPr anchor="t" rtlCol="false" tIns="0" lIns="0" bIns="0" rIns="0">
            <a:spAutoFit/>
          </a:bodyPr>
          <a:lstStyle/>
          <a:p>
            <a:pPr algn="ctr" marL="0" indent="0" lvl="0">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BUCLE CON RANGOS FIJOS ( FOR )</a:t>
            </a:r>
          </a:p>
        </p:txBody>
      </p:sp>
      <p:sp>
        <p:nvSpPr>
          <p:cNvPr name="TextBox 12" id="12"/>
          <p:cNvSpPr txBox="true"/>
          <p:nvPr/>
        </p:nvSpPr>
        <p:spPr>
          <a:xfrm rot="0">
            <a:off x="4690772" y="1234206"/>
            <a:ext cx="1063265" cy="944245"/>
          </a:xfrm>
          <a:prstGeom prst="rect">
            <a:avLst/>
          </a:prstGeom>
        </p:spPr>
        <p:txBody>
          <a:bodyPr anchor="t" rtlCol="false" tIns="0" lIns="0" bIns="0" rIns="0">
            <a:spAutoFit/>
          </a:bodyPr>
          <a:lstStyle/>
          <a:p>
            <a:pPr algn="ctr">
              <a:lnSpc>
                <a:spcPts val="7279"/>
              </a:lnSpc>
            </a:pPr>
            <a:r>
              <a:rPr lang="en-US" sz="5199" b="true">
                <a:solidFill>
                  <a:srgbClr val="FFFFFF"/>
                </a:solidFill>
                <a:latin typeface="Telegraf Bold"/>
                <a:ea typeface="Telegraf Bold"/>
                <a:cs typeface="Telegraf Bold"/>
                <a:sym typeface="Telegraf Bold"/>
              </a:rPr>
              <a:t>8</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01933" y="-901402"/>
            <a:ext cx="16054842" cy="11369206"/>
          </a:xfrm>
          <a:custGeom>
            <a:avLst/>
            <a:gdLst/>
            <a:ahLst/>
            <a:cxnLst/>
            <a:rect r="r" b="b" t="t" l="l"/>
            <a:pathLst>
              <a:path h="11369206" w="16054842">
                <a:moveTo>
                  <a:pt x="0" y="0"/>
                </a:moveTo>
                <a:lnTo>
                  <a:pt x="16054842" y="0"/>
                </a:lnTo>
                <a:lnTo>
                  <a:pt x="16054842" y="11369207"/>
                </a:lnTo>
                <a:lnTo>
                  <a:pt x="0" y="11369207"/>
                </a:lnTo>
                <a:lnTo>
                  <a:pt x="0" y="0"/>
                </a:lnTo>
                <a:close/>
              </a:path>
            </a:pathLst>
          </a:custGeom>
          <a:blipFill>
            <a:blip r:embed="rId2"/>
            <a:stretch>
              <a:fillRect l="0" t="0" r="0" b="0"/>
            </a:stretch>
          </a:blipFill>
        </p:spPr>
      </p:sp>
      <p:grpSp>
        <p:nvGrpSpPr>
          <p:cNvPr name="Group 3" id="3"/>
          <p:cNvGrpSpPr/>
          <p:nvPr/>
        </p:nvGrpSpPr>
        <p:grpSpPr>
          <a:xfrm rot="0">
            <a:off x="9283016" y="7311260"/>
            <a:ext cx="9430125" cy="2627264"/>
            <a:chOff x="0" y="0"/>
            <a:chExt cx="2483654" cy="691954"/>
          </a:xfrm>
        </p:grpSpPr>
        <p:sp>
          <p:nvSpPr>
            <p:cNvPr name="Freeform 4" id="4"/>
            <p:cNvSpPr/>
            <p:nvPr/>
          </p:nvSpPr>
          <p:spPr>
            <a:xfrm flipH="false" flipV="false" rot="0">
              <a:off x="0" y="0"/>
              <a:ext cx="2483654" cy="691954"/>
            </a:xfrm>
            <a:custGeom>
              <a:avLst/>
              <a:gdLst/>
              <a:ahLst/>
              <a:cxnLst/>
              <a:rect r="r" b="b" t="t" l="l"/>
              <a:pathLst>
                <a:path h="691954" w="2483654">
                  <a:moveTo>
                    <a:pt x="41870" y="0"/>
                  </a:moveTo>
                  <a:lnTo>
                    <a:pt x="2441784" y="0"/>
                  </a:lnTo>
                  <a:cubicBezTo>
                    <a:pt x="2464908" y="0"/>
                    <a:pt x="2483654" y="18746"/>
                    <a:pt x="2483654" y="41870"/>
                  </a:cubicBezTo>
                  <a:lnTo>
                    <a:pt x="2483654" y="650085"/>
                  </a:lnTo>
                  <a:cubicBezTo>
                    <a:pt x="2483654" y="673209"/>
                    <a:pt x="2464908" y="691954"/>
                    <a:pt x="2441784" y="691954"/>
                  </a:cubicBezTo>
                  <a:lnTo>
                    <a:pt x="41870" y="691954"/>
                  </a:lnTo>
                  <a:cubicBezTo>
                    <a:pt x="18746" y="691954"/>
                    <a:pt x="0" y="673209"/>
                    <a:pt x="0" y="650085"/>
                  </a:cubicBezTo>
                  <a:lnTo>
                    <a:pt x="0" y="41870"/>
                  </a:lnTo>
                  <a:cubicBezTo>
                    <a:pt x="0" y="18746"/>
                    <a:pt x="18746" y="0"/>
                    <a:pt x="41870" y="0"/>
                  </a:cubicBezTo>
                  <a:close/>
                </a:path>
              </a:pathLst>
            </a:custGeom>
            <a:solidFill>
              <a:srgbClr val="C6D8FB"/>
            </a:solidFill>
            <a:ln w="38100" cap="rnd">
              <a:solidFill>
                <a:srgbClr val="000000"/>
              </a:solidFill>
              <a:prstDash val="solid"/>
              <a:round/>
            </a:ln>
          </p:spPr>
        </p:sp>
        <p:sp>
          <p:nvSpPr>
            <p:cNvPr name="TextBox 5" id="5"/>
            <p:cNvSpPr txBox="true"/>
            <p:nvPr/>
          </p:nvSpPr>
          <p:spPr>
            <a:xfrm>
              <a:off x="0" y="-66675"/>
              <a:ext cx="2483654" cy="758629"/>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9539237" y="7299965"/>
            <a:ext cx="8391294" cy="2535555"/>
          </a:xfrm>
          <a:prstGeom prst="rect">
            <a:avLst/>
          </a:prstGeom>
        </p:spPr>
        <p:txBody>
          <a:bodyPr anchor="t" rtlCol="false" tIns="0" lIns="0" bIns="0" rIns="0">
            <a:spAutoFit/>
          </a:bodyPr>
          <a:lstStyle/>
          <a:p>
            <a:pPr algn="l">
              <a:lnSpc>
                <a:spcPts val="6720"/>
              </a:lnSpc>
              <a:spcBef>
                <a:spcPct val="0"/>
              </a:spcBef>
            </a:pPr>
            <a:r>
              <a:rPr lang="en-US" b="true" sz="4800">
                <a:solidFill>
                  <a:srgbClr val="FFFFFF"/>
                </a:solidFill>
                <a:latin typeface="A Day Without Sun Text Bold"/>
                <a:ea typeface="A Day Without Sun Text Bold"/>
                <a:cs typeface="A Day Without Sun Text Bold"/>
                <a:sym typeface="A Day Without Sun Text Bold"/>
              </a:rPr>
              <a:t>Imagina que quieres saludar a 5 personas. Sin un bucle, tendrías que escribir:</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3857" y="24005"/>
            <a:ext cx="16334509" cy="10287000"/>
          </a:xfrm>
          <a:custGeom>
            <a:avLst/>
            <a:gdLst/>
            <a:ahLst/>
            <a:cxnLst/>
            <a:rect r="r" b="b" t="t" l="l"/>
            <a:pathLst>
              <a:path h="10287000" w="16334509">
                <a:moveTo>
                  <a:pt x="0" y="0"/>
                </a:moveTo>
                <a:lnTo>
                  <a:pt x="16334509" y="0"/>
                </a:lnTo>
                <a:lnTo>
                  <a:pt x="16334509"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701476" y="7688641"/>
            <a:ext cx="10946571" cy="2200194"/>
            <a:chOff x="0" y="0"/>
            <a:chExt cx="2883048" cy="579475"/>
          </a:xfrm>
        </p:grpSpPr>
        <p:sp>
          <p:nvSpPr>
            <p:cNvPr name="Freeform 4" id="4"/>
            <p:cNvSpPr/>
            <p:nvPr/>
          </p:nvSpPr>
          <p:spPr>
            <a:xfrm flipH="false" flipV="false" rot="0">
              <a:off x="0" y="0"/>
              <a:ext cx="2883047" cy="579475"/>
            </a:xfrm>
            <a:custGeom>
              <a:avLst/>
              <a:gdLst/>
              <a:ahLst/>
              <a:cxnLst/>
              <a:rect r="r" b="b" t="t" l="l"/>
              <a:pathLst>
                <a:path h="579475" w="2883047">
                  <a:moveTo>
                    <a:pt x="36070" y="0"/>
                  </a:moveTo>
                  <a:lnTo>
                    <a:pt x="2846978" y="0"/>
                  </a:lnTo>
                  <a:cubicBezTo>
                    <a:pt x="2856544" y="0"/>
                    <a:pt x="2865719" y="3800"/>
                    <a:pt x="2872483" y="10565"/>
                  </a:cubicBezTo>
                  <a:cubicBezTo>
                    <a:pt x="2879247" y="17329"/>
                    <a:pt x="2883047" y="26503"/>
                    <a:pt x="2883047" y="36070"/>
                  </a:cubicBezTo>
                  <a:lnTo>
                    <a:pt x="2883047" y="543405"/>
                  </a:lnTo>
                  <a:cubicBezTo>
                    <a:pt x="2883047" y="552972"/>
                    <a:pt x="2879247" y="562146"/>
                    <a:pt x="2872483" y="568910"/>
                  </a:cubicBezTo>
                  <a:cubicBezTo>
                    <a:pt x="2865719" y="575675"/>
                    <a:pt x="2856544" y="579475"/>
                    <a:pt x="2846978" y="579475"/>
                  </a:cubicBezTo>
                  <a:lnTo>
                    <a:pt x="36070" y="579475"/>
                  </a:lnTo>
                  <a:cubicBezTo>
                    <a:pt x="26503" y="579475"/>
                    <a:pt x="17329" y="575675"/>
                    <a:pt x="10565" y="568910"/>
                  </a:cubicBezTo>
                  <a:cubicBezTo>
                    <a:pt x="3800" y="562146"/>
                    <a:pt x="0" y="552972"/>
                    <a:pt x="0" y="543405"/>
                  </a:cubicBezTo>
                  <a:lnTo>
                    <a:pt x="0" y="36070"/>
                  </a:lnTo>
                  <a:cubicBezTo>
                    <a:pt x="0" y="26503"/>
                    <a:pt x="3800" y="17329"/>
                    <a:pt x="10565" y="10565"/>
                  </a:cubicBezTo>
                  <a:cubicBezTo>
                    <a:pt x="17329" y="3800"/>
                    <a:pt x="26503" y="0"/>
                    <a:pt x="36070" y="0"/>
                  </a:cubicBezTo>
                  <a:close/>
                </a:path>
              </a:pathLst>
            </a:custGeom>
            <a:solidFill>
              <a:srgbClr val="C6D8FB"/>
            </a:solidFill>
            <a:ln w="38100" cap="rnd">
              <a:solidFill>
                <a:srgbClr val="000000"/>
              </a:solidFill>
              <a:prstDash val="solid"/>
              <a:round/>
            </a:ln>
          </p:spPr>
        </p:sp>
        <p:sp>
          <p:nvSpPr>
            <p:cNvPr name="TextBox 5" id="5"/>
            <p:cNvSpPr txBox="true"/>
            <p:nvPr/>
          </p:nvSpPr>
          <p:spPr>
            <a:xfrm>
              <a:off x="0" y="-66675"/>
              <a:ext cx="2883048" cy="646150"/>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018609" y="183926"/>
            <a:ext cx="1063265" cy="944245"/>
          </a:xfrm>
          <a:prstGeom prst="rect">
            <a:avLst/>
          </a:prstGeom>
        </p:spPr>
        <p:txBody>
          <a:bodyPr anchor="t" rtlCol="false" tIns="0" lIns="0" bIns="0" rIns="0">
            <a:spAutoFit/>
          </a:bodyPr>
          <a:lstStyle/>
          <a:p>
            <a:pPr algn="ctr">
              <a:lnSpc>
                <a:spcPts val="7279"/>
              </a:lnSpc>
            </a:pPr>
            <a:r>
              <a:rPr lang="en-US" sz="5199" b="true">
                <a:solidFill>
                  <a:srgbClr val="FFFFFF"/>
                </a:solidFill>
                <a:latin typeface="Telegraf Bold"/>
                <a:ea typeface="Telegraf Bold"/>
                <a:cs typeface="Telegraf Bold"/>
                <a:sym typeface="Telegraf Bold"/>
              </a:rPr>
              <a:t>10</a:t>
            </a:r>
          </a:p>
        </p:txBody>
      </p:sp>
      <p:sp>
        <p:nvSpPr>
          <p:cNvPr name="TextBox 7" id="7"/>
          <p:cNvSpPr txBox="true"/>
          <p:nvPr/>
        </p:nvSpPr>
        <p:spPr>
          <a:xfrm rot="0">
            <a:off x="10960997" y="7787712"/>
            <a:ext cx="9154044" cy="1882140"/>
          </a:xfrm>
          <a:prstGeom prst="rect">
            <a:avLst/>
          </a:prstGeom>
        </p:spPr>
        <p:txBody>
          <a:bodyPr anchor="t" rtlCol="false" tIns="0" lIns="0" bIns="0" rIns="0">
            <a:spAutoFit/>
          </a:bodyPr>
          <a:lstStyle/>
          <a:p>
            <a:pPr algn="l">
              <a:lnSpc>
                <a:spcPts val="7559"/>
              </a:lnSpc>
              <a:spcBef>
                <a:spcPct val="0"/>
              </a:spcBef>
            </a:pPr>
            <a:r>
              <a:rPr lang="en-US" b="true" sz="5400">
                <a:solidFill>
                  <a:srgbClr val="FFFFFF"/>
                </a:solidFill>
                <a:latin typeface="A Day Without Sun Text Bold"/>
                <a:ea typeface="A Day Without Sun Text Bold"/>
                <a:cs typeface="A Day Without Sun Text Bold"/>
                <a:sym typeface="A Day Without Sun Text Bold"/>
              </a:rPr>
              <a:t>A</a:t>
            </a:r>
            <a:r>
              <a:rPr lang="en-US" b="true" sz="5400">
                <a:solidFill>
                  <a:srgbClr val="FFFFFF"/>
                </a:solidFill>
                <a:latin typeface="A Day Without Sun Text Bold"/>
                <a:ea typeface="A Day Without Sun Text Bold"/>
                <a:cs typeface="A Day Without Sun Text Bold"/>
                <a:sym typeface="A Day Without Sun Text Bold"/>
              </a:rPr>
              <a:t>quí tienes un ejemplo clásico recorriendo una lista:</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6251188" cy="10273984"/>
          </a:xfrm>
          <a:custGeom>
            <a:avLst/>
            <a:gdLst/>
            <a:ahLst/>
            <a:cxnLst/>
            <a:rect r="r" b="b" t="t" l="l"/>
            <a:pathLst>
              <a:path h="10273984" w="16251188">
                <a:moveTo>
                  <a:pt x="0" y="0"/>
                </a:moveTo>
                <a:lnTo>
                  <a:pt x="16251188" y="0"/>
                </a:lnTo>
                <a:lnTo>
                  <a:pt x="16251188" y="10273984"/>
                </a:lnTo>
                <a:lnTo>
                  <a:pt x="0" y="10273984"/>
                </a:lnTo>
                <a:lnTo>
                  <a:pt x="0" y="0"/>
                </a:lnTo>
                <a:close/>
              </a:path>
            </a:pathLst>
          </a:custGeom>
          <a:blipFill>
            <a:blip r:embed="rId2"/>
            <a:stretch>
              <a:fillRect l="0" t="0" r="0" b="0"/>
            </a:stretch>
          </a:blipFill>
        </p:spPr>
      </p:sp>
      <p:grpSp>
        <p:nvGrpSpPr>
          <p:cNvPr name="Group 3" id="3"/>
          <p:cNvGrpSpPr/>
          <p:nvPr/>
        </p:nvGrpSpPr>
        <p:grpSpPr>
          <a:xfrm rot="0">
            <a:off x="9739698" y="7711069"/>
            <a:ext cx="9859021" cy="2320099"/>
            <a:chOff x="0" y="0"/>
            <a:chExt cx="2596615" cy="611055"/>
          </a:xfrm>
        </p:grpSpPr>
        <p:sp>
          <p:nvSpPr>
            <p:cNvPr name="Freeform 4" id="4"/>
            <p:cNvSpPr/>
            <p:nvPr/>
          </p:nvSpPr>
          <p:spPr>
            <a:xfrm flipH="false" flipV="false" rot="0">
              <a:off x="0" y="0"/>
              <a:ext cx="2596615" cy="611055"/>
            </a:xfrm>
            <a:custGeom>
              <a:avLst/>
              <a:gdLst/>
              <a:ahLst/>
              <a:cxnLst/>
              <a:rect r="r" b="b" t="t" l="l"/>
              <a:pathLst>
                <a:path h="611055" w="2596615">
                  <a:moveTo>
                    <a:pt x="40048" y="0"/>
                  </a:moveTo>
                  <a:lnTo>
                    <a:pt x="2556566" y="0"/>
                  </a:lnTo>
                  <a:cubicBezTo>
                    <a:pt x="2567188" y="0"/>
                    <a:pt x="2577374" y="4219"/>
                    <a:pt x="2584885" y="11730"/>
                  </a:cubicBezTo>
                  <a:cubicBezTo>
                    <a:pt x="2592395" y="19240"/>
                    <a:pt x="2596615" y="29427"/>
                    <a:pt x="2596615" y="40048"/>
                  </a:cubicBezTo>
                  <a:lnTo>
                    <a:pt x="2596615" y="571007"/>
                  </a:lnTo>
                  <a:cubicBezTo>
                    <a:pt x="2596615" y="581628"/>
                    <a:pt x="2592395" y="591814"/>
                    <a:pt x="2584885" y="599325"/>
                  </a:cubicBezTo>
                  <a:cubicBezTo>
                    <a:pt x="2577374" y="606836"/>
                    <a:pt x="2567188" y="611055"/>
                    <a:pt x="2556566" y="611055"/>
                  </a:cubicBezTo>
                  <a:lnTo>
                    <a:pt x="40048" y="611055"/>
                  </a:lnTo>
                  <a:cubicBezTo>
                    <a:pt x="29427" y="611055"/>
                    <a:pt x="19240" y="606836"/>
                    <a:pt x="11730" y="599325"/>
                  </a:cubicBezTo>
                  <a:cubicBezTo>
                    <a:pt x="4219" y="591814"/>
                    <a:pt x="0" y="581628"/>
                    <a:pt x="0" y="571007"/>
                  </a:cubicBezTo>
                  <a:lnTo>
                    <a:pt x="0" y="40048"/>
                  </a:lnTo>
                  <a:cubicBezTo>
                    <a:pt x="0" y="29427"/>
                    <a:pt x="4219" y="19240"/>
                    <a:pt x="11730" y="11730"/>
                  </a:cubicBezTo>
                  <a:cubicBezTo>
                    <a:pt x="19240" y="4219"/>
                    <a:pt x="29427" y="0"/>
                    <a:pt x="40048" y="0"/>
                  </a:cubicBezTo>
                  <a:close/>
                </a:path>
              </a:pathLst>
            </a:custGeom>
            <a:solidFill>
              <a:srgbClr val="C6D8FB"/>
            </a:solidFill>
            <a:ln w="38100" cap="rnd">
              <a:solidFill>
                <a:srgbClr val="000000"/>
              </a:solidFill>
              <a:prstDash val="solid"/>
              <a:round/>
            </a:ln>
          </p:spPr>
        </p:sp>
        <p:sp>
          <p:nvSpPr>
            <p:cNvPr name="TextBox 5" id="5"/>
            <p:cNvSpPr txBox="true"/>
            <p:nvPr/>
          </p:nvSpPr>
          <p:spPr>
            <a:xfrm>
              <a:off x="0" y="-66675"/>
              <a:ext cx="2596615" cy="677730"/>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018609" y="183926"/>
            <a:ext cx="1063265" cy="944245"/>
          </a:xfrm>
          <a:prstGeom prst="rect">
            <a:avLst/>
          </a:prstGeom>
        </p:spPr>
        <p:txBody>
          <a:bodyPr anchor="t" rtlCol="false" tIns="0" lIns="0" bIns="0" rIns="0">
            <a:spAutoFit/>
          </a:bodyPr>
          <a:lstStyle/>
          <a:p>
            <a:pPr algn="ctr">
              <a:lnSpc>
                <a:spcPts val="7279"/>
              </a:lnSpc>
            </a:pPr>
            <a:r>
              <a:rPr lang="en-US" sz="5199" b="true">
                <a:solidFill>
                  <a:srgbClr val="FFFFFF"/>
                </a:solidFill>
                <a:latin typeface="Telegraf Bold"/>
                <a:ea typeface="Telegraf Bold"/>
                <a:cs typeface="Telegraf Bold"/>
                <a:sym typeface="Telegraf Bold"/>
              </a:rPr>
              <a:t>10</a:t>
            </a:r>
          </a:p>
        </p:txBody>
      </p:sp>
      <p:sp>
        <p:nvSpPr>
          <p:cNvPr name="TextBox 7" id="7"/>
          <p:cNvSpPr txBox="true"/>
          <p:nvPr/>
        </p:nvSpPr>
        <p:spPr>
          <a:xfrm rot="0">
            <a:off x="10033849" y="7943993"/>
            <a:ext cx="9412215" cy="1749477"/>
          </a:xfrm>
          <a:prstGeom prst="rect">
            <a:avLst/>
          </a:prstGeom>
        </p:spPr>
        <p:txBody>
          <a:bodyPr anchor="t" rtlCol="false" tIns="0" lIns="0" bIns="0" rIns="0">
            <a:spAutoFit/>
          </a:bodyPr>
          <a:lstStyle/>
          <a:p>
            <a:pPr algn="l">
              <a:lnSpc>
                <a:spcPts val="6997"/>
              </a:lnSpc>
              <a:spcBef>
                <a:spcPct val="0"/>
              </a:spcBef>
            </a:pPr>
            <a:r>
              <a:rPr lang="en-US" sz="4997">
                <a:solidFill>
                  <a:srgbClr val="FFFFFF"/>
                </a:solidFill>
                <a:latin typeface="A Day Without Sun Text"/>
                <a:ea typeface="A Day Without Sun Text"/>
                <a:cs typeface="A Day Without Sun Text"/>
                <a:sym typeface="A Day Without Sun Text"/>
              </a:rPr>
              <a:t>Otro</a:t>
            </a:r>
            <a:r>
              <a:rPr lang="en-US" sz="4997">
                <a:solidFill>
                  <a:srgbClr val="FFFFFF"/>
                </a:solidFill>
                <a:latin typeface="A Day Without Sun Text"/>
                <a:ea typeface="A Day Without Sun Text"/>
                <a:cs typeface="A Day Without Sun Text"/>
                <a:sym typeface="A Day Without Sun Text"/>
              </a:rPr>
              <a:t> clásico: Repetir algo un número específico de veces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4005"/>
            <a:ext cx="12954613" cy="10311005"/>
          </a:xfrm>
          <a:custGeom>
            <a:avLst/>
            <a:gdLst/>
            <a:ahLst/>
            <a:cxnLst/>
            <a:rect r="r" b="b" t="t" l="l"/>
            <a:pathLst>
              <a:path h="10311005" w="12954613">
                <a:moveTo>
                  <a:pt x="0" y="0"/>
                </a:moveTo>
                <a:lnTo>
                  <a:pt x="12954613" y="0"/>
                </a:lnTo>
                <a:lnTo>
                  <a:pt x="12954613" y="10311005"/>
                </a:lnTo>
                <a:lnTo>
                  <a:pt x="0" y="10311005"/>
                </a:lnTo>
                <a:lnTo>
                  <a:pt x="0" y="0"/>
                </a:lnTo>
                <a:close/>
              </a:path>
            </a:pathLst>
          </a:custGeom>
          <a:blipFill>
            <a:blip r:embed="rId2"/>
            <a:stretch>
              <a:fillRect l="0" t="0" r="-1686" b="0"/>
            </a:stretch>
          </a:blipFill>
        </p:spPr>
      </p:sp>
      <p:grpSp>
        <p:nvGrpSpPr>
          <p:cNvPr name="Group 3" id="3"/>
          <p:cNvGrpSpPr/>
          <p:nvPr/>
        </p:nvGrpSpPr>
        <p:grpSpPr>
          <a:xfrm rot="0">
            <a:off x="11974075" y="7471751"/>
            <a:ext cx="8740361" cy="2453486"/>
            <a:chOff x="0" y="0"/>
            <a:chExt cx="2301988" cy="646186"/>
          </a:xfrm>
        </p:grpSpPr>
        <p:sp>
          <p:nvSpPr>
            <p:cNvPr name="Freeform 4" id="4"/>
            <p:cNvSpPr/>
            <p:nvPr/>
          </p:nvSpPr>
          <p:spPr>
            <a:xfrm flipH="false" flipV="false" rot="0">
              <a:off x="0" y="0"/>
              <a:ext cx="2301988" cy="646186"/>
            </a:xfrm>
            <a:custGeom>
              <a:avLst/>
              <a:gdLst/>
              <a:ahLst/>
              <a:cxnLst/>
              <a:rect r="r" b="b" t="t" l="l"/>
              <a:pathLst>
                <a:path h="646186" w="2301988">
                  <a:moveTo>
                    <a:pt x="45174" y="0"/>
                  </a:moveTo>
                  <a:lnTo>
                    <a:pt x="2256814" y="0"/>
                  </a:lnTo>
                  <a:cubicBezTo>
                    <a:pt x="2281763" y="0"/>
                    <a:pt x="2301988" y="20225"/>
                    <a:pt x="2301988" y="45174"/>
                  </a:cubicBezTo>
                  <a:lnTo>
                    <a:pt x="2301988" y="601012"/>
                  </a:lnTo>
                  <a:cubicBezTo>
                    <a:pt x="2301988" y="612992"/>
                    <a:pt x="2297229" y="624483"/>
                    <a:pt x="2288757" y="632954"/>
                  </a:cubicBezTo>
                  <a:cubicBezTo>
                    <a:pt x="2280285" y="641426"/>
                    <a:pt x="2268795" y="646186"/>
                    <a:pt x="2256814" y="646186"/>
                  </a:cubicBezTo>
                  <a:lnTo>
                    <a:pt x="45174" y="646186"/>
                  </a:lnTo>
                  <a:cubicBezTo>
                    <a:pt x="20225" y="646186"/>
                    <a:pt x="0" y="625960"/>
                    <a:pt x="0" y="601012"/>
                  </a:cubicBezTo>
                  <a:lnTo>
                    <a:pt x="0" y="45174"/>
                  </a:lnTo>
                  <a:cubicBezTo>
                    <a:pt x="0" y="20225"/>
                    <a:pt x="20225" y="0"/>
                    <a:pt x="45174" y="0"/>
                  </a:cubicBezTo>
                  <a:close/>
                </a:path>
              </a:pathLst>
            </a:custGeom>
            <a:solidFill>
              <a:srgbClr val="C6D8FB"/>
            </a:solidFill>
            <a:ln w="38100" cap="rnd">
              <a:solidFill>
                <a:srgbClr val="000000"/>
              </a:solidFill>
              <a:prstDash val="solid"/>
              <a:round/>
            </a:ln>
          </p:spPr>
        </p:sp>
        <p:sp>
          <p:nvSpPr>
            <p:cNvPr name="TextBox 5" id="5"/>
            <p:cNvSpPr txBox="true"/>
            <p:nvPr/>
          </p:nvSpPr>
          <p:spPr>
            <a:xfrm>
              <a:off x="0" y="-66675"/>
              <a:ext cx="2301988" cy="712861"/>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2682278" y="8394648"/>
            <a:ext cx="9154044" cy="863652"/>
          </a:xfrm>
          <a:prstGeom prst="rect">
            <a:avLst/>
          </a:prstGeom>
        </p:spPr>
        <p:txBody>
          <a:bodyPr anchor="t" rtlCol="false" tIns="0" lIns="0" bIns="0" rIns="0">
            <a:spAutoFit/>
          </a:bodyPr>
          <a:lstStyle/>
          <a:p>
            <a:pPr algn="l">
              <a:lnSpc>
                <a:spcPts val="6997"/>
              </a:lnSpc>
              <a:spcBef>
                <a:spcPct val="0"/>
              </a:spcBef>
            </a:pPr>
            <a:r>
              <a:rPr lang="en-US" sz="4997">
                <a:solidFill>
                  <a:srgbClr val="FFFFFF"/>
                </a:solidFill>
                <a:latin typeface="A Day Without Sun Text"/>
                <a:ea typeface="A Day Without Sun Text"/>
                <a:cs typeface="A Day Without Sun Text"/>
                <a:sym typeface="A Day Without Sun Text"/>
              </a:rPr>
              <a:t>Contar</a:t>
            </a:r>
            <a:r>
              <a:rPr lang="en-US" sz="4997">
                <a:solidFill>
                  <a:srgbClr val="FFFFFF"/>
                </a:solidFill>
                <a:latin typeface="A Day Without Sun Text"/>
                <a:ea typeface="A Day Without Sun Text"/>
                <a:cs typeface="A Day Without Sun Text"/>
                <a:sym typeface="A Day Without Sun Text"/>
              </a:rPr>
              <a:t> del 3 al 10</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690772" y="1250896"/>
            <a:ext cx="1063265" cy="106326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4BBB"/>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89189" y="-224270"/>
            <a:ext cx="4442528" cy="4867312"/>
          </a:xfrm>
          <a:custGeom>
            <a:avLst/>
            <a:gdLst/>
            <a:ahLst/>
            <a:cxnLst/>
            <a:rect r="r" b="b" t="t" l="l"/>
            <a:pathLst>
              <a:path h="4867312" w="4442528">
                <a:moveTo>
                  <a:pt x="0" y="0"/>
                </a:moveTo>
                <a:lnTo>
                  <a:pt x="4442528" y="0"/>
                </a:lnTo>
                <a:lnTo>
                  <a:pt x="4442528" y="4867312"/>
                </a:lnTo>
                <a:lnTo>
                  <a:pt x="0" y="48673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301756">
            <a:off x="-2081849" y="8823074"/>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7310127">
            <a:off x="12882178" y="-1379687"/>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4127318" y="6803185"/>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0751720" y="2496201"/>
            <a:ext cx="6751196" cy="7116890"/>
          </a:xfrm>
          <a:custGeom>
            <a:avLst/>
            <a:gdLst/>
            <a:ahLst/>
            <a:cxnLst/>
            <a:rect r="r" b="b" t="t" l="l"/>
            <a:pathLst>
              <a:path h="7116890" w="6751196">
                <a:moveTo>
                  <a:pt x="0" y="0"/>
                </a:moveTo>
                <a:lnTo>
                  <a:pt x="6751196" y="0"/>
                </a:lnTo>
                <a:lnTo>
                  <a:pt x="6751196" y="7116889"/>
                </a:lnTo>
                <a:lnTo>
                  <a:pt x="0" y="7116889"/>
                </a:lnTo>
                <a:lnTo>
                  <a:pt x="0" y="0"/>
                </a:lnTo>
                <a:close/>
              </a:path>
            </a:pathLst>
          </a:custGeom>
          <a:blipFill>
            <a:blip r:embed="rId10"/>
            <a:stretch>
              <a:fillRect l="-62434" t="-4464" r="-33340" b="0"/>
            </a:stretch>
          </a:blipFill>
        </p:spPr>
      </p:sp>
      <p:sp>
        <p:nvSpPr>
          <p:cNvPr name="TextBox 10" id="10"/>
          <p:cNvSpPr txBox="true"/>
          <p:nvPr/>
        </p:nvSpPr>
        <p:spPr>
          <a:xfrm rot="0">
            <a:off x="662628" y="3314637"/>
            <a:ext cx="9119553" cy="6900895"/>
          </a:xfrm>
          <a:prstGeom prst="rect">
            <a:avLst/>
          </a:prstGeom>
        </p:spPr>
        <p:txBody>
          <a:bodyPr anchor="t" rtlCol="false" tIns="0" lIns="0" bIns="0" rIns="0">
            <a:spAutoFit/>
          </a:bodyPr>
          <a:lstStyle/>
          <a:p>
            <a:pPr algn="l">
              <a:lnSpc>
                <a:spcPts val="4985"/>
              </a:lnSpc>
            </a:pPr>
            <a:r>
              <a:rPr lang="en-US" sz="3561" b="true">
                <a:solidFill>
                  <a:srgbClr val="000000"/>
                </a:solidFill>
                <a:latin typeface="A Day Without Sun Text Bold"/>
                <a:ea typeface="A Day Without Sun Text Bold"/>
                <a:cs typeface="A Day Without Sun Text Bold"/>
                <a:sym typeface="A Day Without Sun Text Bold"/>
              </a:rPr>
              <a:t>A Python se le conoce en el mundo del desarrollo por tener la famosa filosofía de "Batteries included" (baterías incluidas).</a:t>
            </a:r>
          </a:p>
          <a:p>
            <a:pPr algn="l">
              <a:lnSpc>
                <a:spcPts val="4985"/>
              </a:lnSpc>
            </a:pPr>
            <a:r>
              <a:rPr lang="en-US" sz="3561" b="true">
                <a:solidFill>
                  <a:srgbClr val="000000"/>
                </a:solidFill>
                <a:latin typeface="A Day Without Sun Text Bold"/>
                <a:ea typeface="A Day Without Sun Text Bold"/>
                <a:cs typeface="A Day Without Sun Text Bold"/>
                <a:sym typeface="A Day Without Sun Text Bold"/>
              </a:rPr>
              <a:t>¿Qué significa esto? Que cuando descargas e instalas Python en tu computadora, no te llevas solo el lenguaje vacío, sino que viene con una caja de herramientas gigante integrada de fábrica lista para usarse, sin necesidad de instalar nada extra con comandos como pip.</a:t>
            </a:r>
          </a:p>
          <a:p>
            <a:pPr algn="l">
              <a:lnSpc>
                <a:spcPts val="4985"/>
              </a:lnSpc>
              <a:spcBef>
                <a:spcPct val="0"/>
              </a:spcBef>
            </a:pPr>
            <a:r>
              <a:rPr lang="en-US" b="true" sz="3561">
                <a:solidFill>
                  <a:srgbClr val="000000"/>
                </a:solidFill>
                <a:latin typeface="A Day Without Sun Text Bold"/>
                <a:ea typeface="A Day Without Sun Text Bold"/>
                <a:cs typeface="A Day Without Sun Text Bold"/>
                <a:sym typeface="A Day Without Sun Text Bold"/>
              </a:rPr>
              <a:t>A estas herramientas ya preinstaladas se les llama librerías nativas (o la Librería Estándar de Python).</a:t>
            </a:r>
          </a:p>
          <a:p>
            <a:pPr algn="l">
              <a:lnSpc>
                <a:spcPts val="4985"/>
              </a:lnSpc>
              <a:spcBef>
                <a:spcPct val="0"/>
              </a:spcBef>
            </a:pPr>
          </a:p>
        </p:txBody>
      </p:sp>
      <p:sp>
        <p:nvSpPr>
          <p:cNvPr name="TextBox 11" id="11"/>
          <p:cNvSpPr txBox="true"/>
          <p:nvPr/>
        </p:nvSpPr>
        <p:spPr>
          <a:xfrm rot="0">
            <a:off x="5754037" y="1409876"/>
            <a:ext cx="5672407" cy="669103"/>
          </a:xfrm>
          <a:prstGeom prst="rect">
            <a:avLst/>
          </a:prstGeom>
        </p:spPr>
        <p:txBody>
          <a:bodyPr anchor="t" rtlCol="false" tIns="0" lIns="0" bIns="0" rIns="0">
            <a:spAutoFit/>
          </a:bodyPr>
          <a:lstStyle/>
          <a:p>
            <a:pPr algn="ctr" marL="0" indent="0" lvl="0">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LIBRERIAS NATIVAS DE PYTHON</a:t>
            </a:r>
          </a:p>
        </p:txBody>
      </p:sp>
      <p:sp>
        <p:nvSpPr>
          <p:cNvPr name="TextBox 12" id="12"/>
          <p:cNvSpPr txBox="true"/>
          <p:nvPr/>
        </p:nvSpPr>
        <p:spPr>
          <a:xfrm rot="0">
            <a:off x="4690772" y="1234206"/>
            <a:ext cx="1063265" cy="944245"/>
          </a:xfrm>
          <a:prstGeom prst="rect">
            <a:avLst/>
          </a:prstGeom>
        </p:spPr>
        <p:txBody>
          <a:bodyPr anchor="t" rtlCol="false" tIns="0" lIns="0" bIns="0" rIns="0">
            <a:spAutoFit/>
          </a:bodyPr>
          <a:lstStyle/>
          <a:p>
            <a:pPr algn="ctr">
              <a:lnSpc>
                <a:spcPts val="7279"/>
              </a:lnSpc>
            </a:pPr>
            <a:r>
              <a:rPr lang="en-US" sz="5199" b="true">
                <a:solidFill>
                  <a:srgbClr val="FFFFFF"/>
                </a:solidFill>
                <a:latin typeface="Telegraf Bold"/>
                <a:ea typeface="Telegraf Bold"/>
                <a:cs typeface="Telegraf Bold"/>
                <a:sym typeface="Telegraf Bold"/>
              </a:rPr>
              <a:t>9</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690772" y="293734"/>
            <a:ext cx="1063265" cy="106326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4BBB"/>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89189" y="-224270"/>
            <a:ext cx="4442528" cy="4867312"/>
          </a:xfrm>
          <a:custGeom>
            <a:avLst/>
            <a:gdLst/>
            <a:ahLst/>
            <a:cxnLst/>
            <a:rect r="r" b="b" t="t" l="l"/>
            <a:pathLst>
              <a:path h="4867312" w="4442528">
                <a:moveTo>
                  <a:pt x="0" y="0"/>
                </a:moveTo>
                <a:lnTo>
                  <a:pt x="4442528" y="0"/>
                </a:lnTo>
                <a:lnTo>
                  <a:pt x="4442528" y="4867312"/>
                </a:lnTo>
                <a:lnTo>
                  <a:pt x="0" y="48673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301756">
            <a:off x="-2081849" y="8823074"/>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7310127">
            <a:off x="12882178" y="-1379687"/>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4127318" y="6803185"/>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0" y="3000644"/>
            <a:ext cx="18237705" cy="7286356"/>
          </a:xfrm>
          <a:custGeom>
            <a:avLst/>
            <a:gdLst/>
            <a:ahLst/>
            <a:cxnLst/>
            <a:rect r="r" b="b" t="t" l="l"/>
            <a:pathLst>
              <a:path h="7286356" w="18237705">
                <a:moveTo>
                  <a:pt x="0" y="0"/>
                </a:moveTo>
                <a:lnTo>
                  <a:pt x="18237705" y="0"/>
                </a:lnTo>
                <a:lnTo>
                  <a:pt x="18237705" y="7286356"/>
                </a:lnTo>
                <a:lnTo>
                  <a:pt x="0" y="7286356"/>
                </a:lnTo>
                <a:lnTo>
                  <a:pt x="0" y="0"/>
                </a:lnTo>
                <a:close/>
              </a:path>
            </a:pathLst>
          </a:custGeom>
          <a:blipFill>
            <a:blip r:embed="rId10"/>
            <a:stretch>
              <a:fillRect l="0" t="0" r="0" b="0"/>
            </a:stretch>
          </a:blipFill>
        </p:spPr>
      </p:sp>
      <p:sp>
        <p:nvSpPr>
          <p:cNvPr name="TextBox 10" id="10"/>
          <p:cNvSpPr txBox="true"/>
          <p:nvPr/>
        </p:nvSpPr>
        <p:spPr>
          <a:xfrm rot="0">
            <a:off x="7575954" y="3033009"/>
            <a:ext cx="10249272" cy="2297294"/>
          </a:xfrm>
          <a:prstGeom prst="rect">
            <a:avLst/>
          </a:prstGeom>
        </p:spPr>
        <p:txBody>
          <a:bodyPr anchor="t" rtlCol="false" tIns="0" lIns="0" bIns="0" rIns="0">
            <a:spAutoFit/>
          </a:bodyPr>
          <a:lstStyle/>
          <a:p>
            <a:pPr algn="l">
              <a:lnSpc>
                <a:spcPts val="6075"/>
              </a:lnSpc>
              <a:spcBef>
                <a:spcPct val="0"/>
              </a:spcBef>
            </a:pPr>
            <a:r>
              <a:rPr lang="en-US" b="true" sz="4339">
                <a:solidFill>
                  <a:srgbClr val="000000"/>
                </a:solidFill>
                <a:latin typeface="A Day Without Sun Text Bold"/>
                <a:ea typeface="A Day Without Sun Text Bold"/>
                <a:cs typeface="A Day Without Sun Text Bold"/>
                <a:sym typeface="A Day Without Sun Text Bold"/>
              </a:rPr>
              <a:t>1. random (Para trabajar con el azar) : Ideal si estás creando juegos, sorteos o quieres mezclar elementos de forma aleatoria.</a:t>
            </a:r>
          </a:p>
        </p:txBody>
      </p:sp>
      <p:sp>
        <p:nvSpPr>
          <p:cNvPr name="TextBox 11" id="11"/>
          <p:cNvSpPr txBox="true"/>
          <p:nvPr/>
        </p:nvSpPr>
        <p:spPr>
          <a:xfrm rot="0">
            <a:off x="6032068" y="452715"/>
            <a:ext cx="5672407" cy="669103"/>
          </a:xfrm>
          <a:prstGeom prst="rect">
            <a:avLst/>
          </a:prstGeom>
        </p:spPr>
        <p:txBody>
          <a:bodyPr anchor="t" rtlCol="false" tIns="0" lIns="0" bIns="0" rIns="0">
            <a:spAutoFit/>
          </a:bodyPr>
          <a:lstStyle/>
          <a:p>
            <a:pPr algn="ctr" marL="0" indent="0" lvl="0">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LIBRERIAS NATIVAS DE PYTHON</a:t>
            </a:r>
          </a:p>
        </p:txBody>
      </p:sp>
      <p:sp>
        <p:nvSpPr>
          <p:cNvPr name="TextBox 12" id="12"/>
          <p:cNvSpPr txBox="true"/>
          <p:nvPr/>
        </p:nvSpPr>
        <p:spPr>
          <a:xfrm rot="0">
            <a:off x="4690772" y="306651"/>
            <a:ext cx="1063265" cy="944245"/>
          </a:xfrm>
          <a:prstGeom prst="rect">
            <a:avLst/>
          </a:prstGeom>
        </p:spPr>
        <p:txBody>
          <a:bodyPr anchor="t" rtlCol="false" tIns="0" lIns="0" bIns="0" rIns="0">
            <a:spAutoFit/>
          </a:bodyPr>
          <a:lstStyle/>
          <a:p>
            <a:pPr algn="ctr">
              <a:lnSpc>
                <a:spcPts val="7279"/>
              </a:lnSpc>
            </a:pPr>
            <a:r>
              <a:rPr lang="en-US" sz="5199" b="true">
                <a:solidFill>
                  <a:srgbClr val="FFFFFF"/>
                </a:solidFill>
                <a:latin typeface="Telegraf Bold"/>
                <a:ea typeface="Telegraf Bold"/>
                <a:cs typeface="Telegraf Bold"/>
                <a:sym typeface="Telegraf Bold"/>
              </a:rPr>
              <a:t>10</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690772" y="293734"/>
            <a:ext cx="1063265" cy="106326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4BBB"/>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89189" y="-224270"/>
            <a:ext cx="4442528" cy="4867312"/>
          </a:xfrm>
          <a:custGeom>
            <a:avLst/>
            <a:gdLst/>
            <a:ahLst/>
            <a:cxnLst/>
            <a:rect r="r" b="b" t="t" l="l"/>
            <a:pathLst>
              <a:path h="4867312" w="4442528">
                <a:moveTo>
                  <a:pt x="0" y="0"/>
                </a:moveTo>
                <a:lnTo>
                  <a:pt x="4442528" y="0"/>
                </a:lnTo>
                <a:lnTo>
                  <a:pt x="4442528" y="4867312"/>
                </a:lnTo>
                <a:lnTo>
                  <a:pt x="0" y="48673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301756">
            <a:off x="-2081849" y="8823074"/>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7310127">
            <a:off x="12882178" y="-1379687"/>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4127318" y="6803185"/>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0" y="4472659"/>
            <a:ext cx="12874300" cy="5838345"/>
          </a:xfrm>
          <a:custGeom>
            <a:avLst/>
            <a:gdLst/>
            <a:ahLst/>
            <a:cxnLst/>
            <a:rect r="r" b="b" t="t" l="l"/>
            <a:pathLst>
              <a:path h="5838345" w="12874300">
                <a:moveTo>
                  <a:pt x="0" y="0"/>
                </a:moveTo>
                <a:lnTo>
                  <a:pt x="12874300" y="0"/>
                </a:lnTo>
                <a:lnTo>
                  <a:pt x="12874300" y="5838346"/>
                </a:lnTo>
                <a:lnTo>
                  <a:pt x="0" y="5838346"/>
                </a:lnTo>
                <a:lnTo>
                  <a:pt x="0" y="0"/>
                </a:lnTo>
                <a:close/>
              </a:path>
            </a:pathLst>
          </a:custGeom>
          <a:blipFill>
            <a:blip r:embed="rId10"/>
            <a:stretch>
              <a:fillRect l="0" t="0" r="0" b="0"/>
            </a:stretch>
          </a:blipFill>
          <a:ln cap="sq">
            <a:noFill/>
            <a:prstDash val="solid"/>
            <a:miter/>
          </a:ln>
        </p:spPr>
      </p:sp>
      <p:sp>
        <p:nvSpPr>
          <p:cNvPr name="TextBox 10" id="10"/>
          <p:cNvSpPr txBox="true"/>
          <p:nvPr/>
        </p:nvSpPr>
        <p:spPr>
          <a:xfrm rot="0">
            <a:off x="7516376" y="2964378"/>
            <a:ext cx="10249272" cy="3838806"/>
          </a:xfrm>
          <a:prstGeom prst="rect">
            <a:avLst/>
          </a:prstGeom>
        </p:spPr>
        <p:txBody>
          <a:bodyPr anchor="t" rtlCol="false" tIns="0" lIns="0" bIns="0" rIns="0">
            <a:spAutoFit/>
          </a:bodyPr>
          <a:lstStyle/>
          <a:p>
            <a:pPr algn="l">
              <a:lnSpc>
                <a:spcPts val="6075"/>
              </a:lnSpc>
              <a:spcBef>
                <a:spcPct val="0"/>
              </a:spcBef>
            </a:pPr>
            <a:r>
              <a:rPr lang="en-US" b="true" sz="4339">
                <a:solidFill>
                  <a:srgbClr val="000000"/>
                </a:solidFill>
                <a:latin typeface="A Day Without Sun Text Bold"/>
                <a:ea typeface="A Day Without Sun Text Bold"/>
                <a:cs typeface="A Day Without Sun Text Bold"/>
                <a:sym typeface="A Day Without Sun Text Bold"/>
              </a:rPr>
              <a:t>2. datetime (Para manejar fechas y horas): Indispensable para saber qué hora es, calcular edades, registrar cuándo se creó un usuario en una base de datos o medir cuánto tarda un programa en ejecutarse.</a:t>
            </a:r>
          </a:p>
        </p:txBody>
      </p:sp>
      <p:sp>
        <p:nvSpPr>
          <p:cNvPr name="TextBox 11" id="11"/>
          <p:cNvSpPr txBox="true"/>
          <p:nvPr/>
        </p:nvSpPr>
        <p:spPr>
          <a:xfrm rot="0">
            <a:off x="6032068" y="452715"/>
            <a:ext cx="5672407" cy="669103"/>
          </a:xfrm>
          <a:prstGeom prst="rect">
            <a:avLst/>
          </a:prstGeom>
        </p:spPr>
        <p:txBody>
          <a:bodyPr anchor="t" rtlCol="false" tIns="0" lIns="0" bIns="0" rIns="0">
            <a:spAutoFit/>
          </a:bodyPr>
          <a:lstStyle/>
          <a:p>
            <a:pPr algn="ctr" marL="0" indent="0" lvl="0">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LIBRERIAS NATIVAS DE PYTHON</a:t>
            </a:r>
          </a:p>
        </p:txBody>
      </p:sp>
      <p:sp>
        <p:nvSpPr>
          <p:cNvPr name="TextBox 12" id="12"/>
          <p:cNvSpPr txBox="true"/>
          <p:nvPr/>
        </p:nvSpPr>
        <p:spPr>
          <a:xfrm rot="0">
            <a:off x="4690772" y="306651"/>
            <a:ext cx="1063265" cy="944245"/>
          </a:xfrm>
          <a:prstGeom prst="rect">
            <a:avLst/>
          </a:prstGeom>
        </p:spPr>
        <p:txBody>
          <a:bodyPr anchor="t" rtlCol="false" tIns="0" lIns="0" bIns="0" rIns="0">
            <a:spAutoFit/>
          </a:bodyPr>
          <a:lstStyle/>
          <a:p>
            <a:pPr algn="ctr">
              <a:lnSpc>
                <a:spcPts val="7279"/>
              </a:lnSpc>
            </a:pPr>
            <a:r>
              <a:rPr lang="en-US" sz="5199" b="true">
                <a:solidFill>
                  <a:srgbClr val="FFFFFF"/>
                </a:solidFill>
                <a:latin typeface="Telegraf Bold"/>
                <a:ea typeface="Telegraf Bold"/>
                <a:cs typeface="Telegraf Bold"/>
                <a:sym typeface="Telegraf Bold"/>
              </a:rPr>
              <a:t>10</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690772" y="293734"/>
            <a:ext cx="1063265" cy="106326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4BBB"/>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89189" y="-224270"/>
            <a:ext cx="4442528" cy="4867312"/>
          </a:xfrm>
          <a:custGeom>
            <a:avLst/>
            <a:gdLst/>
            <a:ahLst/>
            <a:cxnLst/>
            <a:rect r="r" b="b" t="t" l="l"/>
            <a:pathLst>
              <a:path h="4867312" w="4442528">
                <a:moveTo>
                  <a:pt x="0" y="0"/>
                </a:moveTo>
                <a:lnTo>
                  <a:pt x="4442528" y="0"/>
                </a:lnTo>
                <a:lnTo>
                  <a:pt x="4442528" y="4867312"/>
                </a:lnTo>
                <a:lnTo>
                  <a:pt x="0" y="48673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301756">
            <a:off x="-2081849" y="8823074"/>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7310127">
            <a:off x="12882178" y="-1379687"/>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4127318" y="6803185"/>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0" y="3248205"/>
            <a:ext cx="13818522" cy="7062800"/>
          </a:xfrm>
          <a:custGeom>
            <a:avLst/>
            <a:gdLst/>
            <a:ahLst/>
            <a:cxnLst/>
            <a:rect r="r" b="b" t="t" l="l"/>
            <a:pathLst>
              <a:path h="7062800" w="13818522">
                <a:moveTo>
                  <a:pt x="0" y="0"/>
                </a:moveTo>
                <a:lnTo>
                  <a:pt x="13818522" y="0"/>
                </a:lnTo>
                <a:lnTo>
                  <a:pt x="13818522" y="7062800"/>
                </a:lnTo>
                <a:lnTo>
                  <a:pt x="0" y="7062800"/>
                </a:lnTo>
                <a:lnTo>
                  <a:pt x="0" y="0"/>
                </a:lnTo>
                <a:close/>
              </a:path>
            </a:pathLst>
          </a:custGeom>
          <a:blipFill>
            <a:blip r:embed="rId10"/>
            <a:stretch>
              <a:fillRect l="0" t="0" r="0" b="0"/>
            </a:stretch>
          </a:blipFill>
        </p:spPr>
      </p:sp>
      <p:sp>
        <p:nvSpPr>
          <p:cNvPr name="TextBox 10" id="10"/>
          <p:cNvSpPr txBox="true"/>
          <p:nvPr/>
        </p:nvSpPr>
        <p:spPr>
          <a:xfrm rot="0">
            <a:off x="7595814" y="3061391"/>
            <a:ext cx="10249272" cy="3068050"/>
          </a:xfrm>
          <a:prstGeom prst="rect">
            <a:avLst/>
          </a:prstGeom>
        </p:spPr>
        <p:txBody>
          <a:bodyPr anchor="t" rtlCol="false" tIns="0" lIns="0" bIns="0" rIns="0">
            <a:spAutoFit/>
          </a:bodyPr>
          <a:lstStyle/>
          <a:p>
            <a:pPr algn="l">
              <a:lnSpc>
                <a:spcPts val="6075"/>
              </a:lnSpc>
              <a:spcBef>
                <a:spcPct val="0"/>
              </a:spcBef>
            </a:pPr>
            <a:r>
              <a:rPr lang="en-US" b="true" sz="4339">
                <a:solidFill>
                  <a:srgbClr val="000000"/>
                </a:solidFill>
                <a:latin typeface="A Day Without Sun Text Bold"/>
                <a:ea typeface="A Day Without Sun Text Bold"/>
                <a:cs typeface="A Day Without Sun Text Bold"/>
                <a:sym typeface="A Day Without Sun Text Bold"/>
              </a:rPr>
              <a:t>3. math (Para operaciones matemáticas avanzadas): Si necesitas ir más allá de la suma y la resta básica (+, -, *, /), esta librería trae funciones científicas, trigonométricas y constantes como Pi.</a:t>
            </a:r>
          </a:p>
        </p:txBody>
      </p:sp>
      <p:sp>
        <p:nvSpPr>
          <p:cNvPr name="TextBox 11" id="11"/>
          <p:cNvSpPr txBox="true"/>
          <p:nvPr/>
        </p:nvSpPr>
        <p:spPr>
          <a:xfrm rot="0">
            <a:off x="6032068" y="452715"/>
            <a:ext cx="5672407" cy="669103"/>
          </a:xfrm>
          <a:prstGeom prst="rect">
            <a:avLst/>
          </a:prstGeom>
        </p:spPr>
        <p:txBody>
          <a:bodyPr anchor="t" rtlCol="false" tIns="0" lIns="0" bIns="0" rIns="0">
            <a:spAutoFit/>
          </a:bodyPr>
          <a:lstStyle/>
          <a:p>
            <a:pPr algn="ctr" marL="0" indent="0" lvl="0">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LIBRERIAS NATIVAS DE PYTHON</a:t>
            </a:r>
          </a:p>
        </p:txBody>
      </p:sp>
      <p:sp>
        <p:nvSpPr>
          <p:cNvPr name="TextBox 12" id="12"/>
          <p:cNvSpPr txBox="true"/>
          <p:nvPr/>
        </p:nvSpPr>
        <p:spPr>
          <a:xfrm rot="0">
            <a:off x="4690772" y="306651"/>
            <a:ext cx="1063265" cy="944245"/>
          </a:xfrm>
          <a:prstGeom prst="rect">
            <a:avLst/>
          </a:prstGeom>
        </p:spPr>
        <p:txBody>
          <a:bodyPr anchor="t" rtlCol="false" tIns="0" lIns="0" bIns="0" rIns="0">
            <a:spAutoFit/>
          </a:bodyPr>
          <a:lstStyle/>
          <a:p>
            <a:pPr algn="ctr">
              <a:lnSpc>
                <a:spcPts val="7279"/>
              </a:lnSpc>
            </a:pPr>
            <a:r>
              <a:rPr lang="en-US" sz="5199" b="true">
                <a:solidFill>
                  <a:srgbClr val="FFFFFF"/>
                </a:solidFill>
                <a:latin typeface="Telegraf Bold"/>
                <a:ea typeface="Telegraf Bold"/>
                <a:cs typeface="Telegraf Bold"/>
                <a:sym typeface="Telegraf Bold"/>
              </a:rPr>
              <a:t>10</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528990" y="4080310"/>
            <a:ext cx="13230019" cy="1888256"/>
          </a:xfrm>
          <a:prstGeom prst="rect">
            <a:avLst/>
          </a:prstGeom>
        </p:spPr>
        <p:txBody>
          <a:bodyPr anchor="t" rtlCol="false" tIns="0" lIns="0" bIns="0" rIns="0">
            <a:spAutoFit/>
          </a:bodyPr>
          <a:lstStyle/>
          <a:p>
            <a:pPr algn="ctr">
              <a:lnSpc>
                <a:spcPts val="15207"/>
              </a:lnSpc>
            </a:pPr>
            <a:r>
              <a:rPr lang="en-US" sz="10862">
                <a:solidFill>
                  <a:srgbClr val="3B4BBB"/>
                </a:solidFill>
                <a:latin typeface="A Day Without Sun Text"/>
                <a:ea typeface="A Day Without Sun Text"/>
                <a:cs typeface="A Day Without Sun Text"/>
                <a:sym typeface="A Day Without Sun Text"/>
              </a:rPr>
              <a:t>¿QUE APRENDIMOS HOY?</a:t>
            </a:r>
          </a:p>
        </p:txBody>
      </p:sp>
      <p:sp>
        <p:nvSpPr>
          <p:cNvPr name="Freeform 3" id="3"/>
          <p:cNvSpPr/>
          <p:nvPr/>
        </p:nvSpPr>
        <p:spPr>
          <a:xfrm flipH="false" flipV="false" rot="0">
            <a:off x="-134651" y="-180143"/>
            <a:ext cx="5168775" cy="5663001"/>
          </a:xfrm>
          <a:custGeom>
            <a:avLst/>
            <a:gdLst/>
            <a:ahLst/>
            <a:cxnLst/>
            <a:rect r="r" b="b" t="t" l="l"/>
            <a:pathLst>
              <a:path h="5663001" w="5168775">
                <a:moveTo>
                  <a:pt x="0" y="0"/>
                </a:moveTo>
                <a:lnTo>
                  <a:pt x="5168775" y="0"/>
                </a:lnTo>
                <a:lnTo>
                  <a:pt x="5168775" y="5663000"/>
                </a:lnTo>
                <a:lnTo>
                  <a:pt x="0" y="5663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127318" y="6803185"/>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6803185"/>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3166785" y="-485379"/>
            <a:ext cx="5121215" cy="3771077"/>
          </a:xfrm>
          <a:custGeom>
            <a:avLst/>
            <a:gdLst/>
            <a:ahLst/>
            <a:cxnLst/>
            <a:rect r="r" b="b" t="t" l="l"/>
            <a:pathLst>
              <a:path h="3771077" w="5121215">
                <a:moveTo>
                  <a:pt x="0" y="0"/>
                </a:moveTo>
                <a:lnTo>
                  <a:pt x="5121215" y="0"/>
                </a:lnTo>
                <a:lnTo>
                  <a:pt x="5121215" y="3771076"/>
                </a:lnTo>
                <a:lnTo>
                  <a:pt x="0" y="377107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10266217">
            <a:off x="5556980" y="-1060729"/>
            <a:ext cx="7315200" cy="3165487"/>
          </a:xfrm>
          <a:custGeom>
            <a:avLst/>
            <a:gdLst/>
            <a:ahLst/>
            <a:cxnLst/>
            <a:rect r="r" b="b" t="t" l="l"/>
            <a:pathLst>
              <a:path h="3165487" w="7315200">
                <a:moveTo>
                  <a:pt x="0" y="0"/>
                </a:moveTo>
                <a:lnTo>
                  <a:pt x="7315200" y="0"/>
                </a:lnTo>
                <a:lnTo>
                  <a:pt x="7315200" y="3165487"/>
                </a:lnTo>
                <a:lnTo>
                  <a:pt x="0" y="316548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1005739">
            <a:off x="6416724" y="7692852"/>
            <a:ext cx="6775868" cy="4114800"/>
          </a:xfrm>
          <a:custGeom>
            <a:avLst/>
            <a:gdLst/>
            <a:ahLst/>
            <a:cxnLst/>
            <a:rect r="r" b="b" t="t" l="l"/>
            <a:pathLst>
              <a:path h="4114800" w="6775868">
                <a:moveTo>
                  <a:pt x="0" y="0"/>
                </a:moveTo>
                <a:lnTo>
                  <a:pt x="6775868" y="0"/>
                </a:lnTo>
                <a:lnTo>
                  <a:pt x="6775868"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DAHRelsAkt4</dc:identifier>
  <dcterms:modified xsi:type="dcterms:W3CDTF">2011-08-01T06:04:30Z</dcterms:modified>
  <cp:revision>1</cp:revision>
  <dc:title>Copia de Presentacion de Proyecto Trabajo Plan de Marketing Creativo Organico Moderno Azul </dc:title>
</cp:coreProperties>
</file>