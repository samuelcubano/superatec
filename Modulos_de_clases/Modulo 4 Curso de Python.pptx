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Pompiere" charset="1" panose="02000000000000000000"/>
      <p:regular r:id="rId35"/>
    </p:embeddedFont>
    <p:embeddedFont>
      <p:font typeface="A Day Without Sun Text Bold" charset="1" panose="02000506000000090004"/>
      <p:regular r:id="rId36"/>
    </p:embeddedFont>
    <p:embeddedFont>
      <p:font typeface="A Day Without Sun Text" charset="1" panose="02000506000000090004"/>
      <p:regular r:id="rId37"/>
    </p:embeddedFont>
    <p:embeddedFont>
      <p:font typeface="Telegraf Bold" charset="1" panose="00000800000000000000"/>
      <p:regular r:id="rId38"/>
    </p:embeddedFont>
    <p:embeddedFont>
      <p:font typeface="A Day Without Sun Text Italics" charset="1" panose="020005060000000900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https://git-scm.com" TargetMode="External" Type="http://schemas.openxmlformats.org/officeDocument/2006/relationships/hyperlink"/><Relationship Id="rId11" Target="../media/image16.png" Type="http://schemas.openxmlformats.org/officeDocument/2006/relationships/image"/><Relationship Id="rId12" Target="../media/image2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https://github.com" TargetMode="External" Type="http://schemas.openxmlformats.org/officeDocument/2006/relationships/hyperlink"/><Relationship Id="rId7"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https://github.com" TargetMode="External" Type="http://schemas.openxmlformats.org/officeDocument/2006/relationships/hyperlink"/><Relationship Id="rId5" Target="../media/image18.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803185"/>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66785" y="-81427"/>
            <a:ext cx="5121215" cy="3771077"/>
          </a:xfrm>
          <a:custGeom>
            <a:avLst/>
            <a:gdLst/>
            <a:ahLst/>
            <a:cxnLst/>
            <a:rect r="r" b="b" t="t" l="l"/>
            <a:pathLst>
              <a:path h="3771077" w="5121215">
                <a:moveTo>
                  <a:pt x="0" y="0"/>
                </a:moveTo>
                <a:lnTo>
                  <a:pt x="5121215" y="0"/>
                </a:lnTo>
                <a:lnTo>
                  <a:pt x="5121215" y="3771077"/>
                </a:lnTo>
                <a:lnTo>
                  <a:pt x="0" y="37710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266217">
            <a:off x="5556980" y="-1060729"/>
            <a:ext cx="7315200" cy="3165487"/>
          </a:xfrm>
          <a:custGeom>
            <a:avLst/>
            <a:gdLst/>
            <a:ahLst/>
            <a:cxnLst/>
            <a:rect r="r" b="b" t="t" l="l"/>
            <a:pathLst>
              <a:path h="3165487" w="7315200">
                <a:moveTo>
                  <a:pt x="0" y="0"/>
                </a:moveTo>
                <a:lnTo>
                  <a:pt x="7315200" y="0"/>
                </a:lnTo>
                <a:lnTo>
                  <a:pt x="7315200" y="3165487"/>
                </a:lnTo>
                <a:lnTo>
                  <a:pt x="0" y="3165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005739">
            <a:off x="6416724" y="7692852"/>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5208943" y="1730718"/>
            <a:ext cx="7870114" cy="3002419"/>
          </a:xfrm>
          <a:prstGeom prst="rect">
            <a:avLst/>
          </a:prstGeom>
        </p:spPr>
        <p:txBody>
          <a:bodyPr anchor="t" rtlCol="false" tIns="0" lIns="0" bIns="0" rIns="0">
            <a:spAutoFit/>
          </a:bodyPr>
          <a:lstStyle/>
          <a:p>
            <a:pPr algn="ctr">
              <a:lnSpc>
                <a:spcPts val="24510"/>
              </a:lnSpc>
            </a:pPr>
            <a:r>
              <a:rPr lang="en-US" sz="17507">
                <a:solidFill>
                  <a:srgbClr val="000000"/>
                </a:solidFill>
                <a:latin typeface="Pompiere"/>
                <a:ea typeface="Pompiere"/>
                <a:cs typeface="Pompiere"/>
                <a:sym typeface="Pompiere"/>
              </a:rPr>
              <a:t>CURSO  DE</a:t>
            </a:r>
          </a:p>
        </p:txBody>
      </p:sp>
      <p:sp>
        <p:nvSpPr>
          <p:cNvPr name="TextBox 9" id="9"/>
          <p:cNvSpPr txBox="true"/>
          <p:nvPr/>
        </p:nvSpPr>
        <p:spPr>
          <a:xfrm rot="0">
            <a:off x="4332481" y="3015679"/>
            <a:ext cx="9623038" cy="4645348"/>
          </a:xfrm>
          <a:prstGeom prst="rect">
            <a:avLst/>
          </a:prstGeom>
        </p:spPr>
        <p:txBody>
          <a:bodyPr anchor="t" rtlCol="false" tIns="0" lIns="0" bIns="0" rIns="0">
            <a:spAutoFit/>
          </a:bodyPr>
          <a:lstStyle/>
          <a:p>
            <a:pPr algn="ctr">
              <a:lnSpc>
                <a:spcPts val="37564"/>
              </a:lnSpc>
            </a:pPr>
            <a:r>
              <a:rPr lang="en-US" b="true" sz="26831">
                <a:solidFill>
                  <a:srgbClr val="000000"/>
                </a:solidFill>
                <a:latin typeface="A Day Without Sun Text Bold"/>
                <a:ea typeface="A Day Without Sun Text Bold"/>
                <a:cs typeface="A Day Without Sun Text Bold"/>
                <a:sym typeface="A Day Without Sun Text Bold"/>
              </a:rPr>
              <a:t>PYTHON</a:t>
            </a:r>
          </a:p>
        </p:txBody>
      </p:sp>
      <p:sp>
        <p:nvSpPr>
          <p:cNvPr name="Freeform 10" id="10"/>
          <p:cNvSpPr/>
          <p:nvPr/>
        </p:nvSpPr>
        <p:spPr>
          <a:xfrm flipH="false" flipV="false" rot="0">
            <a:off x="13167398" y="5624103"/>
            <a:ext cx="5120602" cy="5120602"/>
          </a:xfrm>
          <a:custGeom>
            <a:avLst/>
            <a:gdLst/>
            <a:ahLst/>
            <a:cxnLst/>
            <a:rect r="r" b="b" t="t" l="l"/>
            <a:pathLst>
              <a:path h="5120602" w="5120602">
                <a:moveTo>
                  <a:pt x="0" y="0"/>
                </a:moveTo>
                <a:lnTo>
                  <a:pt x="5120602" y="0"/>
                </a:lnTo>
                <a:lnTo>
                  <a:pt x="5120602" y="5120602"/>
                </a:lnTo>
                <a:lnTo>
                  <a:pt x="0" y="5120602"/>
                </a:lnTo>
                <a:lnTo>
                  <a:pt x="0" y="0"/>
                </a:lnTo>
                <a:close/>
              </a:path>
            </a:pathLst>
          </a:custGeom>
          <a:blipFill>
            <a:blip r:embed="rId14"/>
            <a:stretch>
              <a:fillRect l="0" t="0" r="0" b="0"/>
            </a:stretch>
          </a:blipFill>
        </p:spPr>
      </p:sp>
      <p:sp>
        <p:nvSpPr>
          <p:cNvPr name="TextBox 11" id="11"/>
          <p:cNvSpPr txBox="true"/>
          <p:nvPr/>
        </p:nvSpPr>
        <p:spPr>
          <a:xfrm rot="0">
            <a:off x="8128992" y="6958479"/>
            <a:ext cx="2030016" cy="712832"/>
          </a:xfrm>
          <a:prstGeom prst="rect">
            <a:avLst/>
          </a:prstGeom>
        </p:spPr>
        <p:txBody>
          <a:bodyPr anchor="t" rtlCol="false" tIns="0" lIns="0" bIns="0" rIns="0">
            <a:spAutoFit/>
          </a:bodyPr>
          <a:lstStyle/>
          <a:p>
            <a:pPr algn="ctr">
              <a:lnSpc>
                <a:spcPts val="5860"/>
              </a:lnSpc>
            </a:pPr>
            <a:r>
              <a:rPr lang="en-US" sz="4185">
                <a:solidFill>
                  <a:srgbClr val="000000"/>
                </a:solidFill>
                <a:latin typeface="Pompiere"/>
                <a:ea typeface="Pompiere"/>
                <a:cs typeface="Pompiere"/>
                <a:sym typeface="Pompiere"/>
              </a:rPr>
              <a:t>SUPERATEC</a:t>
            </a:r>
          </a:p>
        </p:txBody>
      </p:sp>
      <p:sp>
        <p:nvSpPr>
          <p:cNvPr name="TextBox 12" id="12"/>
          <p:cNvSpPr txBox="true"/>
          <p:nvPr/>
        </p:nvSpPr>
        <p:spPr>
          <a:xfrm rot="0">
            <a:off x="8528696" y="1727912"/>
            <a:ext cx="1230607" cy="576493"/>
          </a:xfrm>
          <a:prstGeom prst="rect">
            <a:avLst/>
          </a:prstGeom>
        </p:spPr>
        <p:txBody>
          <a:bodyPr anchor="t" rtlCol="false" tIns="0" lIns="0" bIns="0" rIns="0">
            <a:spAutoFit/>
          </a:bodyPr>
          <a:lstStyle/>
          <a:p>
            <a:pPr algn="ctr">
              <a:lnSpc>
                <a:spcPts val="4605"/>
              </a:lnSpc>
            </a:pPr>
            <a:r>
              <a:rPr lang="en-US" sz="3289">
                <a:solidFill>
                  <a:srgbClr val="000000"/>
                </a:solidFill>
                <a:latin typeface="Pompiere"/>
                <a:ea typeface="Pompiere"/>
                <a:cs typeface="Pompiere"/>
                <a:sym typeface="Pompiere"/>
              </a:rPr>
              <a:t>CLASE IV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1263284" y="-2460977"/>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293774" y="1269524"/>
            <a:ext cx="6571651"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RESUMEN</a:t>
            </a:r>
            <a:r>
              <a:rPr lang="en-US" b="true" sz="5000">
                <a:solidFill>
                  <a:srgbClr val="000000"/>
                </a:solidFill>
                <a:latin typeface="A Day Without Sun Text Bold"/>
                <a:ea typeface="A Day Without Sun Text Bold"/>
                <a:cs typeface="A Day Without Sun Text Bold"/>
                <a:sym typeface="A Day Without Sun Text Bold"/>
              </a:rPr>
              <a:t> DE CLASE ANTERIOR</a:t>
            </a:r>
          </a:p>
        </p:txBody>
      </p:sp>
      <p:sp>
        <p:nvSpPr>
          <p:cNvPr name="TextBox 7" id="7"/>
          <p:cNvSpPr txBox="true"/>
          <p:nvPr/>
        </p:nvSpPr>
        <p:spPr>
          <a:xfrm rot="0">
            <a:off x="2825865" y="2791614"/>
            <a:ext cx="10522467" cy="5993360"/>
          </a:xfrm>
          <a:prstGeom prst="rect">
            <a:avLst/>
          </a:prstGeom>
        </p:spPr>
        <p:txBody>
          <a:bodyPr anchor="t" rtlCol="false" tIns="0" lIns="0" bIns="0" rIns="0">
            <a:spAutoFit/>
          </a:bodyPr>
          <a:lstStyle/>
          <a:p>
            <a:pPr algn="l">
              <a:lnSpc>
                <a:spcPts val="7976"/>
              </a:lnSpc>
            </a:pPr>
            <a:r>
              <a:rPr lang="en-US" sz="5697">
                <a:solidFill>
                  <a:srgbClr val="000000"/>
                </a:solidFill>
                <a:latin typeface="A Day Without Sun Text"/>
                <a:ea typeface="A Day Without Sun Text"/>
                <a:cs typeface="A Day Without Sun Text"/>
                <a:sym typeface="A Day Without Sun Text"/>
              </a:rPr>
              <a:t>1- Como se comunica el front-end con el back-end.</a:t>
            </a:r>
          </a:p>
          <a:p>
            <a:pPr algn="l">
              <a:lnSpc>
                <a:spcPts val="7976"/>
              </a:lnSpc>
            </a:pPr>
            <a:r>
              <a:rPr lang="en-US" sz="5697">
                <a:solidFill>
                  <a:srgbClr val="000000"/>
                </a:solidFill>
                <a:latin typeface="A Day Without Sun Text"/>
                <a:ea typeface="A Day Without Sun Text"/>
                <a:cs typeface="A Day Without Sun Text"/>
                <a:sym typeface="A Day Without Sun Text"/>
              </a:rPr>
              <a:t>2- APIs</a:t>
            </a:r>
          </a:p>
          <a:p>
            <a:pPr algn="l">
              <a:lnSpc>
                <a:spcPts val="7976"/>
              </a:lnSpc>
            </a:pPr>
            <a:r>
              <a:rPr lang="en-US" sz="5697">
                <a:solidFill>
                  <a:srgbClr val="000000"/>
                </a:solidFill>
                <a:latin typeface="A Day Without Sun Text"/>
                <a:ea typeface="A Day Without Sun Text"/>
                <a:cs typeface="A Day Without Sun Text"/>
                <a:sym typeface="A Day Without Sun Text"/>
              </a:rPr>
              <a:t>3- Bucle While</a:t>
            </a:r>
          </a:p>
          <a:p>
            <a:pPr algn="l">
              <a:lnSpc>
                <a:spcPts val="7976"/>
              </a:lnSpc>
            </a:pPr>
            <a:r>
              <a:rPr lang="en-US" sz="5697">
                <a:solidFill>
                  <a:srgbClr val="000000"/>
                </a:solidFill>
                <a:latin typeface="A Day Without Sun Text"/>
                <a:ea typeface="A Day Without Sun Text"/>
                <a:cs typeface="A Day Without Sun Text"/>
                <a:sym typeface="A Day Without Sun Text"/>
              </a:rPr>
              <a:t>4- Bucle For</a:t>
            </a:r>
          </a:p>
          <a:p>
            <a:pPr algn="l">
              <a:lnSpc>
                <a:spcPts val="7976"/>
              </a:lnSpc>
              <a:spcBef>
                <a:spcPct val="0"/>
              </a:spcBef>
            </a:pPr>
            <a:r>
              <a:rPr lang="en-US" sz="5697">
                <a:solidFill>
                  <a:srgbClr val="000000"/>
                </a:solidFill>
                <a:latin typeface="A Day Without Sun Text"/>
                <a:ea typeface="A Day Without Sun Text"/>
                <a:cs typeface="A Day Without Sun Text"/>
                <a:sym typeface="A Day Without Sun Text"/>
              </a:rPr>
              <a:t>5- Uso de librerias nativas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54959" y="2801949"/>
            <a:ext cx="10160820" cy="1922998"/>
          </a:xfrm>
          <a:prstGeom prst="rect">
            <a:avLst/>
          </a:prstGeom>
        </p:spPr>
        <p:txBody>
          <a:bodyPr anchor="t" rtlCol="false" tIns="0" lIns="0" bIns="0" rIns="0">
            <a:spAutoFit/>
          </a:bodyPr>
          <a:lstStyle/>
          <a:p>
            <a:pPr algn="l">
              <a:lnSpc>
                <a:spcPts val="7702"/>
              </a:lnSpc>
              <a:spcBef>
                <a:spcPct val="0"/>
              </a:spcBef>
            </a:pPr>
            <a:r>
              <a:rPr lang="en-US" sz="5501">
                <a:solidFill>
                  <a:srgbClr val="000000"/>
                </a:solidFill>
                <a:latin typeface="A Day Without Sun Text"/>
                <a:ea typeface="A Day Without Sun Text"/>
                <a:cs typeface="A Day Without Sun Text"/>
                <a:sym typeface="A Day Without Sun Text"/>
              </a:rPr>
              <a:t>Explique el funcionamiento de los bucles con un ejemplo en un entorno laboral real</a:t>
            </a:r>
          </a:p>
        </p:txBody>
      </p:sp>
      <p:sp>
        <p:nvSpPr>
          <p:cNvPr name="Freeform 4" id="4"/>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310127">
            <a:off x="11256058" y="-1370536"/>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37268" y="1269524"/>
            <a:ext cx="6284664"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REPASO DE CLASE ANTERIOR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62516" y="2260978"/>
            <a:ext cx="13660248" cy="5993360"/>
          </a:xfrm>
          <a:prstGeom prst="rect">
            <a:avLst/>
          </a:prstGeom>
        </p:spPr>
        <p:txBody>
          <a:bodyPr anchor="t" rtlCol="false" tIns="0" lIns="0" bIns="0" rIns="0">
            <a:spAutoFit/>
          </a:bodyPr>
          <a:lstStyle/>
          <a:p>
            <a:pPr algn="l">
              <a:lnSpc>
                <a:spcPts val="7976"/>
              </a:lnSpc>
            </a:pPr>
            <a:r>
              <a:rPr lang="en-US" sz="5697">
                <a:solidFill>
                  <a:srgbClr val="000000"/>
                </a:solidFill>
                <a:latin typeface="A Day Without Sun Text"/>
                <a:ea typeface="A Day Without Sun Text"/>
                <a:cs typeface="A Day Without Sun Text"/>
                <a:sym typeface="A Day Without Sun Text"/>
              </a:rPr>
              <a:t>1- ¿Qué es Git?</a:t>
            </a:r>
          </a:p>
          <a:p>
            <a:pPr algn="l">
              <a:lnSpc>
                <a:spcPts val="7976"/>
              </a:lnSpc>
            </a:pPr>
            <a:r>
              <a:rPr lang="en-US" sz="5697">
                <a:solidFill>
                  <a:srgbClr val="000000"/>
                </a:solidFill>
                <a:latin typeface="A Day Without Sun Text"/>
                <a:ea typeface="A Day Without Sun Text"/>
                <a:cs typeface="A Day Without Sun Text"/>
                <a:sym typeface="A Day Without Sun Text"/>
              </a:rPr>
              <a:t>2- ¿Qué es Github?</a:t>
            </a:r>
          </a:p>
          <a:p>
            <a:pPr algn="l">
              <a:lnSpc>
                <a:spcPts val="7976"/>
              </a:lnSpc>
            </a:pPr>
            <a:r>
              <a:rPr lang="en-US" sz="5697">
                <a:solidFill>
                  <a:srgbClr val="000000"/>
                </a:solidFill>
                <a:latin typeface="A Day Without Sun Text"/>
                <a:ea typeface="A Day Without Sun Text"/>
                <a:cs typeface="A Day Without Sun Text"/>
                <a:sym typeface="A Day Without Sun Text"/>
              </a:rPr>
              <a:t>3- Listas [ ] e índices</a:t>
            </a:r>
          </a:p>
          <a:p>
            <a:pPr algn="l">
              <a:lnSpc>
                <a:spcPts val="7976"/>
              </a:lnSpc>
            </a:pPr>
            <a:r>
              <a:rPr lang="en-US" sz="5697">
                <a:solidFill>
                  <a:srgbClr val="000000"/>
                </a:solidFill>
                <a:latin typeface="A Day Without Sun Text"/>
                <a:ea typeface="A Day Without Sun Text"/>
                <a:cs typeface="A Day Without Sun Text"/>
                <a:sym typeface="A Day Without Sun Text"/>
              </a:rPr>
              <a:t>4- Métodos principales de las listas ( append, pop, len)</a:t>
            </a:r>
          </a:p>
          <a:p>
            <a:pPr algn="l">
              <a:lnSpc>
                <a:spcPts val="7976"/>
              </a:lnSpc>
              <a:spcBef>
                <a:spcPct val="0"/>
              </a:spcBef>
            </a:pPr>
            <a:r>
              <a:rPr lang="en-US" sz="5697">
                <a:solidFill>
                  <a:srgbClr val="000000"/>
                </a:solidFill>
                <a:latin typeface="A Day Without Sun Text"/>
                <a:ea typeface="A Day Without Sun Text"/>
                <a:cs typeface="A Day Without Sun Text"/>
                <a:sym typeface="A Day Without Sun Text"/>
              </a:rPr>
              <a:t>5- Introducción a Git y Github ( Repositorios, git add, git commit y git push ) &lt;---- Alojamiento</a:t>
            </a:r>
          </a:p>
        </p:txBody>
      </p:sp>
      <p:sp>
        <p:nvSpPr>
          <p:cNvPr name="Freeform 4" id="4"/>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310127">
            <a:off x="11256058" y="-1370536"/>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499702" y="1269524"/>
            <a:ext cx="8159797"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PUNTOS A TRATAR EN EL DIA DE HOY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63774" y="40624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2037623" y="6060849"/>
            <a:ext cx="4226151" cy="4226151"/>
          </a:xfrm>
          <a:custGeom>
            <a:avLst/>
            <a:gdLst/>
            <a:ahLst/>
            <a:cxnLst/>
            <a:rect r="r" b="b" t="t" l="l"/>
            <a:pathLst>
              <a:path h="4226151" w="4226151">
                <a:moveTo>
                  <a:pt x="0" y="0"/>
                </a:moveTo>
                <a:lnTo>
                  <a:pt x="4226151" y="0"/>
                </a:lnTo>
                <a:lnTo>
                  <a:pt x="4226151" y="4226151"/>
                </a:lnTo>
                <a:lnTo>
                  <a:pt x="0" y="4226151"/>
                </a:lnTo>
                <a:lnTo>
                  <a:pt x="0" y="0"/>
                </a:lnTo>
                <a:close/>
              </a:path>
            </a:pathLst>
          </a:custGeom>
          <a:blipFill>
            <a:blip r:embed="rId10"/>
            <a:stretch>
              <a:fillRect l="0" t="0" r="0" b="0"/>
            </a:stretch>
          </a:blipFill>
        </p:spPr>
      </p:sp>
      <p:sp>
        <p:nvSpPr>
          <p:cNvPr name="Freeform 10" id="10"/>
          <p:cNvSpPr/>
          <p:nvPr/>
        </p:nvSpPr>
        <p:spPr>
          <a:xfrm flipH="false" flipV="false" rot="0">
            <a:off x="6604376" y="4678320"/>
            <a:ext cx="9872734" cy="5652140"/>
          </a:xfrm>
          <a:custGeom>
            <a:avLst/>
            <a:gdLst/>
            <a:ahLst/>
            <a:cxnLst/>
            <a:rect r="r" b="b" t="t" l="l"/>
            <a:pathLst>
              <a:path h="5652140" w="9872734">
                <a:moveTo>
                  <a:pt x="0" y="0"/>
                </a:moveTo>
                <a:lnTo>
                  <a:pt x="9872734" y="0"/>
                </a:lnTo>
                <a:lnTo>
                  <a:pt x="9872734" y="5652140"/>
                </a:lnTo>
                <a:lnTo>
                  <a:pt x="0" y="5652140"/>
                </a:lnTo>
                <a:lnTo>
                  <a:pt x="0" y="0"/>
                </a:lnTo>
                <a:close/>
              </a:path>
            </a:pathLst>
          </a:custGeom>
          <a:blipFill>
            <a:blip r:embed="rId11"/>
            <a:stretch>
              <a:fillRect l="0" t="0" r="0" b="0"/>
            </a:stretch>
          </a:blipFill>
        </p:spPr>
      </p:sp>
      <p:sp>
        <p:nvSpPr>
          <p:cNvPr name="TextBox 11" id="11"/>
          <p:cNvSpPr txBox="true"/>
          <p:nvPr/>
        </p:nvSpPr>
        <p:spPr>
          <a:xfrm rot="0">
            <a:off x="7327039" y="427654"/>
            <a:ext cx="3452985"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¿QUÉ ES GIT?</a:t>
            </a:r>
          </a:p>
        </p:txBody>
      </p:sp>
      <p:sp>
        <p:nvSpPr>
          <p:cNvPr name="TextBox 12" id="12"/>
          <p:cNvSpPr txBox="true"/>
          <p:nvPr/>
        </p:nvSpPr>
        <p:spPr>
          <a:xfrm rot="0">
            <a:off x="6263774" y="38955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a:t>
            </a:r>
          </a:p>
        </p:txBody>
      </p:sp>
      <p:sp>
        <p:nvSpPr>
          <p:cNvPr name="TextBox 13" id="13"/>
          <p:cNvSpPr txBox="true"/>
          <p:nvPr/>
        </p:nvSpPr>
        <p:spPr>
          <a:xfrm rot="0">
            <a:off x="1756124" y="2080670"/>
            <a:ext cx="14212754" cy="3980180"/>
          </a:xfrm>
          <a:prstGeom prst="rect">
            <a:avLst/>
          </a:prstGeom>
        </p:spPr>
        <p:txBody>
          <a:bodyPr anchor="t" rtlCol="false" tIns="0" lIns="0" bIns="0" rIns="0">
            <a:spAutoFit/>
          </a:bodyPr>
          <a:lstStyle/>
          <a:p>
            <a:pPr algn="ctr" marL="0" indent="0" lvl="0">
              <a:lnSpc>
                <a:spcPts val="5320"/>
              </a:lnSpc>
              <a:spcBef>
                <a:spcPct val="0"/>
              </a:spcBef>
            </a:pPr>
            <a:r>
              <a:rPr lang="en-US" sz="3800">
                <a:solidFill>
                  <a:srgbClr val="000000"/>
                </a:solidFill>
                <a:latin typeface="A Day Without Sun Text"/>
                <a:ea typeface="A Day Without Sun Text"/>
                <a:cs typeface="A Day Without Sun Text"/>
                <a:sym typeface="A Day Without Sun Text"/>
              </a:rPr>
              <a:t>GIT ES EL SISTEMA DE CONTROL DE VERSIONES QUE FUNCIONA COMO UNA MÁQUINA DEL TIEMPO PARA TU CÓDIGO, PERMITIÉNDOTE GUARDAR PUNTOS DE CONTROL (COMMITS) Y VOLVER ATRÁS SI ALGO SE ROMPE, MIENTRAS QUE GITHUB ES LA PLATAFORMA EN LA NUBE DONDE SUBES ESE HISTORIAL PARA RESPALDARLO, MOSTRAR TUS PROYECTOS AL MUNDO Y COLABORAR CON OTROS DESARROLLADORES SIN PISARSE EL TRABAJO.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63774" y="40624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28700" y="5285110"/>
            <a:ext cx="5001890" cy="5001890"/>
          </a:xfrm>
          <a:custGeom>
            <a:avLst/>
            <a:gdLst/>
            <a:ahLst/>
            <a:cxnLst/>
            <a:rect r="r" b="b" t="t" l="l"/>
            <a:pathLst>
              <a:path h="5001890" w="5001890">
                <a:moveTo>
                  <a:pt x="0" y="0"/>
                </a:moveTo>
                <a:lnTo>
                  <a:pt x="5001890" y="0"/>
                </a:lnTo>
                <a:lnTo>
                  <a:pt x="5001890" y="5001890"/>
                </a:lnTo>
                <a:lnTo>
                  <a:pt x="0" y="5001890"/>
                </a:lnTo>
                <a:lnTo>
                  <a:pt x="0" y="0"/>
                </a:lnTo>
                <a:close/>
              </a:path>
            </a:pathLst>
          </a:custGeom>
          <a:blipFill>
            <a:blip r:embed="rId10"/>
            <a:stretch>
              <a:fillRect l="0" t="0" r="0" b="0"/>
            </a:stretch>
          </a:blipFill>
        </p:spPr>
      </p:sp>
      <p:sp>
        <p:nvSpPr>
          <p:cNvPr name="Freeform 10" id="10"/>
          <p:cNvSpPr/>
          <p:nvPr/>
        </p:nvSpPr>
        <p:spPr>
          <a:xfrm flipH="false" flipV="false" rot="1520758">
            <a:off x="12551929" y="4786671"/>
            <a:ext cx="6094741" cy="6094741"/>
          </a:xfrm>
          <a:custGeom>
            <a:avLst/>
            <a:gdLst/>
            <a:ahLst/>
            <a:cxnLst/>
            <a:rect r="r" b="b" t="t" l="l"/>
            <a:pathLst>
              <a:path h="6094741" w="6094741">
                <a:moveTo>
                  <a:pt x="0" y="0"/>
                </a:moveTo>
                <a:lnTo>
                  <a:pt x="6094741" y="0"/>
                </a:lnTo>
                <a:lnTo>
                  <a:pt x="6094741" y="6094741"/>
                </a:lnTo>
                <a:lnTo>
                  <a:pt x="0" y="6094741"/>
                </a:lnTo>
                <a:lnTo>
                  <a:pt x="0" y="0"/>
                </a:lnTo>
                <a:close/>
              </a:path>
            </a:pathLst>
          </a:custGeom>
          <a:blipFill>
            <a:blip r:embed="rId11"/>
            <a:stretch>
              <a:fillRect l="0" t="0" r="0" b="0"/>
            </a:stretch>
          </a:blipFill>
        </p:spPr>
      </p:sp>
      <p:sp>
        <p:nvSpPr>
          <p:cNvPr name="Freeform 11" id="11"/>
          <p:cNvSpPr/>
          <p:nvPr/>
        </p:nvSpPr>
        <p:spPr>
          <a:xfrm flipH="false" flipV="false" rot="0">
            <a:off x="5447234" y="5710013"/>
            <a:ext cx="8768939" cy="4384469"/>
          </a:xfrm>
          <a:custGeom>
            <a:avLst/>
            <a:gdLst/>
            <a:ahLst/>
            <a:cxnLst/>
            <a:rect r="r" b="b" t="t" l="l"/>
            <a:pathLst>
              <a:path h="4384469" w="8768939">
                <a:moveTo>
                  <a:pt x="0" y="0"/>
                </a:moveTo>
                <a:lnTo>
                  <a:pt x="8768938" y="0"/>
                </a:lnTo>
                <a:lnTo>
                  <a:pt x="8768938" y="4384469"/>
                </a:lnTo>
                <a:lnTo>
                  <a:pt x="0" y="4384469"/>
                </a:lnTo>
                <a:lnTo>
                  <a:pt x="0" y="0"/>
                </a:lnTo>
                <a:close/>
              </a:path>
            </a:pathLst>
          </a:custGeom>
          <a:blipFill>
            <a:blip r:embed="rId12"/>
            <a:stretch>
              <a:fillRect l="0" t="0" r="0" b="0"/>
            </a:stretch>
          </a:blipFill>
          <a:ln w="38100" cap="rnd">
            <a:solidFill>
              <a:srgbClr val="000000"/>
            </a:solidFill>
            <a:prstDash val="solid"/>
            <a:round/>
          </a:ln>
        </p:spPr>
      </p:sp>
      <p:sp>
        <p:nvSpPr>
          <p:cNvPr name="TextBox 12" id="12"/>
          <p:cNvSpPr txBox="true"/>
          <p:nvPr/>
        </p:nvSpPr>
        <p:spPr>
          <a:xfrm rot="0">
            <a:off x="7327039" y="427654"/>
            <a:ext cx="4213704"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¿QUÉ ES GITHUB?</a:t>
            </a:r>
          </a:p>
        </p:txBody>
      </p:sp>
      <p:sp>
        <p:nvSpPr>
          <p:cNvPr name="TextBox 13" id="13"/>
          <p:cNvSpPr txBox="true"/>
          <p:nvPr/>
        </p:nvSpPr>
        <p:spPr>
          <a:xfrm rot="0">
            <a:off x="6263774" y="38955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2</a:t>
            </a:r>
          </a:p>
        </p:txBody>
      </p:sp>
      <p:sp>
        <p:nvSpPr>
          <p:cNvPr name="TextBox 14" id="14"/>
          <p:cNvSpPr txBox="true"/>
          <p:nvPr/>
        </p:nvSpPr>
        <p:spPr>
          <a:xfrm rot="0">
            <a:off x="1756124" y="2080670"/>
            <a:ext cx="14212754" cy="3313430"/>
          </a:xfrm>
          <a:prstGeom prst="rect">
            <a:avLst/>
          </a:prstGeom>
        </p:spPr>
        <p:txBody>
          <a:bodyPr anchor="t" rtlCol="false" tIns="0" lIns="0" bIns="0" rIns="0">
            <a:spAutoFit/>
          </a:bodyPr>
          <a:lstStyle/>
          <a:p>
            <a:pPr algn="ctr" marL="0" indent="0" lvl="0">
              <a:lnSpc>
                <a:spcPts val="5320"/>
              </a:lnSpc>
              <a:spcBef>
                <a:spcPct val="0"/>
              </a:spcBef>
            </a:pPr>
            <a:r>
              <a:rPr lang="en-US" sz="3800">
                <a:solidFill>
                  <a:srgbClr val="000000"/>
                </a:solidFill>
                <a:latin typeface="A Day Without Sun Text"/>
                <a:ea typeface="A Day Without Sun Text"/>
                <a:cs typeface="A Day Without Sun Text"/>
                <a:sym typeface="A Day Without Sun Text"/>
              </a:rPr>
              <a:t>GITHUB ES UNA PLATAFORMA EN LA NUBE BASADA EN LA WEB QUE SIRVE COMO EL PUNTO DE ENCUENTRO GLOBAL PARA LOS DESARROLLADORES, PERMITIÉNDOTE ALOJAR TUS REPOSITORIOS DE GIT, RESPALDAR TU CÓDIGO DE FORMA SEGURA EN INTERNET, COLABORAR EN EQUIPO EN TIEMPO REAL Y MOSTRAR TUS PROYECTOS Y PORTAFOLIO PROFESIONAL AL MUNDO ENTERO.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63774" y="40624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26586" y="5413149"/>
            <a:ext cx="9107305" cy="4758567"/>
          </a:xfrm>
          <a:custGeom>
            <a:avLst/>
            <a:gdLst/>
            <a:ahLst/>
            <a:cxnLst/>
            <a:rect r="r" b="b" t="t" l="l"/>
            <a:pathLst>
              <a:path h="4758567" w="9107305">
                <a:moveTo>
                  <a:pt x="0" y="0"/>
                </a:moveTo>
                <a:lnTo>
                  <a:pt x="9107305" y="0"/>
                </a:lnTo>
                <a:lnTo>
                  <a:pt x="9107305" y="4758567"/>
                </a:lnTo>
                <a:lnTo>
                  <a:pt x="0" y="4758567"/>
                </a:lnTo>
                <a:lnTo>
                  <a:pt x="0" y="0"/>
                </a:lnTo>
                <a:close/>
              </a:path>
            </a:pathLst>
          </a:custGeom>
          <a:blipFill>
            <a:blip r:embed="rId10"/>
            <a:stretch>
              <a:fillRect l="0" t="0" r="0" b="0"/>
            </a:stretch>
          </a:blipFill>
          <a:ln w="38100" cap="rnd">
            <a:solidFill>
              <a:srgbClr val="000000"/>
            </a:solidFill>
            <a:prstDash val="solid"/>
            <a:round/>
          </a:ln>
        </p:spPr>
      </p:sp>
      <p:sp>
        <p:nvSpPr>
          <p:cNvPr name="TextBox 10" id="10"/>
          <p:cNvSpPr txBox="true"/>
          <p:nvPr/>
        </p:nvSpPr>
        <p:spPr>
          <a:xfrm rot="0">
            <a:off x="7327039" y="427654"/>
            <a:ext cx="4213704"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LISTAS E ÍNDICES</a:t>
            </a:r>
          </a:p>
        </p:txBody>
      </p:sp>
      <p:sp>
        <p:nvSpPr>
          <p:cNvPr name="TextBox 11" id="11"/>
          <p:cNvSpPr txBox="true"/>
          <p:nvPr/>
        </p:nvSpPr>
        <p:spPr>
          <a:xfrm rot="0">
            <a:off x="6263774" y="38955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
        <p:nvSpPr>
          <p:cNvPr name="TextBox 12" id="12"/>
          <p:cNvSpPr txBox="true"/>
          <p:nvPr/>
        </p:nvSpPr>
        <p:spPr>
          <a:xfrm rot="0">
            <a:off x="1756124" y="2080670"/>
            <a:ext cx="14212754" cy="2646680"/>
          </a:xfrm>
          <a:prstGeom prst="rect">
            <a:avLst/>
          </a:prstGeom>
        </p:spPr>
        <p:txBody>
          <a:bodyPr anchor="t" rtlCol="false" tIns="0" lIns="0" bIns="0" rIns="0">
            <a:spAutoFit/>
          </a:bodyPr>
          <a:lstStyle/>
          <a:p>
            <a:pPr algn="ctr" marL="0" indent="0" lvl="0">
              <a:lnSpc>
                <a:spcPts val="5320"/>
              </a:lnSpc>
              <a:spcBef>
                <a:spcPct val="0"/>
              </a:spcBef>
            </a:pPr>
            <a:r>
              <a:rPr lang="en-US" sz="3800">
                <a:solidFill>
                  <a:srgbClr val="000000"/>
                </a:solidFill>
                <a:latin typeface="A Day Without Sun Text"/>
                <a:ea typeface="A Day Without Sun Text"/>
                <a:cs typeface="A Day Without Sun Text"/>
                <a:sym typeface="A Day Without Sun Text"/>
              </a:rPr>
              <a:t>UNA LISTA ES UNA ESTRUCTURA DE DATOS FUNDAMENTAL EN PYTHON QUE TE PERMITE ALMACENAR MÚLTIPLES ELEMENTOS (DE CUALQUIER TIPO: NÚMEROS, TEXTOS, BOOLEANOS O INCLUSO OTRAS LISTAS) DENTRO DE UNA SOLA VARIABLE, ORGANIZADOS DE FORMA ORDENADA Y DELIMITADOS POR CORCHETES [ ].</a:t>
            </a:r>
          </a:p>
        </p:txBody>
      </p:sp>
      <p:sp>
        <p:nvSpPr>
          <p:cNvPr name="TextBox 13" id="13"/>
          <p:cNvSpPr txBox="true"/>
          <p:nvPr/>
        </p:nvSpPr>
        <p:spPr>
          <a:xfrm rot="0">
            <a:off x="9878797" y="5766571"/>
            <a:ext cx="7540004" cy="1979930"/>
          </a:xfrm>
          <a:prstGeom prst="rect">
            <a:avLst/>
          </a:prstGeom>
        </p:spPr>
        <p:txBody>
          <a:bodyPr anchor="t" rtlCol="false" tIns="0" lIns="0" bIns="0" rIns="0">
            <a:spAutoFit/>
          </a:bodyPr>
          <a:lstStyle/>
          <a:p>
            <a:pPr algn="ctr" marL="0" indent="0" lvl="0">
              <a:lnSpc>
                <a:spcPts val="5320"/>
              </a:lnSpc>
              <a:spcBef>
                <a:spcPct val="0"/>
              </a:spcBef>
            </a:pPr>
            <a:r>
              <a:rPr lang="en-US" sz="3800">
                <a:solidFill>
                  <a:srgbClr val="000000"/>
                </a:solidFill>
                <a:latin typeface="A Day Without Sun Text"/>
                <a:ea typeface="A Day Without Sun Text"/>
                <a:cs typeface="A Day Without Sun Text"/>
                <a:sym typeface="A Day Without Sun Text"/>
              </a:rPr>
              <a:t>LOS ÍNDICES SON LOS NÚMEROS QUE INDICAN LA POSICIÓN EXACTA DE CADA ELEMENTO DENTRO DE UNA LISTA.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0"/>
            <a:ext cx="14252289" cy="10287000"/>
          </a:xfrm>
          <a:custGeom>
            <a:avLst/>
            <a:gdLst/>
            <a:ahLst/>
            <a:cxnLst/>
            <a:rect r="r" b="b" t="t" l="l"/>
            <a:pathLst>
              <a:path h="10287000" w="14252289">
                <a:moveTo>
                  <a:pt x="0" y="0"/>
                </a:moveTo>
                <a:lnTo>
                  <a:pt x="14252289" y="0"/>
                </a:lnTo>
                <a:lnTo>
                  <a:pt x="14252289" y="10287000"/>
                </a:lnTo>
                <a:lnTo>
                  <a:pt x="0" y="10287000"/>
                </a:lnTo>
                <a:lnTo>
                  <a:pt x="0" y="0"/>
                </a:lnTo>
                <a:close/>
              </a:path>
            </a:pathLst>
          </a:custGeom>
          <a:blipFill>
            <a:blip r:embed="rId10"/>
            <a:stretch>
              <a:fillRect l="0" t="0" r="0" b="0"/>
            </a:stretch>
          </a:blipFill>
        </p:spPr>
      </p:sp>
      <p:sp>
        <p:nvSpPr>
          <p:cNvPr name="TextBox 7" id="7"/>
          <p:cNvSpPr txBox="true"/>
          <p:nvPr/>
        </p:nvSpPr>
        <p:spPr>
          <a:xfrm rot="0">
            <a:off x="6049539" y="173074"/>
            <a:ext cx="6939438"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EJEMPLO</a:t>
            </a:r>
            <a:r>
              <a:rPr lang="en-US" b="true" sz="5000">
                <a:solidFill>
                  <a:srgbClr val="000000"/>
                </a:solidFill>
                <a:latin typeface="A Day Without Sun Text Bold"/>
                <a:ea typeface="A Day Without Sun Text Bold"/>
                <a:cs typeface="A Day Without Sun Text Bold"/>
                <a:sym typeface="A Day Without Sun Text Bold"/>
              </a:rPr>
              <a:t> DE LISTAS E ÍNDICES</a:t>
            </a:r>
          </a:p>
        </p:txBody>
      </p:sp>
      <p:grpSp>
        <p:nvGrpSpPr>
          <p:cNvPr name="Group 8" id="8"/>
          <p:cNvGrpSpPr/>
          <p:nvPr/>
        </p:nvGrpSpPr>
        <p:grpSpPr>
          <a:xfrm rot="0">
            <a:off x="4986273" y="134824"/>
            <a:ext cx="1063265" cy="106326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986273" y="11813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0"/>
            <a:ext cx="17732124" cy="10287000"/>
          </a:xfrm>
          <a:custGeom>
            <a:avLst/>
            <a:gdLst/>
            <a:ahLst/>
            <a:cxnLst/>
            <a:rect r="r" b="b" t="t" l="l"/>
            <a:pathLst>
              <a:path h="10287000" w="17732124">
                <a:moveTo>
                  <a:pt x="0" y="0"/>
                </a:moveTo>
                <a:lnTo>
                  <a:pt x="17732124" y="0"/>
                </a:lnTo>
                <a:lnTo>
                  <a:pt x="17732124" y="10287000"/>
                </a:lnTo>
                <a:lnTo>
                  <a:pt x="0" y="10287000"/>
                </a:lnTo>
                <a:lnTo>
                  <a:pt x="0" y="0"/>
                </a:lnTo>
                <a:close/>
              </a:path>
            </a:pathLst>
          </a:custGeom>
          <a:blipFill>
            <a:blip r:embed="rId10"/>
            <a:stretch>
              <a:fillRect l="0" t="0" r="0" b="0"/>
            </a:stretch>
          </a:blipFill>
        </p:spPr>
      </p:sp>
      <p:sp>
        <p:nvSpPr>
          <p:cNvPr name="TextBox 7" id="7"/>
          <p:cNvSpPr txBox="true"/>
          <p:nvPr/>
        </p:nvSpPr>
        <p:spPr>
          <a:xfrm rot="0">
            <a:off x="5314742" y="122555"/>
            <a:ext cx="9118969"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OPERACIONES ESENCIALES CON LISTAS</a:t>
            </a:r>
          </a:p>
        </p:txBody>
      </p:sp>
      <p:grpSp>
        <p:nvGrpSpPr>
          <p:cNvPr name="Group 8" id="8"/>
          <p:cNvGrpSpPr/>
          <p:nvPr/>
        </p:nvGrpSpPr>
        <p:grpSpPr>
          <a:xfrm rot="0">
            <a:off x="4383969" y="101145"/>
            <a:ext cx="1063265" cy="106326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383969" y="84455"/>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5</a:t>
            </a:r>
          </a:p>
        </p:txBody>
      </p:sp>
      <p:sp>
        <p:nvSpPr>
          <p:cNvPr name="TextBox 12" id="12"/>
          <p:cNvSpPr txBox="true"/>
          <p:nvPr/>
        </p:nvSpPr>
        <p:spPr>
          <a:xfrm rot="0">
            <a:off x="11542557" y="1847909"/>
            <a:ext cx="6347484" cy="2028501"/>
          </a:xfrm>
          <a:prstGeom prst="rect">
            <a:avLst/>
          </a:prstGeom>
        </p:spPr>
        <p:txBody>
          <a:bodyPr anchor="t" rtlCol="false" tIns="0" lIns="0" bIns="0" rIns="0">
            <a:spAutoFit/>
          </a:bodyPr>
          <a:lstStyle/>
          <a:p>
            <a:pPr algn="ctr" marL="0" indent="0" lvl="0">
              <a:lnSpc>
                <a:spcPts val="5455"/>
              </a:lnSpc>
              <a:spcBef>
                <a:spcPct val="0"/>
              </a:spcBef>
            </a:pPr>
            <a:r>
              <a:rPr lang="en-US" b="true" sz="3896">
                <a:solidFill>
                  <a:srgbClr val="000000"/>
                </a:solidFill>
                <a:latin typeface="A Day Without Sun Text Bold"/>
                <a:ea typeface="A Day Without Sun Text Bold"/>
                <a:cs typeface="A Day Without Sun Text Bold"/>
                <a:sym typeface="A Day Without Sun Text Bold"/>
              </a:rPr>
              <a:t>PUEDES CAMBIAR EL VALOR DE UN ELEMENTO ASIGNÁNDOLE UN NUEVO VALOR USANDO SU ÍNDICE.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18172" y="406244"/>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65943" y="3722765"/>
            <a:ext cx="15797444" cy="6564235"/>
          </a:xfrm>
          <a:custGeom>
            <a:avLst/>
            <a:gdLst/>
            <a:ahLst/>
            <a:cxnLst/>
            <a:rect r="r" b="b" t="t" l="l"/>
            <a:pathLst>
              <a:path h="6564235" w="15797444">
                <a:moveTo>
                  <a:pt x="0" y="0"/>
                </a:moveTo>
                <a:lnTo>
                  <a:pt x="15797444" y="0"/>
                </a:lnTo>
                <a:lnTo>
                  <a:pt x="15797444" y="6564235"/>
                </a:lnTo>
                <a:lnTo>
                  <a:pt x="0" y="6564235"/>
                </a:lnTo>
                <a:lnTo>
                  <a:pt x="0" y="0"/>
                </a:lnTo>
                <a:close/>
              </a:path>
            </a:pathLst>
          </a:custGeom>
          <a:blipFill>
            <a:blip r:embed="rId10"/>
            <a:stretch>
              <a:fillRect l="0" t="0" r="0" b="0"/>
            </a:stretch>
          </a:blipFill>
        </p:spPr>
      </p:sp>
      <p:sp>
        <p:nvSpPr>
          <p:cNvPr name="TextBox 10" id="10"/>
          <p:cNvSpPr txBox="true"/>
          <p:nvPr/>
        </p:nvSpPr>
        <p:spPr>
          <a:xfrm rot="0">
            <a:off x="5781437" y="444494"/>
            <a:ext cx="7569938"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MÉTODOS PRINCIPALES DE LISTAS</a:t>
            </a:r>
          </a:p>
        </p:txBody>
      </p:sp>
      <p:sp>
        <p:nvSpPr>
          <p:cNvPr name="TextBox 11" id="11"/>
          <p:cNvSpPr txBox="true"/>
          <p:nvPr/>
        </p:nvSpPr>
        <p:spPr>
          <a:xfrm rot="0">
            <a:off x="4718172" y="38955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6</a:t>
            </a:r>
          </a:p>
        </p:txBody>
      </p:sp>
      <p:sp>
        <p:nvSpPr>
          <p:cNvPr name="TextBox 12" id="12"/>
          <p:cNvSpPr txBox="true"/>
          <p:nvPr/>
        </p:nvSpPr>
        <p:spPr>
          <a:xfrm rot="0">
            <a:off x="1756124" y="2080670"/>
            <a:ext cx="14212754" cy="1313180"/>
          </a:xfrm>
          <a:prstGeom prst="rect">
            <a:avLst/>
          </a:prstGeom>
        </p:spPr>
        <p:txBody>
          <a:bodyPr anchor="t" rtlCol="false" tIns="0" lIns="0" bIns="0" rIns="0">
            <a:spAutoFit/>
          </a:bodyPr>
          <a:lstStyle/>
          <a:p>
            <a:pPr algn="ctr" marL="0" indent="0" lvl="0">
              <a:lnSpc>
                <a:spcPts val="5320"/>
              </a:lnSpc>
              <a:spcBef>
                <a:spcPct val="0"/>
              </a:spcBef>
            </a:pPr>
            <a:r>
              <a:rPr lang="en-US" sz="3800">
                <a:solidFill>
                  <a:srgbClr val="000000"/>
                </a:solidFill>
                <a:latin typeface="A Day Without Sun Text"/>
                <a:ea typeface="A Day Without Sun Text"/>
                <a:cs typeface="A Day Without Sun Text"/>
                <a:sym typeface="A Day Without Sun Text"/>
              </a:rPr>
              <a:t>LOS MÉTODOS DE LISTAS EN PYTHON SON FUNCIONES INTEGRADAS QUE PERMITEN MODIFICAR, BUSCAR Y ORGANIZAR LOS ELEMENTOS DE UNA LISTA DE FORMA DIRECTA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47234" y="444494"/>
            <a:ext cx="7569938"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MÉTODOS PRINCIPALES DE LISTAS</a:t>
            </a:r>
          </a:p>
        </p:txBody>
      </p:sp>
      <p:sp>
        <p:nvSpPr>
          <p:cNvPr name="TextBox 7" id="7"/>
          <p:cNvSpPr txBox="true"/>
          <p:nvPr/>
        </p:nvSpPr>
        <p:spPr>
          <a:xfrm rot="0">
            <a:off x="1756124" y="2080670"/>
            <a:ext cx="14212754" cy="646430"/>
          </a:xfrm>
          <a:prstGeom prst="rect">
            <a:avLst/>
          </a:prstGeom>
        </p:spPr>
        <p:txBody>
          <a:bodyPr anchor="t" rtlCol="false" tIns="0" lIns="0" bIns="0" rIns="0">
            <a:spAutoFit/>
          </a:bodyPr>
          <a:lstStyle/>
          <a:p>
            <a:pPr algn="ctr" marL="0" indent="0" lvl="0">
              <a:lnSpc>
                <a:spcPts val="5320"/>
              </a:lnSpc>
              <a:spcBef>
                <a:spcPct val="0"/>
              </a:spcBef>
            </a:pPr>
            <a:r>
              <a:rPr lang="en-US" sz="3800">
                <a:solidFill>
                  <a:srgbClr val="000000"/>
                </a:solidFill>
                <a:latin typeface="A Day Without Sun Text"/>
                <a:ea typeface="A Day Without Sun Text"/>
                <a:cs typeface="A Day Without Sun Text"/>
                <a:sym typeface="A Day Without Sun Text"/>
              </a:rPr>
              <a:t>APPEND   /   POP   /   LEN</a:t>
            </a:r>
          </a:p>
        </p:txBody>
      </p:sp>
      <p:sp>
        <p:nvSpPr>
          <p:cNvPr name="TextBox 8" id="8"/>
          <p:cNvSpPr txBox="true"/>
          <p:nvPr/>
        </p:nvSpPr>
        <p:spPr>
          <a:xfrm rot="0">
            <a:off x="1165943" y="4155849"/>
            <a:ext cx="6859543" cy="2646680"/>
          </a:xfrm>
          <a:prstGeom prst="rect">
            <a:avLst/>
          </a:prstGeom>
        </p:spPr>
        <p:txBody>
          <a:bodyPr anchor="t" rtlCol="false" tIns="0" lIns="0" bIns="0" rIns="0">
            <a:spAutoFit/>
          </a:bodyPr>
          <a:lstStyle/>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1</a:t>
            </a:r>
            <a:r>
              <a:rPr lang="en-US" sz="3799">
                <a:solidFill>
                  <a:srgbClr val="000000"/>
                </a:solidFill>
                <a:latin typeface="A Day Without Sun Text"/>
                <a:ea typeface="A Day Without Sun Text"/>
                <a:cs typeface="A Day Without Sun Text"/>
                <a:sym typeface="A Day Without Sun Text"/>
              </a:rPr>
              <a:t>. APPEND ( ELEMENTO )</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FUNCIÓN:</a:t>
            </a:r>
            <a:r>
              <a:rPr lang="en-US" sz="3799">
                <a:solidFill>
                  <a:srgbClr val="000000"/>
                </a:solidFill>
                <a:latin typeface="A Day Without Sun Text"/>
                <a:ea typeface="A Day Without Sun Text"/>
                <a:cs typeface="A Day Without Sun Text"/>
                <a:sym typeface="A Day Without Sun Text"/>
              </a:rPr>
              <a:t> AÑADE UN DATO AL FINAL.</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MODIFICA:</a:t>
            </a:r>
            <a:r>
              <a:rPr lang="en-US" sz="3799">
                <a:solidFill>
                  <a:srgbClr val="000000"/>
                </a:solidFill>
                <a:latin typeface="A Day Without Sun Text"/>
                <a:ea typeface="A Day Without Sun Text"/>
                <a:cs typeface="A Day Without Sun Text"/>
                <a:sym typeface="A Day Without Sun Text"/>
              </a:rPr>
              <a:t> SÍ, ALTERA LA LISTA ORIGINAL.</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USO:</a:t>
            </a:r>
            <a:r>
              <a:rPr lang="en-US" sz="3799">
                <a:solidFill>
                  <a:srgbClr val="000000"/>
                </a:solidFill>
                <a:latin typeface="A Day Without Sun Text"/>
                <a:ea typeface="A Day Without Sun Text"/>
                <a:cs typeface="A Day Without Sun Text"/>
                <a:sym typeface="A Day Without Sun Text"/>
              </a:rPr>
              <a:t> LISTA.APPEND( "NUEVO" ) [1, 2].</a:t>
            </a:r>
          </a:p>
        </p:txBody>
      </p:sp>
      <p:sp>
        <p:nvSpPr>
          <p:cNvPr name="TextBox 9" id="9"/>
          <p:cNvSpPr txBox="true"/>
          <p:nvPr/>
        </p:nvSpPr>
        <p:spPr>
          <a:xfrm rot="0">
            <a:off x="9142159" y="4155849"/>
            <a:ext cx="7693636" cy="2646680"/>
          </a:xfrm>
          <a:prstGeom prst="rect">
            <a:avLst/>
          </a:prstGeom>
        </p:spPr>
        <p:txBody>
          <a:bodyPr anchor="t" rtlCol="false" tIns="0" lIns="0" bIns="0" rIns="0">
            <a:spAutoFit/>
          </a:bodyPr>
          <a:lstStyle/>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2</a:t>
            </a:r>
            <a:r>
              <a:rPr lang="en-US" sz="3799">
                <a:solidFill>
                  <a:srgbClr val="000000"/>
                </a:solidFill>
                <a:latin typeface="A Day Without Sun Text"/>
                <a:ea typeface="A Day Without Sun Text"/>
                <a:cs typeface="A Day Without Sun Text"/>
                <a:sym typeface="A Day Without Sun Text"/>
              </a:rPr>
              <a:t>. POP ( ÍNDICE )</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FUNCIÓN: </a:t>
            </a:r>
            <a:r>
              <a:rPr lang="en-US" sz="3799">
                <a:solidFill>
                  <a:srgbClr val="000000"/>
                </a:solidFill>
                <a:latin typeface="A Day Without Sun Text"/>
                <a:ea typeface="A Day Without Sun Text"/>
                <a:cs typeface="A Day Without Sun Text"/>
                <a:sym typeface="A Day Without Sun Text"/>
              </a:rPr>
              <a:t>ELIMINA Y DEVUELVE UN ELEMENTO.</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MODIFICA:</a:t>
            </a:r>
            <a:r>
              <a:rPr lang="en-US" sz="3799">
                <a:solidFill>
                  <a:srgbClr val="000000"/>
                </a:solidFill>
                <a:latin typeface="A Day Without Sun Text"/>
                <a:ea typeface="A Day Without Sun Text"/>
                <a:cs typeface="A Day Without Sun Text"/>
                <a:sym typeface="A Day Without Sun Text"/>
              </a:rPr>
              <a:t> BORRA EL ÚLTIMO DATO.</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USO:</a:t>
            </a:r>
            <a:r>
              <a:rPr lang="en-US" sz="3799">
                <a:solidFill>
                  <a:srgbClr val="000000"/>
                </a:solidFill>
                <a:latin typeface="A Day Without Sun Text"/>
                <a:ea typeface="A Day Without Sun Text"/>
                <a:cs typeface="A Day Without Sun Text"/>
                <a:sym typeface="A Day Without Sun Text"/>
              </a:rPr>
              <a:t> LISTA.POP( ) O LISTA.POP( 0 )</a:t>
            </a:r>
          </a:p>
        </p:txBody>
      </p:sp>
      <p:sp>
        <p:nvSpPr>
          <p:cNvPr name="TextBox 10" id="10"/>
          <p:cNvSpPr txBox="true"/>
          <p:nvPr/>
        </p:nvSpPr>
        <p:spPr>
          <a:xfrm rot="0">
            <a:off x="5015683" y="7307015"/>
            <a:ext cx="8547590" cy="2646680"/>
          </a:xfrm>
          <a:prstGeom prst="rect">
            <a:avLst/>
          </a:prstGeom>
        </p:spPr>
        <p:txBody>
          <a:bodyPr anchor="t" rtlCol="false" tIns="0" lIns="0" bIns="0" rIns="0">
            <a:spAutoFit/>
          </a:bodyPr>
          <a:lstStyle/>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2</a:t>
            </a:r>
            <a:r>
              <a:rPr lang="en-US" sz="3799">
                <a:solidFill>
                  <a:srgbClr val="000000"/>
                </a:solidFill>
                <a:latin typeface="A Day Without Sun Text"/>
                <a:ea typeface="A Day Without Sun Text"/>
                <a:cs typeface="A Day Without Sun Text"/>
                <a:sym typeface="A Day Without Sun Text"/>
              </a:rPr>
              <a:t>. LEN ( LISTA )</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FUNCIÓN: </a:t>
            </a:r>
            <a:r>
              <a:rPr lang="en-US" sz="3799">
                <a:solidFill>
                  <a:srgbClr val="000000"/>
                </a:solidFill>
                <a:latin typeface="A Day Without Sun Text"/>
                <a:ea typeface="A Day Without Sun Text"/>
                <a:cs typeface="A Day Without Sun Text"/>
                <a:sym typeface="A Day Without Sun Text"/>
              </a:rPr>
              <a:t>CUENTA EL TOTAL DE ELEMENTOS.</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MODIFICA:</a:t>
            </a:r>
            <a:r>
              <a:rPr lang="en-US" sz="3799">
                <a:solidFill>
                  <a:srgbClr val="000000"/>
                </a:solidFill>
                <a:latin typeface="A Day Without Sun Text"/>
                <a:ea typeface="A Day Without Sun Text"/>
                <a:cs typeface="A Day Without Sun Text"/>
                <a:sym typeface="A Day Without Sun Text"/>
              </a:rPr>
              <a:t> ES UNA FUNCIÓN, NO UN MÉTODO.</a:t>
            </a:r>
          </a:p>
          <a:p>
            <a:pPr algn="l">
              <a:lnSpc>
                <a:spcPts val="5319"/>
              </a:lnSpc>
              <a:spcBef>
                <a:spcPct val="0"/>
              </a:spcBef>
            </a:pPr>
            <a:r>
              <a:rPr lang="en-US" b="true" sz="3799">
                <a:solidFill>
                  <a:srgbClr val="000000"/>
                </a:solidFill>
                <a:latin typeface="A Day Without Sun Text Bold"/>
                <a:ea typeface="A Day Without Sun Text Bold"/>
                <a:cs typeface="A Day Without Sun Text Bold"/>
                <a:sym typeface="A Day Without Sun Text Bold"/>
              </a:rPr>
              <a:t>USO:</a:t>
            </a:r>
            <a:r>
              <a:rPr lang="en-US" sz="3799">
                <a:solidFill>
                  <a:srgbClr val="000000"/>
                </a:solidFill>
                <a:latin typeface="A Day Without Sun Text"/>
                <a:ea typeface="A Day Without Sun Text"/>
                <a:cs typeface="A Day Without Sun Text"/>
                <a:sym typeface="A Day Without Sun Text"/>
              </a:rPr>
              <a:t> LEN( LISTA ) ( VA POR FUERA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0"/>
            <a:ext cx="18128316" cy="10378419"/>
          </a:xfrm>
          <a:custGeom>
            <a:avLst/>
            <a:gdLst/>
            <a:ahLst/>
            <a:cxnLst/>
            <a:rect r="r" b="b" t="t" l="l"/>
            <a:pathLst>
              <a:path h="10378419" w="18128316">
                <a:moveTo>
                  <a:pt x="0" y="0"/>
                </a:moveTo>
                <a:lnTo>
                  <a:pt x="18128316" y="0"/>
                </a:lnTo>
                <a:lnTo>
                  <a:pt x="18128316" y="10378419"/>
                </a:lnTo>
                <a:lnTo>
                  <a:pt x="0" y="10378419"/>
                </a:lnTo>
                <a:lnTo>
                  <a:pt x="0" y="0"/>
                </a:lnTo>
                <a:close/>
              </a:path>
            </a:pathLst>
          </a:custGeom>
          <a:blipFill>
            <a:blip r:embed="rId10"/>
            <a:stretch>
              <a:fillRect l="0" t="0" r="0" b="0"/>
            </a:stretch>
          </a:blipFill>
        </p:spPr>
      </p:sp>
      <p:grpSp>
        <p:nvGrpSpPr>
          <p:cNvPr name="Group 7" id="7"/>
          <p:cNvGrpSpPr/>
          <p:nvPr/>
        </p:nvGrpSpPr>
        <p:grpSpPr>
          <a:xfrm rot="0">
            <a:off x="4986273" y="134824"/>
            <a:ext cx="1063265" cy="106326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6049539" y="173074"/>
            <a:ext cx="6939438"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EJEMPLO</a:t>
            </a:r>
            <a:r>
              <a:rPr lang="en-US" b="true" sz="5000">
                <a:solidFill>
                  <a:srgbClr val="000000"/>
                </a:solidFill>
                <a:latin typeface="A Day Without Sun Text Bold"/>
                <a:ea typeface="A Day Without Sun Text Bold"/>
                <a:cs typeface="A Day Without Sun Text Bold"/>
                <a:sym typeface="A Day Without Sun Text Bold"/>
              </a:rPr>
              <a:t> DE MÉTODO APPEND</a:t>
            </a:r>
          </a:p>
        </p:txBody>
      </p:sp>
      <p:sp>
        <p:nvSpPr>
          <p:cNvPr name="TextBox 11" id="11"/>
          <p:cNvSpPr txBox="true"/>
          <p:nvPr/>
        </p:nvSpPr>
        <p:spPr>
          <a:xfrm rot="0">
            <a:off x="4986273" y="11813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7</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0"/>
            <a:ext cx="17506652" cy="10287000"/>
          </a:xfrm>
          <a:custGeom>
            <a:avLst/>
            <a:gdLst/>
            <a:ahLst/>
            <a:cxnLst/>
            <a:rect r="r" b="b" t="t" l="l"/>
            <a:pathLst>
              <a:path h="10287000" w="17506652">
                <a:moveTo>
                  <a:pt x="0" y="0"/>
                </a:moveTo>
                <a:lnTo>
                  <a:pt x="17506652" y="0"/>
                </a:lnTo>
                <a:lnTo>
                  <a:pt x="17506652" y="10287000"/>
                </a:lnTo>
                <a:lnTo>
                  <a:pt x="0" y="10287000"/>
                </a:lnTo>
                <a:lnTo>
                  <a:pt x="0" y="0"/>
                </a:lnTo>
                <a:close/>
              </a:path>
            </a:pathLst>
          </a:custGeom>
          <a:blipFill>
            <a:blip r:embed="rId10"/>
            <a:stretch>
              <a:fillRect l="0" t="0" r="0" b="0"/>
            </a:stretch>
          </a:blipFill>
        </p:spPr>
      </p:sp>
      <p:grpSp>
        <p:nvGrpSpPr>
          <p:cNvPr name="Group 7" id="7"/>
          <p:cNvGrpSpPr/>
          <p:nvPr/>
        </p:nvGrpSpPr>
        <p:grpSpPr>
          <a:xfrm rot="0">
            <a:off x="4986273" y="134824"/>
            <a:ext cx="1063265" cy="106326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6049539" y="173074"/>
            <a:ext cx="6939438"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EJEMPLO</a:t>
            </a:r>
            <a:r>
              <a:rPr lang="en-US" b="true" sz="5000">
                <a:solidFill>
                  <a:srgbClr val="000000"/>
                </a:solidFill>
                <a:latin typeface="A Day Without Sun Text Bold"/>
                <a:ea typeface="A Day Without Sun Text Bold"/>
                <a:cs typeface="A Day Without Sun Text Bold"/>
                <a:sym typeface="A Day Without Sun Text Bold"/>
              </a:rPr>
              <a:t> DE MÉTODO POP</a:t>
            </a:r>
          </a:p>
        </p:txBody>
      </p:sp>
      <p:sp>
        <p:nvSpPr>
          <p:cNvPr name="TextBox 11" id="11"/>
          <p:cNvSpPr txBox="true"/>
          <p:nvPr/>
        </p:nvSpPr>
        <p:spPr>
          <a:xfrm rot="0">
            <a:off x="4986273" y="11813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4986273" y="134824"/>
            <a:ext cx="1063265" cy="10632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0" y="1273629"/>
            <a:ext cx="18288000" cy="9013371"/>
          </a:xfrm>
          <a:custGeom>
            <a:avLst/>
            <a:gdLst/>
            <a:ahLst/>
            <a:cxnLst/>
            <a:rect r="r" b="b" t="t" l="l"/>
            <a:pathLst>
              <a:path h="9013371" w="18288000">
                <a:moveTo>
                  <a:pt x="0" y="0"/>
                </a:moveTo>
                <a:lnTo>
                  <a:pt x="18288000" y="0"/>
                </a:lnTo>
                <a:lnTo>
                  <a:pt x="18288000" y="9013371"/>
                </a:lnTo>
                <a:lnTo>
                  <a:pt x="0" y="9013371"/>
                </a:lnTo>
                <a:lnTo>
                  <a:pt x="0" y="0"/>
                </a:lnTo>
                <a:close/>
              </a:path>
            </a:pathLst>
          </a:custGeom>
          <a:blipFill>
            <a:blip r:embed="rId10"/>
            <a:stretch>
              <a:fillRect l="0" t="0" r="0" b="0"/>
            </a:stretch>
          </a:blipFill>
        </p:spPr>
      </p:sp>
      <p:sp>
        <p:nvSpPr>
          <p:cNvPr name="TextBox 10" id="10"/>
          <p:cNvSpPr txBox="true"/>
          <p:nvPr/>
        </p:nvSpPr>
        <p:spPr>
          <a:xfrm rot="0">
            <a:off x="6049539" y="173074"/>
            <a:ext cx="6502532"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EJEMPLO</a:t>
            </a:r>
            <a:r>
              <a:rPr lang="en-US" b="true" sz="5000">
                <a:solidFill>
                  <a:srgbClr val="000000"/>
                </a:solidFill>
                <a:latin typeface="A Day Without Sun Text Bold"/>
                <a:ea typeface="A Day Without Sun Text Bold"/>
                <a:cs typeface="A Day Without Sun Text Bold"/>
                <a:sym typeface="A Day Without Sun Text Bold"/>
              </a:rPr>
              <a:t> DE MÉTODO LEN</a:t>
            </a:r>
          </a:p>
        </p:txBody>
      </p:sp>
      <p:sp>
        <p:nvSpPr>
          <p:cNvPr name="TextBox 11" id="11"/>
          <p:cNvSpPr txBox="true"/>
          <p:nvPr/>
        </p:nvSpPr>
        <p:spPr>
          <a:xfrm rot="0">
            <a:off x="4986273" y="118134"/>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9</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90772" y="1250896"/>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194260" y="4140977"/>
            <a:ext cx="7610240" cy="3336641"/>
          </a:xfrm>
          <a:prstGeom prst="rect">
            <a:avLst/>
          </a:prstGeom>
        </p:spPr>
        <p:txBody>
          <a:bodyPr anchor="t" rtlCol="false" tIns="0" lIns="0" bIns="0" rIns="0">
            <a:spAutoFit/>
          </a:bodyPr>
          <a:lstStyle/>
          <a:p>
            <a:pPr algn="l">
              <a:lnSpc>
                <a:spcPts val="6665"/>
              </a:lnSpc>
              <a:spcBef>
                <a:spcPct val="0"/>
              </a:spcBef>
            </a:pPr>
            <a:r>
              <a:rPr lang="en-US" sz="4761">
                <a:solidFill>
                  <a:srgbClr val="000000"/>
                </a:solidFill>
                <a:latin typeface="A Day Without Sun Text"/>
                <a:ea typeface="A Day Without Sun Text"/>
                <a:cs typeface="A Day Without Sun Text"/>
                <a:sym typeface="A Day Without Sun Text"/>
              </a:rPr>
              <a:t>Aquí tienes el orden lógico y exacto de lo que tienes que hacer para instalar, configurar y empezar a usar Git y GitHub desde cero:</a:t>
            </a:r>
          </a:p>
        </p:txBody>
      </p:sp>
      <p:sp>
        <p:nvSpPr>
          <p:cNvPr name="TextBox 10" id="10"/>
          <p:cNvSpPr txBox="true"/>
          <p:nvPr/>
        </p:nvSpPr>
        <p:spPr>
          <a:xfrm rot="0">
            <a:off x="5754037" y="1409876"/>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
        <p:nvSpPr>
          <p:cNvPr name="TextBox 11" id="11"/>
          <p:cNvSpPr txBox="true"/>
          <p:nvPr/>
        </p:nvSpPr>
        <p:spPr>
          <a:xfrm rot="0">
            <a:off x="4690772" y="123420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10</a:t>
            </a:r>
          </a:p>
        </p:txBody>
      </p:sp>
      <p:sp>
        <p:nvSpPr>
          <p:cNvPr name="Freeform 12" id="12"/>
          <p:cNvSpPr/>
          <p:nvPr/>
        </p:nvSpPr>
        <p:spPr>
          <a:xfrm flipH="false" flipV="false" rot="0">
            <a:off x="11881306" y="2334893"/>
            <a:ext cx="5075519" cy="5075519"/>
          </a:xfrm>
          <a:custGeom>
            <a:avLst/>
            <a:gdLst/>
            <a:ahLst/>
            <a:cxnLst/>
            <a:rect r="r" b="b" t="t" l="l"/>
            <a:pathLst>
              <a:path h="5075519" w="5075519">
                <a:moveTo>
                  <a:pt x="0" y="0"/>
                </a:moveTo>
                <a:lnTo>
                  <a:pt x="5075519" y="0"/>
                </a:lnTo>
                <a:lnTo>
                  <a:pt x="5075519" y="5075519"/>
                </a:lnTo>
                <a:lnTo>
                  <a:pt x="0" y="5075519"/>
                </a:lnTo>
                <a:lnTo>
                  <a:pt x="0" y="0"/>
                </a:lnTo>
                <a:close/>
              </a:path>
            </a:pathLst>
          </a:custGeom>
          <a:blipFill>
            <a:blip r:embed="rId10"/>
            <a:stretch>
              <a:fillRect l="0" t="0" r="0" b="0"/>
            </a:stretch>
          </a:blipFill>
        </p:spPr>
      </p:sp>
      <p:sp>
        <p:nvSpPr>
          <p:cNvPr name="Freeform 13" id="13"/>
          <p:cNvSpPr/>
          <p:nvPr/>
        </p:nvSpPr>
        <p:spPr>
          <a:xfrm flipH="false" flipV="false" rot="0">
            <a:off x="8804501" y="4872653"/>
            <a:ext cx="5001890" cy="5001890"/>
          </a:xfrm>
          <a:custGeom>
            <a:avLst/>
            <a:gdLst/>
            <a:ahLst/>
            <a:cxnLst/>
            <a:rect r="r" b="b" t="t" l="l"/>
            <a:pathLst>
              <a:path h="5001890" w="5001890">
                <a:moveTo>
                  <a:pt x="0" y="0"/>
                </a:moveTo>
                <a:lnTo>
                  <a:pt x="5001889" y="0"/>
                </a:lnTo>
                <a:lnTo>
                  <a:pt x="5001889" y="5001890"/>
                </a:lnTo>
                <a:lnTo>
                  <a:pt x="0" y="5001890"/>
                </a:lnTo>
                <a:lnTo>
                  <a:pt x="0" y="0"/>
                </a:lnTo>
                <a:close/>
              </a:path>
            </a:pathLst>
          </a:custGeom>
          <a:blipFill>
            <a:blip r:embed="rId11"/>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2923845" cy="3203416"/>
          </a:xfrm>
          <a:custGeom>
            <a:avLst/>
            <a:gdLst/>
            <a:ahLst/>
            <a:cxnLst/>
            <a:rect r="r" b="b" t="t" l="l"/>
            <a:pathLst>
              <a:path h="3203416" w="2923845">
                <a:moveTo>
                  <a:pt x="0" y="0"/>
                </a:moveTo>
                <a:lnTo>
                  <a:pt x="2923846" y="0"/>
                </a:lnTo>
                <a:lnTo>
                  <a:pt x="2923846" y="3203416"/>
                </a:lnTo>
                <a:lnTo>
                  <a:pt x="0" y="32034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2132075" y="1263395"/>
            <a:ext cx="14561021" cy="7633051"/>
          </a:xfrm>
          <a:prstGeom prst="rect">
            <a:avLst/>
          </a:prstGeom>
        </p:spPr>
        <p:txBody>
          <a:bodyPr anchor="t" rtlCol="false" tIns="0" lIns="0" bIns="0" rIns="0">
            <a:spAutoFit/>
          </a:bodyPr>
          <a:lstStyle/>
          <a:p>
            <a:pPr algn="l">
              <a:lnSpc>
                <a:spcPts val="6105"/>
              </a:lnSpc>
            </a:pPr>
            <a:r>
              <a:rPr lang="en-US" sz="4361" b="true">
                <a:solidFill>
                  <a:srgbClr val="000000"/>
                </a:solidFill>
                <a:latin typeface="A Day Without Sun Text Bold"/>
                <a:ea typeface="A Day Without Sun Text Bold"/>
                <a:cs typeface="A Day Without Sun Text Bold"/>
                <a:sym typeface="A Day Without Sun Text Bold"/>
              </a:rPr>
              <a:t>Paso 1: Instalar Git en tu computadora</a:t>
            </a:r>
          </a:p>
          <a:p>
            <a:pPr algn="l">
              <a:lnSpc>
                <a:spcPts val="6105"/>
              </a:lnSpc>
            </a:pPr>
            <a:r>
              <a:rPr lang="en-US" sz="4361">
                <a:solidFill>
                  <a:srgbClr val="000000"/>
                </a:solidFill>
                <a:latin typeface="A Day Without Sun Text"/>
                <a:ea typeface="A Day Without Sun Text"/>
                <a:cs typeface="A Day Without Sun Text"/>
                <a:sym typeface="A Day Without Sun Text"/>
              </a:rPr>
              <a:t>Primero necesitas el motor de Git instalado en tu sistema operativo.</a:t>
            </a:r>
          </a:p>
          <a:p>
            <a:pPr algn="l">
              <a:lnSpc>
                <a:spcPts val="6105"/>
              </a:lnSpc>
            </a:pP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Entra a la página oficial</a:t>
            </a:r>
            <a:r>
              <a:rPr lang="en-US" sz="4361">
                <a:solidFill>
                  <a:srgbClr val="000000"/>
                </a:solidFill>
                <a:latin typeface="A Day Without Sun Text"/>
                <a:ea typeface="A Day Without Sun Text"/>
                <a:cs typeface="A Day Without Sun Text"/>
                <a:sym typeface="A Day Without Sun Text"/>
              </a:rPr>
              <a:t>: </a:t>
            </a:r>
            <a:r>
              <a:rPr lang="en-US" sz="4361" i="true" u="sng">
                <a:solidFill>
                  <a:srgbClr val="000000"/>
                </a:solidFill>
                <a:latin typeface="A Day Without Sun Text Italics"/>
                <a:ea typeface="A Day Without Sun Text Italics"/>
                <a:cs typeface="A Day Without Sun Text Italics"/>
                <a:sym typeface="A Day Without Sun Text Italics"/>
                <a:hlinkClick r:id="rId10" tooltip="https://git-scm.com"/>
              </a:rPr>
              <a:t>git-scm.com</a:t>
            </a:r>
            <a:r>
              <a:rPr lang="en-US" b="true" sz="4361">
                <a:solidFill>
                  <a:srgbClr val="000000"/>
                </a:solidFill>
                <a:latin typeface="A Day Without Sun Text Bold"/>
                <a:ea typeface="A Day Without Sun Text Bold"/>
                <a:cs typeface="A Day Without Sun Text Bold"/>
                <a:sym typeface="A Day Without Sun Text Bold"/>
              </a:rPr>
              <a:t> </a:t>
            </a:r>
            <a:r>
              <a:rPr lang="en-US" sz="4361">
                <a:solidFill>
                  <a:srgbClr val="000000"/>
                </a:solidFill>
                <a:latin typeface="A Day Without Sun Text"/>
                <a:ea typeface="A Day Without Sun Text"/>
                <a:cs typeface="A Day Without Sun Text"/>
                <a:sym typeface="A Day Without Sun Text"/>
              </a:rPr>
              <a:t>y descárgalo para tu sistema (Windows, Mac o Linux).</a:t>
            </a:r>
          </a:p>
          <a:p>
            <a:pPr algn="l" marL="898404" indent="-449202" lvl="1">
              <a:lnSpc>
                <a:spcPts val="5825"/>
              </a:lnSpc>
              <a:buAutoNum type="arabicPeriod" startAt="1"/>
            </a:pPr>
            <a:r>
              <a:rPr lang="en-US" b="true" sz="4161">
                <a:solidFill>
                  <a:srgbClr val="000000"/>
                </a:solidFill>
                <a:latin typeface="A Day Without Sun Text Bold"/>
                <a:ea typeface="A Day Without Sun Text Bold"/>
                <a:cs typeface="A Day Without Sun Text Bold"/>
                <a:sym typeface="A Day Without Sun Text Bold"/>
              </a:rPr>
              <a:t>Durante la instalación</a:t>
            </a:r>
            <a:r>
              <a:rPr lang="en-US" sz="4161">
                <a:solidFill>
                  <a:srgbClr val="000000"/>
                </a:solidFill>
                <a:latin typeface="A Day Without Sun Text"/>
                <a:ea typeface="A Day Without Sun Text"/>
                <a:cs typeface="A Day Without Sun Text"/>
                <a:sym typeface="A Day Without Sun Text"/>
              </a:rPr>
              <a:t>, dale a "Siguiente" (Next) a todo usando la configuración por defecto que trae (viene perfecta para empezar).</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¿Cómo compruebas que se instaló bien?</a:t>
            </a:r>
            <a:r>
              <a:rPr lang="en-US" sz="4361">
                <a:solidFill>
                  <a:srgbClr val="000000"/>
                </a:solidFill>
                <a:latin typeface="A Day Without Sun Text"/>
                <a:ea typeface="A Day Without Sun Text"/>
                <a:cs typeface="A Day Without Sun Text"/>
                <a:sym typeface="A Day Without Sun Text"/>
              </a:rPr>
              <a:t> Abre tu terminal (CMD, PowerShell o Git Bash) y escribe:  ----&gt;    git --version</a:t>
            </a:r>
          </a:p>
          <a:p>
            <a:pPr algn="l">
              <a:lnSpc>
                <a:spcPts val="6105"/>
              </a:lnSpc>
              <a:spcBef>
                <a:spcPct val="0"/>
              </a:spcBef>
            </a:pPr>
          </a:p>
        </p:txBody>
      </p:sp>
      <p:sp>
        <p:nvSpPr>
          <p:cNvPr name="Freeform 7" id="7"/>
          <p:cNvSpPr/>
          <p:nvPr/>
        </p:nvSpPr>
        <p:spPr>
          <a:xfrm flipH="false" flipV="false" rot="0">
            <a:off x="11368521" y="249934"/>
            <a:ext cx="964629" cy="964629"/>
          </a:xfrm>
          <a:custGeom>
            <a:avLst/>
            <a:gdLst/>
            <a:ahLst/>
            <a:cxnLst/>
            <a:rect r="r" b="b" t="t" l="l"/>
            <a:pathLst>
              <a:path h="964629" w="964629">
                <a:moveTo>
                  <a:pt x="0" y="0"/>
                </a:moveTo>
                <a:lnTo>
                  <a:pt x="964629" y="0"/>
                </a:lnTo>
                <a:lnTo>
                  <a:pt x="964629" y="964629"/>
                </a:lnTo>
                <a:lnTo>
                  <a:pt x="0" y="964629"/>
                </a:lnTo>
                <a:lnTo>
                  <a:pt x="0" y="0"/>
                </a:lnTo>
                <a:close/>
              </a:path>
            </a:pathLst>
          </a:custGeom>
          <a:blipFill>
            <a:blip r:embed="rId11"/>
            <a:stretch>
              <a:fillRect l="0" t="0" r="0" b="0"/>
            </a:stretch>
          </a:blipFill>
        </p:spPr>
      </p:sp>
      <p:sp>
        <p:nvSpPr>
          <p:cNvPr name="Freeform 8" id="8"/>
          <p:cNvSpPr/>
          <p:nvPr/>
        </p:nvSpPr>
        <p:spPr>
          <a:xfrm flipH="false" flipV="false" rot="0">
            <a:off x="0" y="8547490"/>
            <a:ext cx="18288000" cy="1421620"/>
          </a:xfrm>
          <a:custGeom>
            <a:avLst/>
            <a:gdLst/>
            <a:ahLst/>
            <a:cxnLst/>
            <a:rect r="r" b="b" t="t" l="l"/>
            <a:pathLst>
              <a:path h="1421620" w="18288000">
                <a:moveTo>
                  <a:pt x="0" y="0"/>
                </a:moveTo>
                <a:lnTo>
                  <a:pt x="18288000" y="0"/>
                </a:lnTo>
                <a:lnTo>
                  <a:pt x="18288000" y="1421620"/>
                </a:lnTo>
                <a:lnTo>
                  <a:pt x="0" y="1421620"/>
                </a:lnTo>
                <a:lnTo>
                  <a:pt x="0" y="0"/>
                </a:lnTo>
                <a:close/>
              </a:path>
            </a:pathLst>
          </a:custGeom>
          <a:blipFill>
            <a:blip r:embed="rId12"/>
            <a:stretch>
              <a:fillRect l="0" t="0" r="0" b="0"/>
            </a:stretch>
          </a:blipFill>
          <a:ln w="38100" cap="sq">
            <a:solidFill>
              <a:srgbClr val="000000"/>
            </a:solidFill>
            <a:prstDash val="solid"/>
            <a:miter/>
          </a:ln>
        </p:spPr>
      </p:sp>
      <p:sp>
        <p:nvSpPr>
          <p:cNvPr name="TextBox 9" id="9"/>
          <p:cNvSpPr txBox="true"/>
          <p:nvPr/>
        </p:nvSpPr>
        <p:spPr>
          <a:xfrm rot="0">
            <a:off x="5696115" y="359597"/>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2718849" cy="2978819"/>
          </a:xfrm>
          <a:custGeom>
            <a:avLst/>
            <a:gdLst/>
            <a:ahLst/>
            <a:cxnLst/>
            <a:rect r="r" b="b" t="t" l="l"/>
            <a:pathLst>
              <a:path h="2978819" w="2718849">
                <a:moveTo>
                  <a:pt x="0" y="0"/>
                </a:moveTo>
                <a:lnTo>
                  <a:pt x="2718850" y="0"/>
                </a:lnTo>
                <a:lnTo>
                  <a:pt x="2718850" y="2978819"/>
                </a:lnTo>
                <a:lnTo>
                  <a:pt x="0" y="29788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30273" y="7648663"/>
            <a:ext cx="8501110" cy="4760622"/>
          </a:xfrm>
          <a:custGeom>
            <a:avLst/>
            <a:gdLst/>
            <a:ahLst/>
            <a:cxnLst/>
            <a:rect r="r" b="b" t="t" l="l"/>
            <a:pathLst>
              <a:path h="4760622" w="8501110">
                <a:moveTo>
                  <a:pt x="0" y="0"/>
                </a:moveTo>
                <a:lnTo>
                  <a:pt x="8501110" y="0"/>
                </a:lnTo>
                <a:lnTo>
                  <a:pt x="8501110" y="4760622"/>
                </a:lnTo>
                <a:lnTo>
                  <a:pt x="0" y="4760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2132075" y="1263395"/>
            <a:ext cx="14561021" cy="7709251"/>
          </a:xfrm>
          <a:prstGeom prst="rect">
            <a:avLst/>
          </a:prstGeom>
        </p:spPr>
        <p:txBody>
          <a:bodyPr anchor="t" rtlCol="false" tIns="0" lIns="0" bIns="0" rIns="0">
            <a:spAutoFit/>
          </a:bodyPr>
          <a:lstStyle/>
          <a:p>
            <a:pPr algn="l">
              <a:lnSpc>
                <a:spcPts val="6105"/>
              </a:lnSpc>
            </a:pPr>
            <a:r>
              <a:rPr lang="en-US" sz="4361" b="true">
                <a:solidFill>
                  <a:srgbClr val="000000"/>
                </a:solidFill>
                <a:latin typeface="A Day Without Sun Text Bold"/>
                <a:ea typeface="A Day Without Sun Text Bold"/>
                <a:cs typeface="A Day Without Sun Text Bold"/>
                <a:sym typeface="A Day Without Sun Text Bold"/>
              </a:rPr>
              <a:t>Paso 2: Configurar tu identidad en Git</a:t>
            </a:r>
          </a:p>
          <a:p>
            <a:pPr algn="l">
              <a:lnSpc>
                <a:spcPts val="6105"/>
              </a:lnSpc>
            </a:pPr>
            <a:r>
              <a:rPr lang="en-US" sz="4361">
                <a:solidFill>
                  <a:srgbClr val="000000"/>
                </a:solidFill>
                <a:latin typeface="A Day Without Sun Text"/>
                <a:ea typeface="A Day Without Sun Text"/>
                <a:cs typeface="A Day Without Sun Text"/>
                <a:sym typeface="A Day Without Sun Text"/>
              </a:rPr>
              <a:t>Git necesita saber quién es el que está escribiendo el código para firmar cada cambio (commit). Ejecuta estos dos comandos en tu terminal (cambiando tus datos):</a:t>
            </a:r>
          </a:p>
          <a:p>
            <a:pPr algn="l">
              <a:lnSpc>
                <a:spcPts val="6105"/>
              </a:lnSpc>
            </a:pPr>
          </a:p>
          <a:p>
            <a:pPr algn="l">
              <a:lnSpc>
                <a:spcPts val="6105"/>
              </a:lnSpc>
            </a:pPr>
            <a:r>
              <a:rPr lang="en-US" sz="4361">
                <a:solidFill>
                  <a:srgbClr val="000000"/>
                </a:solidFill>
                <a:latin typeface="A Day Without Sun Text"/>
                <a:ea typeface="A Day Without Sun Text"/>
                <a:cs typeface="A Day Without Sun Text"/>
                <a:sym typeface="A Day Without Sun Text"/>
              </a:rPr>
              <a:t> (en CMD, PowerShell o Git Bash) escribe:</a:t>
            </a:r>
          </a:p>
          <a:p>
            <a:pPr algn="l">
              <a:lnSpc>
                <a:spcPts val="6105"/>
              </a:lnSpc>
            </a:pPr>
          </a:p>
          <a:p>
            <a:pPr algn="l">
              <a:lnSpc>
                <a:spcPts val="6105"/>
              </a:lnSpc>
            </a:pPr>
            <a:r>
              <a:rPr lang="en-US" sz="4361">
                <a:solidFill>
                  <a:srgbClr val="000000"/>
                </a:solidFill>
                <a:latin typeface="A Day Without Sun Text"/>
                <a:ea typeface="A Day Without Sun Text"/>
                <a:cs typeface="A Day Without Sun Text"/>
                <a:sym typeface="A Day Without Sun Text"/>
              </a:rPr>
              <a:t>git config --global user.name "Tu Nombre"</a:t>
            </a:r>
          </a:p>
          <a:p>
            <a:pPr algn="l">
              <a:lnSpc>
                <a:spcPts val="6105"/>
              </a:lnSpc>
            </a:pPr>
            <a:r>
              <a:rPr lang="en-US" sz="4361">
                <a:solidFill>
                  <a:srgbClr val="000000"/>
                </a:solidFill>
                <a:latin typeface="A Day Without Sun Text"/>
                <a:ea typeface="A Day Without Sun Text"/>
                <a:cs typeface="A Day Without Sun Text"/>
                <a:sym typeface="A Day Without Sun Text"/>
              </a:rPr>
              <a:t>git config --global user.email "correo@example.com"</a:t>
            </a:r>
          </a:p>
          <a:p>
            <a:pPr algn="l">
              <a:lnSpc>
                <a:spcPts val="6105"/>
              </a:lnSpc>
              <a:spcBef>
                <a:spcPct val="0"/>
              </a:spcBef>
            </a:pPr>
          </a:p>
        </p:txBody>
      </p:sp>
      <p:sp>
        <p:nvSpPr>
          <p:cNvPr name="Freeform 7" id="7"/>
          <p:cNvSpPr/>
          <p:nvPr/>
        </p:nvSpPr>
        <p:spPr>
          <a:xfrm flipH="false" flipV="false" rot="0">
            <a:off x="11368521" y="275233"/>
            <a:ext cx="914031" cy="914031"/>
          </a:xfrm>
          <a:custGeom>
            <a:avLst/>
            <a:gdLst/>
            <a:ahLst/>
            <a:cxnLst/>
            <a:rect r="r" b="b" t="t" l="l"/>
            <a:pathLst>
              <a:path h="914031" w="914031">
                <a:moveTo>
                  <a:pt x="0" y="0"/>
                </a:moveTo>
                <a:lnTo>
                  <a:pt x="914031" y="0"/>
                </a:lnTo>
                <a:lnTo>
                  <a:pt x="914031" y="914031"/>
                </a:lnTo>
                <a:lnTo>
                  <a:pt x="0" y="914031"/>
                </a:lnTo>
                <a:lnTo>
                  <a:pt x="0" y="0"/>
                </a:lnTo>
                <a:close/>
              </a:path>
            </a:pathLst>
          </a:custGeom>
          <a:blipFill>
            <a:blip r:embed="rId10"/>
            <a:stretch>
              <a:fillRect l="0" t="0" r="0" b="0"/>
            </a:stretch>
          </a:blipFill>
        </p:spPr>
      </p:sp>
      <p:sp>
        <p:nvSpPr>
          <p:cNvPr name="TextBox 8" id="8"/>
          <p:cNvSpPr txBox="true"/>
          <p:nvPr/>
        </p:nvSpPr>
        <p:spPr>
          <a:xfrm rot="0">
            <a:off x="5696115" y="359597"/>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01756">
            <a:off x="-2228362" y="8637895"/>
            <a:ext cx="5889661" cy="3298210"/>
          </a:xfrm>
          <a:custGeom>
            <a:avLst/>
            <a:gdLst/>
            <a:ahLst/>
            <a:cxnLst/>
            <a:rect r="r" b="b" t="t" l="l"/>
            <a:pathLst>
              <a:path h="3298210" w="5889661">
                <a:moveTo>
                  <a:pt x="0" y="0"/>
                </a:moveTo>
                <a:lnTo>
                  <a:pt x="5889661" y="0"/>
                </a:lnTo>
                <a:lnTo>
                  <a:pt x="5889661" y="3298210"/>
                </a:lnTo>
                <a:lnTo>
                  <a:pt x="0" y="32982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48945" y="720591"/>
            <a:ext cx="17990109" cy="10023826"/>
          </a:xfrm>
          <a:prstGeom prst="rect">
            <a:avLst/>
          </a:prstGeom>
        </p:spPr>
        <p:txBody>
          <a:bodyPr anchor="t" rtlCol="false" tIns="0" lIns="0" bIns="0" rIns="0">
            <a:spAutoFit/>
          </a:bodyPr>
          <a:lstStyle/>
          <a:p>
            <a:pPr algn="l">
              <a:lnSpc>
                <a:spcPts val="6105"/>
              </a:lnSpc>
            </a:pPr>
            <a:r>
              <a:rPr lang="en-US" sz="4361" b="true">
                <a:solidFill>
                  <a:srgbClr val="000000"/>
                </a:solidFill>
                <a:latin typeface="A Day Without Sun Text Bold"/>
                <a:ea typeface="A Day Without Sun Text Bold"/>
                <a:cs typeface="A Day Without Sun Text Bold"/>
                <a:sym typeface="A Day Without Sun Text Bold"/>
              </a:rPr>
              <a:t>Paso 3: Registro en GitHub</a:t>
            </a:r>
          </a:p>
          <a:p>
            <a:pPr algn="l">
              <a:lnSpc>
                <a:spcPts val="6105"/>
              </a:lnSpc>
            </a:pP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Entra al sitio oficial</a:t>
            </a:r>
            <a:r>
              <a:rPr lang="en-US" sz="4361">
                <a:solidFill>
                  <a:srgbClr val="000000"/>
                </a:solidFill>
                <a:latin typeface="A Day Without Sun Text"/>
                <a:ea typeface="A Day Without Sun Text"/>
                <a:cs typeface="A Day Without Sun Text"/>
                <a:sym typeface="A Day Without Sun Text"/>
              </a:rPr>
              <a:t>: Ve a </a:t>
            </a:r>
            <a:r>
              <a:rPr lang="en-US" sz="4361" i="true" u="sng">
                <a:solidFill>
                  <a:srgbClr val="000000"/>
                </a:solidFill>
                <a:latin typeface="A Day Without Sun Text Italics"/>
                <a:ea typeface="A Day Without Sun Text Italics"/>
                <a:cs typeface="A Day Without Sun Text Italics"/>
                <a:sym typeface="A Day Without Sun Text Italics"/>
                <a:hlinkClick r:id="rId6" tooltip="https://github.com"/>
              </a:rPr>
              <a:t>github.com</a:t>
            </a:r>
            <a:r>
              <a:rPr lang="en-US" sz="4361">
                <a:solidFill>
                  <a:srgbClr val="000000"/>
                </a:solidFill>
                <a:latin typeface="A Day Without Sun Text"/>
                <a:ea typeface="A Day Without Sun Text"/>
                <a:cs typeface="A Day Without Sun Text"/>
                <a:sym typeface="A Day Without Sun Text"/>
              </a:rPr>
              <a:t>.</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Botón de registro</a:t>
            </a:r>
            <a:r>
              <a:rPr lang="en-US" sz="4361">
                <a:solidFill>
                  <a:srgbClr val="000000"/>
                </a:solidFill>
                <a:latin typeface="A Day Without Sun Text"/>
                <a:ea typeface="A Day Without Sun Text"/>
                <a:cs typeface="A Day Without Sun Text"/>
                <a:sym typeface="A Day Without Sun Text"/>
              </a:rPr>
              <a:t>: Haz clic en el botón que dice "Sign up" (arriba a la derecha).</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Sigue el asistente</a:t>
            </a:r>
            <a:r>
              <a:rPr lang="en-US" sz="4361">
                <a:solidFill>
                  <a:srgbClr val="000000"/>
                </a:solidFill>
                <a:latin typeface="A Day Without Sun Text"/>
                <a:ea typeface="A Day Without Sun Text"/>
                <a:cs typeface="A Day Without Sun Text"/>
                <a:sym typeface="A Day Without Sun Text"/>
              </a:rPr>
              <a:t>:</a:t>
            </a:r>
          </a:p>
          <a:p>
            <a:pPr algn="l" marL="1883165" indent="-627722" lvl="2">
              <a:lnSpc>
                <a:spcPts val="6105"/>
              </a:lnSpc>
              <a:buFont typeface="Arial"/>
              <a:buChar char="⚬"/>
            </a:pPr>
            <a:r>
              <a:rPr lang="en-US" sz="4361">
                <a:solidFill>
                  <a:srgbClr val="000000"/>
                </a:solidFill>
                <a:latin typeface="A Day Without Sun Text"/>
                <a:ea typeface="A Day Without Sun Text"/>
                <a:cs typeface="A Day Without Sun Text"/>
                <a:sym typeface="A Day Without Sun Text"/>
              </a:rPr>
              <a:t>Te pedirá tu correo electrónico.</a:t>
            </a:r>
          </a:p>
          <a:p>
            <a:pPr algn="l" marL="1883165" indent="-627722" lvl="2">
              <a:lnSpc>
                <a:spcPts val="6105"/>
              </a:lnSpc>
              <a:buFont typeface="Arial"/>
              <a:buChar char="⚬"/>
            </a:pPr>
            <a:r>
              <a:rPr lang="en-US" sz="4361">
                <a:solidFill>
                  <a:srgbClr val="000000"/>
                </a:solidFill>
                <a:latin typeface="A Day Without Sun Text"/>
                <a:ea typeface="A Day Without Sun Text"/>
                <a:cs typeface="A Day Without Sun Text"/>
                <a:sym typeface="A Day Without Sun Text"/>
              </a:rPr>
              <a:t>Te pedirá que crees una contraseña.</a:t>
            </a:r>
          </a:p>
          <a:p>
            <a:pPr algn="l" marL="1883165" indent="-627722" lvl="2">
              <a:lnSpc>
                <a:spcPts val="6105"/>
              </a:lnSpc>
              <a:buFont typeface="Arial"/>
              <a:buChar char="⚬"/>
            </a:pPr>
            <a:r>
              <a:rPr lang="en-US" sz="4361">
                <a:solidFill>
                  <a:srgbClr val="000000"/>
                </a:solidFill>
                <a:latin typeface="A Day Without Sun Text"/>
                <a:ea typeface="A Day Without Sun Text"/>
                <a:cs typeface="A Day Without Sun Text"/>
                <a:sym typeface="A Day Without Sun Text"/>
              </a:rPr>
              <a:t>Te pedirá un nombre de usuario (elígelo bien, será tu identidad pública).</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Verificación</a:t>
            </a:r>
            <a:r>
              <a:rPr lang="en-US" sz="4361">
                <a:solidFill>
                  <a:srgbClr val="000000"/>
                </a:solidFill>
                <a:latin typeface="A Day Without Sun Text"/>
                <a:ea typeface="A Day Without Sun Text"/>
                <a:cs typeface="A Day Without Sun Text"/>
                <a:sym typeface="A Day Without Sun Text"/>
              </a:rPr>
              <a:t>: GitHub te enviará un código a tu correo para confirmar que eres tú.</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Configuración inicial</a:t>
            </a:r>
            <a:r>
              <a:rPr lang="en-US" sz="4361">
                <a:solidFill>
                  <a:srgbClr val="000000"/>
                </a:solidFill>
                <a:latin typeface="A Day Without Sun Text"/>
                <a:ea typeface="A Day Without Sun Text"/>
                <a:cs typeface="A Day Without Sun Text"/>
                <a:sym typeface="A Day Without Sun Text"/>
              </a:rPr>
              <a:t>: Te hará unas preguntas breves (tipo de usuario, etc.). Puedes responderlas o simplemente darle a "Skip personalization" abajo.</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Plan gratuito</a:t>
            </a:r>
            <a:r>
              <a:rPr lang="en-US" sz="4361">
                <a:solidFill>
                  <a:srgbClr val="000000"/>
                </a:solidFill>
                <a:latin typeface="A Day Without Sun Text"/>
                <a:ea typeface="A Day Without Sun Text"/>
                <a:cs typeface="A Day Without Sun Text"/>
                <a:sym typeface="A Day Without Sun Text"/>
              </a:rPr>
              <a:t>: Selecciona el plan "Free" (es más que suficiente para todo lo que harás).</a:t>
            </a:r>
          </a:p>
          <a:p>
            <a:pPr algn="l">
              <a:lnSpc>
                <a:spcPts val="6105"/>
              </a:lnSpc>
              <a:spcBef>
                <a:spcPct val="0"/>
              </a:spcBef>
            </a:pPr>
          </a:p>
        </p:txBody>
      </p:sp>
      <p:sp>
        <p:nvSpPr>
          <p:cNvPr name="TextBox 5" id="5"/>
          <p:cNvSpPr txBox="true"/>
          <p:nvPr/>
        </p:nvSpPr>
        <p:spPr>
          <a:xfrm rot="0">
            <a:off x="5517380" y="156263"/>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
        <p:nvSpPr>
          <p:cNvPr name="Freeform 6" id="6"/>
          <p:cNvSpPr/>
          <p:nvPr/>
        </p:nvSpPr>
        <p:spPr>
          <a:xfrm flipH="false" flipV="false" rot="0">
            <a:off x="11189787" y="18872"/>
            <a:ext cx="1009828" cy="1009828"/>
          </a:xfrm>
          <a:custGeom>
            <a:avLst/>
            <a:gdLst/>
            <a:ahLst/>
            <a:cxnLst/>
            <a:rect r="r" b="b" t="t" l="l"/>
            <a:pathLst>
              <a:path h="1009828" w="1009828">
                <a:moveTo>
                  <a:pt x="0" y="0"/>
                </a:moveTo>
                <a:lnTo>
                  <a:pt x="1009828" y="0"/>
                </a:lnTo>
                <a:lnTo>
                  <a:pt x="1009828" y="1009828"/>
                </a:lnTo>
                <a:lnTo>
                  <a:pt x="0" y="1009828"/>
                </a:lnTo>
                <a:lnTo>
                  <a:pt x="0" y="0"/>
                </a:lnTo>
                <a:close/>
              </a:path>
            </a:pathLst>
          </a:custGeom>
          <a:blipFill>
            <a:blip r:embed="rId7"/>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310127">
            <a:off x="13632128" y="-1873463"/>
            <a:ext cx="5677465" cy="2962604"/>
          </a:xfrm>
          <a:custGeom>
            <a:avLst/>
            <a:gdLst/>
            <a:ahLst/>
            <a:cxnLst/>
            <a:rect r="r" b="b" t="t" l="l"/>
            <a:pathLst>
              <a:path h="2962604" w="5677465">
                <a:moveTo>
                  <a:pt x="0" y="0"/>
                </a:moveTo>
                <a:lnTo>
                  <a:pt x="5677465" y="0"/>
                </a:lnTo>
                <a:lnTo>
                  <a:pt x="5677465" y="2962605"/>
                </a:lnTo>
                <a:lnTo>
                  <a:pt x="0" y="29626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9016" y="942975"/>
            <a:ext cx="17950391" cy="9147175"/>
          </a:xfrm>
          <a:prstGeom prst="rect">
            <a:avLst/>
          </a:prstGeom>
        </p:spPr>
        <p:txBody>
          <a:bodyPr anchor="t" rtlCol="false" tIns="0" lIns="0" bIns="0" rIns="0">
            <a:spAutoFit/>
          </a:bodyPr>
          <a:lstStyle/>
          <a:p>
            <a:pPr algn="l">
              <a:lnSpc>
                <a:spcPts val="5600"/>
              </a:lnSpc>
            </a:pPr>
            <a:r>
              <a:rPr lang="en-US" sz="4000" b="true">
                <a:solidFill>
                  <a:srgbClr val="000000"/>
                </a:solidFill>
                <a:latin typeface="A Day Without Sun Text Bold"/>
                <a:ea typeface="A Day Without Sun Text Bold"/>
                <a:cs typeface="A Day Without Sun Text Bold"/>
                <a:sym typeface="A Day Without Sun Text Bold"/>
              </a:rPr>
              <a:t>Paso 4: Crear tu repositorio local y hacer tu primer commit</a:t>
            </a:r>
          </a:p>
          <a:p>
            <a:pPr algn="l">
              <a:lnSpc>
                <a:spcPts val="5600"/>
              </a:lnSpc>
            </a:pPr>
            <a:r>
              <a:rPr lang="en-US" sz="4000">
                <a:solidFill>
                  <a:srgbClr val="000000"/>
                </a:solidFill>
                <a:latin typeface="A Day Without Sun Text"/>
                <a:ea typeface="A Day Without Sun Text"/>
                <a:cs typeface="A Day Without Sun Text"/>
                <a:sym typeface="A Day Without Sun Text"/>
              </a:rPr>
              <a:t>Asegúrate de estar en la carpeta de tu proyecto (la que abriste en tu terminal) y ejecuta estos comandos uno por uno:</a:t>
            </a:r>
          </a:p>
          <a:p>
            <a:pPr algn="l">
              <a:lnSpc>
                <a:spcPts val="5600"/>
              </a:lnSpc>
            </a:pP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Inicializa Git en la carpeta</a:t>
            </a:r>
            <a:r>
              <a:rPr lang="en-US" sz="4000">
                <a:solidFill>
                  <a:srgbClr val="000000"/>
                </a:solidFill>
                <a:latin typeface="A Day Without Sun Text"/>
                <a:ea typeface="A Day Without Sun Text"/>
                <a:cs typeface="A Day Without Sun Text"/>
                <a:sym typeface="A Day Without Sun Text"/>
              </a:rPr>
              <a:t>: git init</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Crea un arc</a:t>
            </a:r>
            <a:r>
              <a:rPr lang="en-US" b="true" sz="4000" u="none">
                <a:solidFill>
                  <a:srgbClr val="000000"/>
                </a:solidFill>
                <a:latin typeface="A Day Without Sun Text Bold"/>
                <a:ea typeface="A Day Without Sun Text Bold"/>
                <a:cs typeface="A Day Without Sun Text Bold"/>
                <a:sym typeface="A Day Without Sun Text Bold"/>
              </a:rPr>
              <a:t>h</a:t>
            </a:r>
            <a:r>
              <a:rPr lang="en-US" b="true" sz="4000">
                <a:solidFill>
                  <a:srgbClr val="000000"/>
                </a:solidFill>
                <a:latin typeface="A Day Without Sun Text Bold"/>
                <a:ea typeface="A Day Without Sun Text Bold"/>
                <a:cs typeface="A Day Without Sun Text Bold"/>
                <a:sym typeface="A Day Without Sun Text Bold"/>
              </a:rPr>
              <a:t>iv</a:t>
            </a:r>
            <a:r>
              <a:rPr lang="en-US" b="true" sz="4000" u="none">
                <a:solidFill>
                  <a:srgbClr val="000000"/>
                </a:solidFill>
                <a:latin typeface="A Day Without Sun Text Bold"/>
                <a:ea typeface="A Day Without Sun Text Bold"/>
                <a:cs typeface="A Day Without Sun Text Bold"/>
                <a:sym typeface="A Day Without Sun Text Bold"/>
              </a:rPr>
              <a:t>o</a:t>
            </a:r>
            <a:r>
              <a:rPr lang="en-US" b="true" sz="4000">
                <a:solidFill>
                  <a:srgbClr val="000000"/>
                </a:solidFill>
                <a:latin typeface="A Day Without Sun Text Bold"/>
                <a:ea typeface="A Day Without Sun Text Bold"/>
                <a:cs typeface="A Day Without Sun Text Bold"/>
                <a:sym typeface="A Day Without Sun Text Bold"/>
              </a:rPr>
              <a:t> de prueba</a:t>
            </a:r>
            <a:r>
              <a:rPr lang="en-US" sz="4000">
                <a:solidFill>
                  <a:srgbClr val="000000"/>
                </a:solidFill>
                <a:latin typeface="A Day Without Sun Text"/>
                <a:ea typeface="A Day Without Sun Text"/>
                <a:cs typeface="A Day Without Sun Text"/>
                <a:sym typeface="A Day Without Sun Text"/>
              </a:rPr>
              <a:t> (por ejemplo, puedes crear un archivo llamado </a:t>
            </a:r>
            <a:r>
              <a:rPr lang="en-US" sz="4000" i="true" u="sng">
                <a:solidFill>
                  <a:srgbClr val="000000"/>
                </a:solidFill>
                <a:latin typeface="A Day Without Sun Text Italics"/>
                <a:ea typeface="A Day Without Sun Text Italics"/>
                <a:cs typeface="A Day Without Sun Text Italics"/>
                <a:sym typeface="A Day Without Sun Text Italics"/>
              </a:rPr>
              <a:t>main.py</a:t>
            </a:r>
            <a:r>
              <a:rPr lang="en-US" sz="4000">
                <a:solidFill>
                  <a:srgbClr val="000000"/>
                </a:solidFill>
                <a:latin typeface="A Day Without Sun Text"/>
                <a:ea typeface="A Day Without Sun Text"/>
                <a:cs typeface="A Day Without Sun Text"/>
                <a:sym typeface="A Day Without Sun Text"/>
              </a:rPr>
              <a:t> con cualquier texto adentro, o simplemente cr</a:t>
            </a:r>
            <a:r>
              <a:rPr lang="en-US" sz="4000">
                <a:solidFill>
                  <a:srgbClr val="000000"/>
                </a:solidFill>
                <a:latin typeface="A Day Without Sun Text"/>
                <a:ea typeface="A Day Without Sun Text"/>
                <a:cs typeface="A Day Without Sun Text"/>
                <a:sym typeface="A Day Without Sun Text"/>
              </a:rPr>
              <a:t>earlo desde tu editor/explorador).</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Revisa el estado</a:t>
            </a:r>
            <a:r>
              <a:rPr lang="en-US" sz="4000">
                <a:solidFill>
                  <a:srgbClr val="000000"/>
                </a:solidFill>
                <a:latin typeface="A Day Without Sun Text"/>
                <a:ea typeface="A Day Without Sun Text"/>
                <a:cs typeface="A Day Without Sun Text"/>
                <a:sym typeface="A Day Without Sun Text"/>
              </a:rPr>
              <a:t> para ver que Git detectó el archivo nuevo: </a:t>
            </a:r>
            <a:r>
              <a:rPr lang="en-US" sz="4000">
                <a:solidFill>
                  <a:srgbClr val="000000"/>
                </a:solidFill>
                <a:latin typeface="A Day Without Sun Text"/>
                <a:ea typeface="A Day Without Sun Text"/>
                <a:cs typeface="A Day Without Sun Text"/>
                <a:sym typeface="A Day Without Sun Text"/>
              </a:rPr>
              <a:t>g</a:t>
            </a:r>
            <a:r>
              <a:rPr lang="en-US" sz="4000">
                <a:solidFill>
                  <a:srgbClr val="000000"/>
                </a:solidFill>
                <a:latin typeface="A Day Without Sun Text"/>
                <a:ea typeface="A Day Without Sun Text"/>
                <a:cs typeface="A Day Without Sun Text"/>
                <a:sym typeface="A Day Without Sun Text"/>
              </a:rPr>
              <a:t>it status</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Manda el archivo a la "sala de espera" (Staging Area)</a:t>
            </a:r>
            <a:r>
              <a:rPr lang="en-US" sz="4000">
                <a:solidFill>
                  <a:srgbClr val="000000"/>
                </a:solidFill>
                <a:latin typeface="A Day Without Sun Text"/>
                <a:ea typeface="A Day Without Sun Text"/>
                <a:cs typeface="A Day Without Sun Text"/>
                <a:sym typeface="A Day Without Sun Text"/>
              </a:rPr>
              <a:t>: git add .</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Toma la foto o</a:t>
            </a:r>
            <a:r>
              <a:rPr lang="en-US" b="true" sz="4000">
                <a:solidFill>
                  <a:srgbClr val="000000"/>
                </a:solidFill>
                <a:latin typeface="A Day Without Sun Text Bold"/>
                <a:ea typeface="A Day Without Sun Text Bold"/>
                <a:cs typeface="A Day Without Sun Text Bold"/>
                <a:sym typeface="A Day Without Sun Text Bold"/>
              </a:rPr>
              <a:t>ficial (Commit) con un mensaje descriptivo</a:t>
            </a:r>
            <a:r>
              <a:rPr lang="en-US" sz="4000">
                <a:solidFill>
                  <a:srgbClr val="000000"/>
                </a:solidFill>
                <a:latin typeface="A Day Without Sun Text"/>
                <a:ea typeface="A Day Without Sun Text"/>
                <a:cs typeface="A Day Without Sun Text"/>
                <a:sym typeface="A Day Without Sun Text"/>
              </a:rPr>
              <a:t>: git commit -m "Primer commit: mi archivo inicial de prueba"</a:t>
            </a:r>
          </a:p>
          <a:p>
            <a:pPr algn="l">
              <a:lnSpc>
                <a:spcPts val="5600"/>
              </a:lnSpc>
            </a:pPr>
          </a:p>
          <a:p>
            <a:pPr algn="l">
              <a:lnSpc>
                <a:spcPts val="5600"/>
              </a:lnSpc>
              <a:spcBef>
                <a:spcPct val="0"/>
              </a:spcBef>
            </a:pPr>
            <a:r>
              <a:rPr lang="en-US" sz="4000">
                <a:solidFill>
                  <a:srgbClr val="000000"/>
                </a:solidFill>
                <a:latin typeface="A Day Without Sun Text"/>
                <a:ea typeface="A Day Without Sun Text"/>
                <a:cs typeface="A Day Without Sun Text"/>
                <a:sym typeface="A Day Without Sun Text"/>
              </a:rPr>
              <a:t>Una vez que hagas esto, ya tendrás tu historial guardado localmente.</a:t>
            </a:r>
          </a:p>
        </p:txBody>
      </p:sp>
      <p:sp>
        <p:nvSpPr>
          <p:cNvPr name="TextBox 4" id="4"/>
          <p:cNvSpPr txBox="true"/>
          <p:nvPr/>
        </p:nvSpPr>
        <p:spPr>
          <a:xfrm rot="0">
            <a:off x="5517380" y="156263"/>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
        <p:nvSpPr>
          <p:cNvPr name="Freeform 5" id="5"/>
          <p:cNvSpPr/>
          <p:nvPr/>
        </p:nvSpPr>
        <p:spPr>
          <a:xfrm flipH="false" flipV="false" rot="0">
            <a:off x="11189787" y="18872"/>
            <a:ext cx="1009828" cy="1009828"/>
          </a:xfrm>
          <a:custGeom>
            <a:avLst/>
            <a:gdLst/>
            <a:ahLst/>
            <a:cxnLst/>
            <a:rect r="r" b="b" t="t" l="l"/>
            <a:pathLst>
              <a:path h="1009828" w="1009828">
                <a:moveTo>
                  <a:pt x="0" y="0"/>
                </a:moveTo>
                <a:lnTo>
                  <a:pt x="1009828" y="0"/>
                </a:lnTo>
                <a:lnTo>
                  <a:pt x="1009828" y="1009828"/>
                </a:lnTo>
                <a:lnTo>
                  <a:pt x="0" y="1009828"/>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310127">
            <a:off x="13551729" y="-1820527"/>
            <a:ext cx="5853039" cy="3054222"/>
          </a:xfrm>
          <a:custGeom>
            <a:avLst/>
            <a:gdLst/>
            <a:ahLst/>
            <a:cxnLst/>
            <a:rect r="r" b="b" t="t" l="l"/>
            <a:pathLst>
              <a:path h="3054222" w="5853039">
                <a:moveTo>
                  <a:pt x="0" y="0"/>
                </a:moveTo>
                <a:lnTo>
                  <a:pt x="5853039" y="0"/>
                </a:lnTo>
                <a:lnTo>
                  <a:pt x="5853039" y="3054222"/>
                </a:lnTo>
                <a:lnTo>
                  <a:pt x="0" y="30542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24867" y="1862356"/>
            <a:ext cx="17295031" cy="7032625"/>
          </a:xfrm>
          <a:prstGeom prst="rect">
            <a:avLst/>
          </a:prstGeom>
        </p:spPr>
        <p:txBody>
          <a:bodyPr anchor="t" rtlCol="false" tIns="0" lIns="0" bIns="0" rIns="0">
            <a:spAutoFit/>
          </a:bodyPr>
          <a:lstStyle/>
          <a:p>
            <a:pPr algn="l">
              <a:lnSpc>
                <a:spcPts val="5600"/>
              </a:lnSpc>
            </a:pPr>
            <a:r>
              <a:rPr lang="en-US" sz="4000" b="true">
                <a:solidFill>
                  <a:srgbClr val="000000"/>
                </a:solidFill>
                <a:latin typeface="A Day Without Sun Text Bold"/>
                <a:ea typeface="A Day Without Sun Text Bold"/>
                <a:cs typeface="A Day Without Sun Text Bold"/>
                <a:sym typeface="A Day Without Sun Text Bold"/>
              </a:rPr>
              <a:t>Paso 5: Crear el "contenedor" en GitHub</a:t>
            </a:r>
          </a:p>
          <a:p>
            <a:pPr algn="l">
              <a:lnSpc>
                <a:spcPts val="5600"/>
              </a:lnSpc>
            </a:pP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En</a:t>
            </a:r>
            <a:r>
              <a:rPr lang="en-US" b="true" sz="4000">
                <a:solidFill>
                  <a:srgbClr val="000000"/>
                </a:solidFill>
                <a:latin typeface="A Day Without Sun Text Bold"/>
                <a:ea typeface="A Day Without Sun Text Bold"/>
                <a:cs typeface="A Day Without Sun Text Bold"/>
                <a:sym typeface="A Day Without Sun Text Bold"/>
              </a:rPr>
              <a:t>tra</a:t>
            </a:r>
            <a:r>
              <a:rPr lang="en-US" sz="4000">
                <a:solidFill>
                  <a:srgbClr val="000000"/>
                </a:solidFill>
                <a:latin typeface="A Day Without Sun Text"/>
                <a:ea typeface="A Day Without Sun Text"/>
                <a:cs typeface="A Day Without Sun Text"/>
                <a:sym typeface="A Day Without Sun Text"/>
              </a:rPr>
              <a:t> a </a:t>
            </a:r>
            <a:r>
              <a:rPr lang="en-US" sz="4000" u="sng">
                <a:solidFill>
                  <a:srgbClr val="000000"/>
                </a:solidFill>
                <a:latin typeface="A Day Without Sun Text"/>
                <a:ea typeface="A Day Without Sun Text"/>
                <a:cs typeface="A Day Without Sun Text"/>
                <a:sym typeface="A Day Without Sun Text"/>
                <a:hlinkClick r:id="rId4" tooltip="https://github.com"/>
              </a:rPr>
              <a:t>github.com</a:t>
            </a:r>
            <a:r>
              <a:rPr lang="en-US" sz="4000">
                <a:solidFill>
                  <a:srgbClr val="000000"/>
                </a:solidFill>
                <a:latin typeface="A Day Without Sun Text"/>
                <a:ea typeface="A Day Without Sun Text"/>
                <a:cs typeface="A Day Without Sun Text"/>
                <a:sym typeface="A Day Without Sun Text"/>
              </a:rPr>
              <a:t> e inicia sesión.</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Haz clic</a:t>
            </a:r>
            <a:r>
              <a:rPr lang="en-US" sz="4000">
                <a:solidFill>
                  <a:srgbClr val="000000"/>
                </a:solidFill>
                <a:latin typeface="A Day Without Sun Text"/>
                <a:ea typeface="A Day Without Sun Text"/>
                <a:cs typeface="A Day Without Sun Text"/>
                <a:sym typeface="A Day Without Sun Text"/>
              </a:rPr>
              <a:t> en el botón + (arriba a la derecha) y selecciona "New repository".</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Ponle el mismo </a:t>
            </a:r>
            <a:r>
              <a:rPr lang="en-US" b="true" sz="4000" u="none">
                <a:solidFill>
                  <a:srgbClr val="000000"/>
                </a:solidFill>
                <a:latin typeface="A Day Without Sun Text Bold"/>
                <a:ea typeface="A Day Without Sun Text Bold"/>
                <a:cs typeface="A Day Without Sun Text Bold"/>
                <a:sym typeface="A Day Without Sun Text Bold"/>
              </a:rPr>
              <a:t>n</a:t>
            </a:r>
            <a:r>
              <a:rPr lang="en-US" b="true" sz="4000">
                <a:solidFill>
                  <a:srgbClr val="000000"/>
                </a:solidFill>
                <a:latin typeface="A Day Without Sun Text Bold"/>
                <a:ea typeface="A Day Without Sun Text Bold"/>
                <a:cs typeface="A Day Without Sun Text Bold"/>
                <a:sym typeface="A Day Without Sun Text Bold"/>
              </a:rPr>
              <a:t>ombre</a:t>
            </a:r>
            <a:r>
              <a:rPr lang="en-US" sz="4000">
                <a:solidFill>
                  <a:srgbClr val="000000"/>
                </a:solidFill>
                <a:latin typeface="A Day Without Sun Text"/>
                <a:ea typeface="A Day Without Sun Text"/>
                <a:cs typeface="A Day Without Sun Text"/>
                <a:sym typeface="A Day Without Sun Text"/>
              </a:rPr>
              <a:t> que tiene tu carpeta loc</a:t>
            </a:r>
            <a:r>
              <a:rPr lang="en-US" sz="4000">
                <a:solidFill>
                  <a:srgbClr val="000000"/>
                </a:solidFill>
                <a:latin typeface="A Day Without Sun Text"/>
                <a:ea typeface="A Day Without Sun Text"/>
                <a:cs typeface="A Day Without Sun Text"/>
                <a:sym typeface="A Day Without Sun Text"/>
              </a:rPr>
              <a:t>al (o el que quieras).</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¡IMPO</a:t>
            </a:r>
            <a:r>
              <a:rPr lang="en-US" b="true" sz="4000">
                <a:solidFill>
                  <a:srgbClr val="000000"/>
                </a:solidFill>
                <a:latin typeface="A Day Without Sun Text Bold"/>
                <a:ea typeface="A Day Without Sun Text Bold"/>
                <a:cs typeface="A Day Without Sun Text Bold"/>
                <a:sym typeface="A Day Without Sun Text Bold"/>
              </a:rPr>
              <a:t>RTANTE!</a:t>
            </a:r>
            <a:r>
              <a:rPr lang="en-US" sz="4000">
                <a:solidFill>
                  <a:srgbClr val="000000"/>
                </a:solidFill>
                <a:latin typeface="A Day Without Sun Text"/>
                <a:ea typeface="A Day Without Sun Text"/>
                <a:cs typeface="A Day Without Sun Text"/>
                <a:sym typeface="A Day Without Sun Text"/>
              </a:rPr>
              <a:t> Asegúrate de que el repositorio esté configurado como "Public" (o "Private", como prefieras) y NO marques ninguna de las </a:t>
            </a:r>
            <a:r>
              <a:rPr lang="en-US" sz="4000">
                <a:solidFill>
                  <a:srgbClr val="000000"/>
                </a:solidFill>
                <a:latin typeface="A Day Without Sun Text"/>
                <a:ea typeface="A Day Without Sun Text"/>
                <a:cs typeface="A Day Without Sun Text"/>
                <a:sym typeface="A Day Without Sun Text"/>
              </a:rPr>
              <a:t>casillas (no crees el README, ni el .gitignore, ni la licencia). Queremos que el repositorio esté totalmente vacío al principio.</a:t>
            </a:r>
          </a:p>
          <a:p>
            <a:pPr algn="l" marL="863601" indent="-431801" lvl="1">
              <a:lnSpc>
                <a:spcPts val="5600"/>
              </a:lnSpc>
              <a:buAutoNum type="arabicPeriod" startAt="1"/>
            </a:pPr>
            <a:r>
              <a:rPr lang="en-US" b="true" sz="4000">
                <a:solidFill>
                  <a:srgbClr val="000000"/>
                </a:solidFill>
                <a:latin typeface="A Day Without Sun Text Bold"/>
                <a:ea typeface="A Day Without Sun Text Bold"/>
                <a:cs typeface="A Day Without Sun Text Bold"/>
                <a:sym typeface="A Day Without Sun Text Bold"/>
              </a:rPr>
              <a:t>Haz clic</a:t>
            </a:r>
            <a:r>
              <a:rPr lang="en-US" sz="4000">
                <a:solidFill>
                  <a:srgbClr val="000000"/>
                </a:solidFill>
                <a:latin typeface="A Day Without Sun Text"/>
                <a:ea typeface="A Day Without Sun Text"/>
                <a:cs typeface="A Day Without Sun Text"/>
                <a:sym typeface="A Day Without Sun Text"/>
              </a:rPr>
              <a:t> en "Create repository".</a:t>
            </a:r>
          </a:p>
          <a:p>
            <a:pPr algn="l">
              <a:lnSpc>
                <a:spcPts val="5600"/>
              </a:lnSpc>
              <a:spcBef>
                <a:spcPct val="0"/>
              </a:spcBef>
            </a:pPr>
          </a:p>
        </p:txBody>
      </p:sp>
      <p:sp>
        <p:nvSpPr>
          <p:cNvPr name="TextBox 4" id="4"/>
          <p:cNvSpPr txBox="true"/>
          <p:nvPr/>
        </p:nvSpPr>
        <p:spPr>
          <a:xfrm rot="0">
            <a:off x="5636536" y="708335"/>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
        <p:nvSpPr>
          <p:cNvPr name="Freeform 5" id="5"/>
          <p:cNvSpPr/>
          <p:nvPr/>
        </p:nvSpPr>
        <p:spPr>
          <a:xfrm flipH="false" flipV="false" rot="0">
            <a:off x="11308943" y="576072"/>
            <a:ext cx="1009828" cy="1009828"/>
          </a:xfrm>
          <a:custGeom>
            <a:avLst/>
            <a:gdLst/>
            <a:ahLst/>
            <a:cxnLst/>
            <a:rect r="r" b="b" t="t" l="l"/>
            <a:pathLst>
              <a:path h="1009828" w="1009828">
                <a:moveTo>
                  <a:pt x="0" y="0"/>
                </a:moveTo>
                <a:lnTo>
                  <a:pt x="1009828" y="0"/>
                </a:lnTo>
                <a:lnTo>
                  <a:pt x="1009828" y="1009828"/>
                </a:lnTo>
                <a:lnTo>
                  <a:pt x="0" y="1009828"/>
                </a:lnTo>
                <a:lnTo>
                  <a:pt x="0" y="0"/>
                </a:lnTo>
                <a:close/>
              </a:path>
            </a:pathLst>
          </a:custGeom>
          <a:blipFill>
            <a:blip r:embed="rId5"/>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9189" y="-224270"/>
            <a:ext cx="2923845" cy="3203416"/>
          </a:xfrm>
          <a:custGeom>
            <a:avLst/>
            <a:gdLst/>
            <a:ahLst/>
            <a:cxnLst/>
            <a:rect r="r" b="b" t="t" l="l"/>
            <a:pathLst>
              <a:path h="3203416" w="2923845">
                <a:moveTo>
                  <a:pt x="0" y="0"/>
                </a:moveTo>
                <a:lnTo>
                  <a:pt x="2923846" y="0"/>
                </a:lnTo>
                <a:lnTo>
                  <a:pt x="2923846" y="3203416"/>
                </a:lnTo>
                <a:lnTo>
                  <a:pt x="0" y="3203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317323">
            <a:off x="-980142" y="-874406"/>
            <a:ext cx="2685726" cy="2942528"/>
          </a:xfrm>
          <a:custGeom>
            <a:avLst/>
            <a:gdLst/>
            <a:ahLst/>
            <a:cxnLst/>
            <a:rect r="r" b="b" t="t" l="l"/>
            <a:pathLst>
              <a:path h="2942528" w="2685726">
                <a:moveTo>
                  <a:pt x="0" y="0"/>
                </a:moveTo>
                <a:lnTo>
                  <a:pt x="2685725" y="0"/>
                </a:lnTo>
                <a:lnTo>
                  <a:pt x="2685725" y="2942528"/>
                </a:lnTo>
                <a:lnTo>
                  <a:pt x="0" y="29425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66998" y="8484900"/>
            <a:ext cx="6877631" cy="3851473"/>
          </a:xfrm>
          <a:custGeom>
            <a:avLst/>
            <a:gdLst/>
            <a:ahLst/>
            <a:cxnLst/>
            <a:rect r="r" b="b" t="t" l="l"/>
            <a:pathLst>
              <a:path h="3851473" w="6877631">
                <a:moveTo>
                  <a:pt x="0" y="0"/>
                </a:moveTo>
                <a:lnTo>
                  <a:pt x="6877631" y="0"/>
                </a:lnTo>
                <a:lnTo>
                  <a:pt x="6877631" y="3851474"/>
                </a:lnTo>
                <a:lnTo>
                  <a:pt x="0" y="3851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4175538" y="-1305349"/>
            <a:ext cx="5346982" cy="2790152"/>
          </a:xfrm>
          <a:custGeom>
            <a:avLst/>
            <a:gdLst/>
            <a:ahLst/>
            <a:cxnLst/>
            <a:rect r="r" b="b" t="t" l="l"/>
            <a:pathLst>
              <a:path h="2790152" w="5346982">
                <a:moveTo>
                  <a:pt x="0" y="0"/>
                </a:moveTo>
                <a:lnTo>
                  <a:pt x="5346982" y="0"/>
                </a:lnTo>
                <a:lnTo>
                  <a:pt x="5346982" y="2790152"/>
                </a:lnTo>
                <a:lnTo>
                  <a:pt x="0" y="27901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442383" y="6979621"/>
            <a:ext cx="5948899" cy="3331383"/>
          </a:xfrm>
          <a:custGeom>
            <a:avLst/>
            <a:gdLst/>
            <a:ahLst/>
            <a:cxnLst/>
            <a:rect r="r" b="b" t="t" l="l"/>
            <a:pathLst>
              <a:path h="3331383" w="5948899">
                <a:moveTo>
                  <a:pt x="0" y="0"/>
                </a:moveTo>
                <a:lnTo>
                  <a:pt x="5948899" y="0"/>
                </a:lnTo>
                <a:lnTo>
                  <a:pt x="5948899" y="3331384"/>
                </a:lnTo>
                <a:lnTo>
                  <a:pt x="0" y="3331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62721" y="1362692"/>
            <a:ext cx="17528092" cy="8480776"/>
          </a:xfrm>
          <a:prstGeom prst="rect">
            <a:avLst/>
          </a:prstGeom>
        </p:spPr>
        <p:txBody>
          <a:bodyPr anchor="t" rtlCol="false" tIns="0" lIns="0" bIns="0" rIns="0">
            <a:spAutoFit/>
          </a:bodyPr>
          <a:lstStyle/>
          <a:p>
            <a:pPr algn="l">
              <a:lnSpc>
                <a:spcPts val="6105"/>
              </a:lnSpc>
            </a:pPr>
            <a:r>
              <a:rPr lang="en-US" sz="4361" b="true">
                <a:solidFill>
                  <a:srgbClr val="000000"/>
                </a:solidFill>
                <a:latin typeface="A Day Without Sun Text Bold"/>
                <a:ea typeface="A Day Without Sun Text Bold"/>
                <a:cs typeface="A Day Without Sun Text Bold"/>
                <a:sym typeface="A Day Without Sun Text Bold"/>
              </a:rPr>
              <a:t>Paso 6: Conectar y subir tu código</a:t>
            </a:r>
          </a:p>
          <a:p>
            <a:pPr algn="l">
              <a:lnSpc>
                <a:spcPts val="6105"/>
              </a:lnSpc>
            </a:pPr>
            <a:r>
              <a:rPr lang="en-US" sz="4361">
                <a:solidFill>
                  <a:srgbClr val="000000"/>
                </a:solidFill>
                <a:latin typeface="A Day Without Sun Text"/>
                <a:ea typeface="A Day Without Sun Text"/>
                <a:cs typeface="A Day Without Sun Text"/>
                <a:sym typeface="A Day Without Sun Text"/>
              </a:rPr>
              <a:t>GitHub te mostrará una pantalla con comandos. Copia y pega estos tres en tu terminal, uno por uno:</a:t>
            </a:r>
          </a:p>
          <a:p>
            <a:pPr algn="l">
              <a:lnSpc>
                <a:spcPts val="6105"/>
              </a:lnSpc>
            </a:pP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Vi</a:t>
            </a:r>
            <a:r>
              <a:rPr lang="en-US" b="true" sz="4361">
                <a:solidFill>
                  <a:srgbClr val="000000"/>
                </a:solidFill>
                <a:latin typeface="A Day Without Sun Text Bold"/>
                <a:ea typeface="A Day Without Sun Text Bold"/>
                <a:cs typeface="A Day Without Sun Text Bold"/>
                <a:sym typeface="A Day Without Sun Text Bold"/>
              </a:rPr>
              <a:t>ncula tu carpeta local </a:t>
            </a:r>
            <a:r>
              <a:rPr lang="en-US" b="true" sz="4361" u="none">
                <a:solidFill>
                  <a:srgbClr val="000000"/>
                </a:solidFill>
                <a:latin typeface="A Day Without Sun Text Bold"/>
                <a:ea typeface="A Day Without Sun Text Bold"/>
                <a:cs typeface="A Day Without Sun Text Bold"/>
                <a:sym typeface="A Day Without Sun Text Bold"/>
              </a:rPr>
              <a:t>co</a:t>
            </a:r>
            <a:r>
              <a:rPr lang="en-US" b="true" sz="4361">
                <a:solidFill>
                  <a:srgbClr val="000000"/>
                </a:solidFill>
                <a:latin typeface="A Day Without Sun Text Bold"/>
                <a:ea typeface="A Day Without Sun Text Bold"/>
                <a:cs typeface="A Day Without Sun Text Bold"/>
                <a:sym typeface="A Day Without Sun Text Bold"/>
              </a:rPr>
              <a:t>n el repositorio de la nube:</a:t>
            </a:r>
            <a:r>
              <a:rPr lang="en-US" sz="4361">
                <a:solidFill>
                  <a:srgbClr val="000000"/>
                </a:solidFill>
                <a:latin typeface="A Day Without Sun Text"/>
                <a:ea typeface="A Day Without Sun Text"/>
                <a:cs typeface="A Day Without Sun Text"/>
                <a:sym typeface="A Day Without Sun Text"/>
              </a:rPr>
              <a:t>(Copia la URL q</a:t>
            </a:r>
            <a:r>
              <a:rPr lang="en-US" sz="4361">
                <a:solidFill>
                  <a:srgbClr val="000000"/>
                </a:solidFill>
                <a:latin typeface="A Day Without Sun Text"/>
                <a:ea typeface="A Day Without Sun Text"/>
                <a:cs typeface="A Day Without Sun Text"/>
                <a:sym typeface="A Day Without Sun Text"/>
              </a:rPr>
              <a:t>ue aparece en la pantalla de GitHub de tu nuevo repositorio):                                                                    git remote add origin https://github.com/TU_USUARIO/NOMBRE_DEL_REPO.git</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Renombra tu rama local a main</a:t>
            </a:r>
            <a:r>
              <a:rPr lang="en-US" sz="4361">
                <a:solidFill>
                  <a:srgbClr val="000000"/>
                </a:solidFill>
                <a:latin typeface="A Day Without Sun Text"/>
                <a:ea typeface="A Day Without Sun Text"/>
                <a:cs typeface="A Day Without Sun Text"/>
                <a:sym typeface="A Day Without Sun Text"/>
              </a:rPr>
              <a:t> (para que coincida con el estándar de GitHub):                   git branch -M main</a:t>
            </a:r>
          </a:p>
          <a:p>
            <a:pPr algn="l" marL="941583" indent="-470791" lvl="1">
              <a:lnSpc>
                <a:spcPts val="6105"/>
              </a:lnSpc>
              <a:buAutoNum type="arabicPeriod" startAt="1"/>
            </a:pPr>
            <a:r>
              <a:rPr lang="en-US" b="true" sz="4361">
                <a:solidFill>
                  <a:srgbClr val="000000"/>
                </a:solidFill>
                <a:latin typeface="A Day Without Sun Text Bold"/>
                <a:ea typeface="A Day Without Sun Text Bold"/>
                <a:cs typeface="A Day Without Sun Text Bold"/>
                <a:sym typeface="A Day Without Sun Text Bold"/>
              </a:rPr>
              <a:t>Sube tus archivos a la nube:</a:t>
            </a:r>
            <a:r>
              <a:rPr lang="en-US" sz="4361">
                <a:solidFill>
                  <a:srgbClr val="000000"/>
                </a:solidFill>
                <a:latin typeface="A Day Without Sun Text"/>
                <a:ea typeface="A Day Without Sun Text"/>
                <a:cs typeface="A Day Without Sun Text"/>
                <a:sym typeface="A Day Without Sun Text"/>
              </a:rPr>
              <a:t> git push -u origin main</a:t>
            </a:r>
          </a:p>
          <a:p>
            <a:pPr algn="l">
              <a:lnSpc>
                <a:spcPts val="6105"/>
              </a:lnSpc>
              <a:spcBef>
                <a:spcPct val="0"/>
              </a:spcBef>
            </a:pPr>
          </a:p>
        </p:txBody>
      </p:sp>
      <p:sp>
        <p:nvSpPr>
          <p:cNvPr name="Freeform 7" id="7"/>
          <p:cNvSpPr/>
          <p:nvPr/>
        </p:nvSpPr>
        <p:spPr>
          <a:xfrm flipH="false" flipV="false" rot="0">
            <a:off x="11368521" y="249934"/>
            <a:ext cx="964629" cy="964629"/>
          </a:xfrm>
          <a:custGeom>
            <a:avLst/>
            <a:gdLst/>
            <a:ahLst/>
            <a:cxnLst/>
            <a:rect r="r" b="b" t="t" l="l"/>
            <a:pathLst>
              <a:path h="964629" w="964629">
                <a:moveTo>
                  <a:pt x="0" y="0"/>
                </a:moveTo>
                <a:lnTo>
                  <a:pt x="964629" y="0"/>
                </a:lnTo>
                <a:lnTo>
                  <a:pt x="964629" y="964629"/>
                </a:lnTo>
                <a:lnTo>
                  <a:pt x="0" y="964629"/>
                </a:lnTo>
                <a:lnTo>
                  <a:pt x="0" y="0"/>
                </a:lnTo>
                <a:close/>
              </a:path>
            </a:pathLst>
          </a:custGeom>
          <a:blipFill>
            <a:blip r:embed="rId10"/>
            <a:stretch>
              <a:fillRect l="0" t="0" r="0" b="0"/>
            </a:stretch>
          </a:blipFill>
        </p:spPr>
      </p:sp>
      <p:sp>
        <p:nvSpPr>
          <p:cNvPr name="TextBox 8" id="8"/>
          <p:cNvSpPr txBox="true"/>
          <p:nvPr/>
        </p:nvSpPr>
        <p:spPr>
          <a:xfrm rot="0">
            <a:off x="5696115" y="359597"/>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317323">
            <a:off x="-860986" y="-1035467"/>
            <a:ext cx="2685726" cy="2942528"/>
          </a:xfrm>
          <a:custGeom>
            <a:avLst/>
            <a:gdLst/>
            <a:ahLst/>
            <a:cxnLst/>
            <a:rect r="r" b="b" t="t" l="l"/>
            <a:pathLst>
              <a:path h="2942528" w="2685726">
                <a:moveTo>
                  <a:pt x="0" y="0"/>
                </a:moveTo>
                <a:lnTo>
                  <a:pt x="2685726" y="0"/>
                </a:lnTo>
                <a:lnTo>
                  <a:pt x="2685726" y="2942528"/>
                </a:lnTo>
                <a:lnTo>
                  <a:pt x="0" y="29425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310127">
            <a:off x="14175538" y="-1305349"/>
            <a:ext cx="5346982" cy="2790152"/>
          </a:xfrm>
          <a:custGeom>
            <a:avLst/>
            <a:gdLst/>
            <a:ahLst/>
            <a:cxnLst/>
            <a:rect r="r" b="b" t="t" l="l"/>
            <a:pathLst>
              <a:path h="2790152" w="5346982">
                <a:moveTo>
                  <a:pt x="0" y="0"/>
                </a:moveTo>
                <a:lnTo>
                  <a:pt x="5346982" y="0"/>
                </a:lnTo>
                <a:lnTo>
                  <a:pt x="5346982" y="2790152"/>
                </a:lnTo>
                <a:lnTo>
                  <a:pt x="0" y="2790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764930" y="7720248"/>
            <a:ext cx="4626352" cy="2590757"/>
          </a:xfrm>
          <a:custGeom>
            <a:avLst/>
            <a:gdLst/>
            <a:ahLst/>
            <a:cxnLst/>
            <a:rect r="r" b="b" t="t" l="l"/>
            <a:pathLst>
              <a:path h="2590757" w="4626352">
                <a:moveTo>
                  <a:pt x="0" y="0"/>
                </a:moveTo>
                <a:lnTo>
                  <a:pt x="4626352" y="0"/>
                </a:lnTo>
                <a:lnTo>
                  <a:pt x="4626352" y="2590757"/>
                </a:lnTo>
                <a:lnTo>
                  <a:pt x="0" y="25907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62721" y="923925"/>
            <a:ext cx="17528092" cy="9252301"/>
          </a:xfrm>
          <a:prstGeom prst="rect">
            <a:avLst/>
          </a:prstGeom>
        </p:spPr>
        <p:txBody>
          <a:bodyPr anchor="t" rtlCol="false" tIns="0" lIns="0" bIns="0" rIns="0">
            <a:spAutoFit/>
          </a:bodyPr>
          <a:lstStyle/>
          <a:p>
            <a:pPr algn="l">
              <a:lnSpc>
                <a:spcPts val="6105"/>
              </a:lnSpc>
            </a:pPr>
            <a:r>
              <a:rPr lang="en-US" sz="4361" b="true">
                <a:solidFill>
                  <a:srgbClr val="000000"/>
                </a:solidFill>
                <a:latin typeface="A Day Without Sun Text Bold"/>
                <a:ea typeface="A Day Without Sun Text Bold"/>
                <a:cs typeface="A Day Without Sun Text Bold"/>
                <a:sym typeface="A Day Without Sun Text Bold"/>
              </a:rPr>
              <a:t>¿Qué sucederá ahora?</a:t>
            </a:r>
          </a:p>
          <a:p>
            <a:pPr algn="l">
              <a:lnSpc>
                <a:spcPts val="6105"/>
              </a:lnSpc>
            </a:pPr>
          </a:p>
          <a:p>
            <a:pPr algn="l" marL="941583" indent="-470791" lvl="1">
              <a:lnSpc>
                <a:spcPts val="6105"/>
              </a:lnSpc>
              <a:buFont typeface="Arial"/>
              <a:buChar char="•"/>
            </a:pPr>
            <a:r>
              <a:rPr lang="en-US" sz="4361">
                <a:solidFill>
                  <a:srgbClr val="000000"/>
                </a:solidFill>
                <a:latin typeface="A Day Without Sun Text"/>
                <a:ea typeface="A Day Without Sun Text"/>
                <a:cs typeface="A Day Without Sun Text"/>
                <a:sym typeface="A Day Without Sun Text"/>
              </a:rPr>
              <a:t>Al ejecutar el git push, es muy probable que aparezca una ventana emergente en tu computadora pidiéndote permiso para autorizar a GitHub Desktop o Git para acceder a tu cuenta.</a:t>
            </a:r>
          </a:p>
          <a:p>
            <a:pPr algn="l" marL="941583" indent="-470791" lvl="1">
              <a:lnSpc>
                <a:spcPts val="6105"/>
              </a:lnSpc>
              <a:buFont typeface="Arial"/>
              <a:buChar char="•"/>
            </a:pPr>
            <a:r>
              <a:rPr lang="en-US" sz="4361">
                <a:solidFill>
                  <a:srgbClr val="000000"/>
                </a:solidFill>
                <a:latin typeface="A Day Without Sun Text"/>
                <a:ea typeface="A Day Without Sun Text"/>
                <a:cs typeface="A Day Without Sun Text"/>
                <a:sym typeface="A Day Without Sun Text"/>
              </a:rPr>
              <a:t>Dale a "Sign in with your browser" (o autenticación vía navegador).</a:t>
            </a:r>
          </a:p>
          <a:p>
            <a:pPr algn="l" marL="941583" indent="-470791" lvl="1">
              <a:lnSpc>
                <a:spcPts val="6105"/>
              </a:lnSpc>
              <a:buFont typeface="Arial"/>
              <a:buChar char="•"/>
            </a:pPr>
            <a:r>
              <a:rPr lang="en-US" sz="4361">
                <a:solidFill>
                  <a:srgbClr val="000000"/>
                </a:solidFill>
                <a:latin typeface="A Day Without Sun Text"/>
                <a:ea typeface="A Day Without Sun Text"/>
                <a:cs typeface="A Day Without Sun Text"/>
                <a:sym typeface="A Day Without Sun Text"/>
              </a:rPr>
              <a:t>Una vez que autorices, el código subirá automáticamente.</a:t>
            </a:r>
          </a:p>
          <a:p>
            <a:pPr algn="l">
              <a:lnSpc>
                <a:spcPts val="6105"/>
              </a:lnSpc>
            </a:pPr>
            <a:r>
              <a:rPr lang="en-US" sz="4361">
                <a:solidFill>
                  <a:srgbClr val="000000"/>
                </a:solidFill>
                <a:latin typeface="A Day Without Sun Text"/>
                <a:ea typeface="A Day Without Sun Text"/>
                <a:cs typeface="A Day Without Sun Text"/>
                <a:sym typeface="A Day Without Sun Text"/>
              </a:rPr>
              <a:t>Cuando termine de cargar, refresca la página de GitHub en tu navegador y verás tu archivo ahí.</a:t>
            </a:r>
          </a:p>
          <a:p>
            <a:pPr algn="l">
              <a:lnSpc>
                <a:spcPts val="6105"/>
              </a:lnSpc>
            </a:pPr>
          </a:p>
          <a:p>
            <a:pPr algn="l">
              <a:lnSpc>
                <a:spcPts val="6105"/>
              </a:lnSpc>
            </a:pPr>
            <a:r>
              <a:rPr lang="en-US" sz="4361" b="true">
                <a:solidFill>
                  <a:srgbClr val="000000"/>
                </a:solidFill>
                <a:latin typeface="A Day Without Sun Text Bold"/>
                <a:ea typeface="A Day Without Sun Text Bold"/>
                <a:cs typeface="A Day Without Sun Text Bold"/>
                <a:sym typeface="A Day Without Sun Text Bold"/>
              </a:rPr>
              <a:t>¡Importante!</a:t>
            </a:r>
            <a:r>
              <a:rPr lang="en-US" sz="4361">
                <a:solidFill>
                  <a:srgbClr val="000000"/>
                </a:solidFill>
                <a:latin typeface="A Day Without Sun Text"/>
                <a:ea typeface="A Day Without Sun Text"/>
                <a:cs typeface="A Day Without Sun Text"/>
                <a:sym typeface="A Day Without Sun Text"/>
              </a:rPr>
              <a:t>: Para que Git use </a:t>
            </a:r>
            <a:r>
              <a:rPr lang="en-US" sz="4361" i="true">
                <a:solidFill>
                  <a:srgbClr val="000000"/>
                </a:solidFill>
                <a:latin typeface="A Day Without Sun Text Italics"/>
                <a:ea typeface="A Day Without Sun Text Italics"/>
                <a:cs typeface="A Day Without Sun Text Italics"/>
                <a:sym typeface="A Day Without Sun Text Italics"/>
              </a:rPr>
              <a:t>main</a:t>
            </a:r>
            <a:r>
              <a:rPr lang="en-US" sz="4361">
                <a:solidFill>
                  <a:srgbClr val="000000"/>
                </a:solidFill>
                <a:latin typeface="A Day Without Sun Text"/>
                <a:ea typeface="A Day Without Sun Text"/>
                <a:cs typeface="A Day Without Sun Text"/>
                <a:sym typeface="A Day Without Sun Text"/>
              </a:rPr>
              <a:t> por defecto en TODOS tus futuros proyectos...</a:t>
            </a:r>
          </a:p>
          <a:p>
            <a:pPr algn="l">
              <a:lnSpc>
                <a:spcPts val="6105"/>
              </a:lnSpc>
            </a:pPr>
            <a:r>
              <a:rPr lang="en-US" sz="4361" u="sng">
                <a:solidFill>
                  <a:srgbClr val="000000"/>
                </a:solidFill>
                <a:latin typeface="A Day Without Sun Text"/>
                <a:ea typeface="A Day Without Sun Text"/>
                <a:cs typeface="A Day Without Sun Text"/>
                <a:sym typeface="A Day Without Sun Text"/>
              </a:rPr>
              <a:t>Ejecuta</a:t>
            </a:r>
            <a:r>
              <a:rPr lang="en-US" sz="4361">
                <a:solidFill>
                  <a:srgbClr val="000000"/>
                </a:solidFill>
                <a:latin typeface="A Day Without Sun Text"/>
                <a:ea typeface="A Day Without Sun Text"/>
                <a:cs typeface="A Day Without Sun Text"/>
                <a:sym typeface="A Day Without Sun Text"/>
              </a:rPr>
              <a:t>: git config --global init.defaultBranch main      </a:t>
            </a:r>
          </a:p>
          <a:p>
            <a:pPr algn="l">
              <a:lnSpc>
                <a:spcPts val="6105"/>
              </a:lnSpc>
              <a:spcBef>
                <a:spcPct val="0"/>
              </a:spcBef>
            </a:pPr>
            <a:r>
              <a:rPr lang="en-US" sz="4361" u="sng">
                <a:solidFill>
                  <a:srgbClr val="000000"/>
                </a:solidFill>
                <a:latin typeface="A Day Without Sun Text"/>
                <a:ea typeface="A Day Without Sun Text"/>
                <a:cs typeface="A Day Without Sun Text"/>
                <a:sym typeface="A Day Without Sun Text"/>
              </a:rPr>
              <a:t>Posteriormente ejecuta</a:t>
            </a:r>
            <a:r>
              <a:rPr lang="en-US" sz="4361">
                <a:solidFill>
                  <a:srgbClr val="000000"/>
                </a:solidFill>
                <a:latin typeface="A Day Without Sun Text"/>
                <a:ea typeface="A Day Without Sun Text"/>
                <a:cs typeface="A Day Without Sun Text"/>
                <a:sym typeface="A Day Without Sun Text"/>
              </a:rPr>
              <a:t>: git branch</a:t>
            </a:r>
          </a:p>
        </p:txBody>
      </p:sp>
      <p:sp>
        <p:nvSpPr>
          <p:cNvPr name="TextBox 6" id="6"/>
          <p:cNvSpPr txBox="true"/>
          <p:nvPr/>
        </p:nvSpPr>
        <p:spPr>
          <a:xfrm rot="0">
            <a:off x="5696115" y="359597"/>
            <a:ext cx="567240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INTRODUCCIÓN</a:t>
            </a:r>
            <a:r>
              <a:rPr lang="en-US" b="true" sz="3910">
                <a:solidFill>
                  <a:srgbClr val="000000"/>
                </a:solidFill>
                <a:latin typeface="A Day Without Sun Text Bold"/>
                <a:ea typeface="A Day Without Sun Text Bold"/>
                <a:cs typeface="A Day Without Sun Text Bold"/>
                <a:sym typeface="A Day Without Sun Text Bold"/>
              </a:rPr>
              <a:t> A GIT Y GITHUB</a:t>
            </a:r>
          </a:p>
        </p:txBody>
      </p:sp>
      <p:sp>
        <p:nvSpPr>
          <p:cNvPr name="Freeform 7" id="7"/>
          <p:cNvSpPr/>
          <p:nvPr/>
        </p:nvSpPr>
        <p:spPr>
          <a:xfrm flipH="false" flipV="false" rot="0">
            <a:off x="11229506" y="227334"/>
            <a:ext cx="1009828" cy="1009828"/>
          </a:xfrm>
          <a:custGeom>
            <a:avLst/>
            <a:gdLst/>
            <a:ahLst/>
            <a:cxnLst/>
            <a:rect r="r" b="b" t="t" l="l"/>
            <a:pathLst>
              <a:path h="1009828" w="1009828">
                <a:moveTo>
                  <a:pt x="0" y="0"/>
                </a:moveTo>
                <a:lnTo>
                  <a:pt x="1009827" y="0"/>
                </a:lnTo>
                <a:lnTo>
                  <a:pt x="1009827" y="1009828"/>
                </a:lnTo>
                <a:lnTo>
                  <a:pt x="0" y="1009828"/>
                </a:lnTo>
                <a:lnTo>
                  <a:pt x="0" y="0"/>
                </a:lnTo>
                <a:close/>
              </a:path>
            </a:pathLst>
          </a:custGeom>
          <a:blipFill>
            <a:blip r:embed="rId8"/>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79977" y="2209386"/>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2988977" y="5257206"/>
            <a:ext cx="5120602" cy="5120602"/>
          </a:xfrm>
          <a:custGeom>
            <a:avLst/>
            <a:gdLst/>
            <a:ahLst/>
            <a:cxnLst/>
            <a:rect r="r" b="b" t="t" l="l"/>
            <a:pathLst>
              <a:path h="5120602" w="5120602">
                <a:moveTo>
                  <a:pt x="0" y="0"/>
                </a:moveTo>
                <a:lnTo>
                  <a:pt x="5120601" y="0"/>
                </a:lnTo>
                <a:lnTo>
                  <a:pt x="5120601" y="5120602"/>
                </a:lnTo>
                <a:lnTo>
                  <a:pt x="0" y="5120602"/>
                </a:lnTo>
                <a:lnTo>
                  <a:pt x="0" y="0"/>
                </a:lnTo>
                <a:close/>
              </a:path>
            </a:pathLst>
          </a:custGeom>
          <a:blipFill>
            <a:blip r:embed="rId10"/>
            <a:stretch>
              <a:fillRect l="0" t="0" r="0" b="0"/>
            </a:stretch>
          </a:blipFill>
        </p:spPr>
      </p:sp>
      <p:sp>
        <p:nvSpPr>
          <p:cNvPr name="TextBox 10" id="10"/>
          <p:cNvSpPr txBox="true"/>
          <p:nvPr/>
        </p:nvSpPr>
        <p:spPr>
          <a:xfrm rot="0">
            <a:off x="5343242" y="2368367"/>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11" id="11"/>
          <p:cNvSpPr txBox="true"/>
          <p:nvPr/>
        </p:nvSpPr>
        <p:spPr>
          <a:xfrm rot="0">
            <a:off x="4279977" y="219269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11</a:t>
            </a:r>
          </a:p>
        </p:txBody>
      </p:sp>
      <p:sp>
        <p:nvSpPr>
          <p:cNvPr name="TextBox 12" id="12"/>
          <p:cNvSpPr txBox="true"/>
          <p:nvPr/>
        </p:nvSpPr>
        <p:spPr>
          <a:xfrm rot="0">
            <a:off x="1992505" y="4248526"/>
            <a:ext cx="6485781"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1: EL SALUDO PERSONALIZADO</a:t>
            </a:r>
          </a:p>
        </p:txBody>
      </p:sp>
      <p:sp>
        <p:nvSpPr>
          <p:cNvPr name="TextBox 13" id="13"/>
          <p:cNvSpPr txBox="true"/>
          <p:nvPr/>
        </p:nvSpPr>
        <p:spPr>
          <a:xfrm rot="0">
            <a:off x="1992505" y="5216009"/>
            <a:ext cx="4151114"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2: ¿PAR O IMPAR?</a:t>
            </a:r>
          </a:p>
        </p:txBody>
      </p:sp>
      <p:sp>
        <p:nvSpPr>
          <p:cNvPr name="TextBox 14" id="14"/>
          <p:cNvSpPr txBox="true"/>
          <p:nvPr/>
        </p:nvSpPr>
        <p:spPr>
          <a:xfrm rot="0">
            <a:off x="1992505" y="6185416"/>
            <a:ext cx="11811298"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3: LA CUENTA DEL RESTAURANTE (CALCULADORA DE PROPINAS)</a:t>
            </a:r>
          </a:p>
        </p:txBody>
      </p:sp>
      <p:sp>
        <p:nvSpPr>
          <p:cNvPr name="TextBox 15" id="15"/>
          <p:cNvSpPr txBox="true"/>
          <p:nvPr/>
        </p:nvSpPr>
        <p:spPr>
          <a:xfrm rot="0">
            <a:off x="2051950" y="7154824"/>
            <a:ext cx="6735068"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4: ADIVINA EL NÚMERO SECRETO</a:t>
            </a:r>
          </a:p>
        </p:txBody>
      </p:sp>
      <p:sp>
        <p:nvSpPr>
          <p:cNvPr name="TextBox 16" id="16"/>
          <p:cNvSpPr txBox="true"/>
          <p:nvPr/>
        </p:nvSpPr>
        <p:spPr>
          <a:xfrm rot="0">
            <a:off x="1992505" y="8189871"/>
            <a:ext cx="6279803"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5: EL CONTADOR DE VOCALES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2933621"/>
            <a:ext cx="18288000" cy="7218509"/>
          </a:xfrm>
          <a:custGeom>
            <a:avLst/>
            <a:gdLst/>
            <a:ahLst/>
            <a:cxnLst/>
            <a:rect r="r" b="b" t="t" l="l"/>
            <a:pathLst>
              <a:path h="7218509" w="18288000">
                <a:moveTo>
                  <a:pt x="0" y="0"/>
                </a:moveTo>
                <a:lnTo>
                  <a:pt x="18288000" y="0"/>
                </a:lnTo>
                <a:lnTo>
                  <a:pt x="18288000" y="7218509"/>
                </a:lnTo>
                <a:lnTo>
                  <a:pt x="0" y="7218509"/>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5901110" y="1289951"/>
            <a:ext cx="6485781"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1: EL SALUDO PERSONALIZADO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971867"/>
            <a:ext cx="15227391" cy="9315133"/>
          </a:xfrm>
          <a:custGeom>
            <a:avLst/>
            <a:gdLst/>
            <a:ahLst/>
            <a:cxnLst/>
            <a:rect r="r" b="b" t="t" l="l"/>
            <a:pathLst>
              <a:path h="9315133" w="15227391">
                <a:moveTo>
                  <a:pt x="0" y="0"/>
                </a:moveTo>
                <a:lnTo>
                  <a:pt x="15227391" y="0"/>
                </a:lnTo>
                <a:lnTo>
                  <a:pt x="15227391" y="9315133"/>
                </a:lnTo>
                <a:lnTo>
                  <a:pt x="0" y="9315133"/>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7068443" y="1289951"/>
            <a:ext cx="4151114"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2: ¿PAR O IMPAR?</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1097416"/>
            <a:ext cx="18288000" cy="9213589"/>
          </a:xfrm>
          <a:custGeom>
            <a:avLst/>
            <a:gdLst/>
            <a:ahLst/>
            <a:cxnLst/>
            <a:rect r="r" b="b" t="t" l="l"/>
            <a:pathLst>
              <a:path h="9213589" w="18288000">
                <a:moveTo>
                  <a:pt x="0" y="0"/>
                </a:moveTo>
                <a:lnTo>
                  <a:pt x="18288000" y="0"/>
                </a:lnTo>
                <a:lnTo>
                  <a:pt x="18288000" y="9213589"/>
                </a:lnTo>
                <a:lnTo>
                  <a:pt x="0" y="9213589"/>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5863084" y="1289951"/>
            <a:ext cx="6561832"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3: LA CUENTA DEL RESTAURANTE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337207"/>
            <a:ext cx="18288000" cy="9949793"/>
          </a:xfrm>
          <a:custGeom>
            <a:avLst/>
            <a:gdLst/>
            <a:ahLst/>
            <a:cxnLst/>
            <a:rect r="r" b="b" t="t" l="l"/>
            <a:pathLst>
              <a:path h="9949793" w="18288000">
                <a:moveTo>
                  <a:pt x="0" y="0"/>
                </a:moveTo>
                <a:lnTo>
                  <a:pt x="18288000" y="0"/>
                </a:lnTo>
                <a:lnTo>
                  <a:pt x="18288000" y="9949793"/>
                </a:lnTo>
                <a:lnTo>
                  <a:pt x="0" y="9949793"/>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5776466" y="1289951"/>
            <a:ext cx="6735068"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4: ADIVINA EL NÚMERO SECRETO</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1324232"/>
            <a:ext cx="18288000" cy="8962768"/>
          </a:xfrm>
          <a:custGeom>
            <a:avLst/>
            <a:gdLst/>
            <a:ahLst/>
            <a:cxnLst/>
            <a:rect r="r" b="b" t="t" l="l"/>
            <a:pathLst>
              <a:path h="8962768" w="18288000">
                <a:moveTo>
                  <a:pt x="0" y="0"/>
                </a:moveTo>
                <a:lnTo>
                  <a:pt x="18288000" y="0"/>
                </a:lnTo>
                <a:lnTo>
                  <a:pt x="18288000" y="8962768"/>
                </a:lnTo>
                <a:lnTo>
                  <a:pt x="0" y="8962768"/>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6004099" y="1289951"/>
            <a:ext cx="6279803"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5: EL CONTADOR DE VOCALES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28990" y="4080310"/>
            <a:ext cx="13230019" cy="1888256"/>
          </a:xfrm>
          <a:prstGeom prst="rect">
            <a:avLst/>
          </a:prstGeom>
        </p:spPr>
        <p:txBody>
          <a:bodyPr anchor="t" rtlCol="false" tIns="0" lIns="0" bIns="0" rIns="0">
            <a:spAutoFit/>
          </a:bodyPr>
          <a:lstStyle/>
          <a:p>
            <a:pPr algn="ctr">
              <a:lnSpc>
                <a:spcPts val="15207"/>
              </a:lnSpc>
            </a:pPr>
            <a:r>
              <a:rPr lang="en-US" sz="10862">
                <a:solidFill>
                  <a:srgbClr val="3B4BBB"/>
                </a:solidFill>
                <a:latin typeface="A Day Without Sun Text"/>
                <a:ea typeface="A Day Without Sun Text"/>
                <a:cs typeface="A Day Without Sun Text"/>
                <a:sym typeface="A Day Without Sun Text"/>
              </a:rPr>
              <a:t>¿QUE APRENDIMOS HOY?</a:t>
            </a:r>
          </a:p>
        </p:txBody>
      </p:sp>
      <p:sp>
        <p:nvSpPr>
          <p:cNvPr name="Freeform 3" id="3"/>
          <p:cNvSpPr/>
          <p:nvPr/>
        </p:nvSpPr>
        <p:spPr>
          <a:xfrm flipH="false" flipV="false" rot="0">
            <a:off x="-134651" y="-180143"/>
            <a:ext cx="5168775" cy="5663001"/>
          </a:xfrm>
          <a:custGeom>
            <a:avLst/>
            <a:gdLst/>
            <a:ahLst/>
            <a:cxnLst/>
            <a:rect r="r" b="b" t="t" l="l"/>
            <a:pathLst>
              <a:path h="5663001" w="5168775">
                <a:moveTo>
                  <a:pt x="0" y="0"/>
                </a:moveTo>
                <a:lnTo>
                  <a:pt x="5168775" y="0"/>
                </a:lnTo>
                <a:lnTo>
                  <a:pt x="5168775" y="5663000"/>
                </a:lnTo>
                <a:lnTo>
                  <a:pt x="0" y="56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6803185"/>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166785" y="-485379"/>
            <a:ext cx="5121215" cy="3771077"/>
          </a:xfrm>
          <a:custGeom>
            <a:avLst/>
            <a:gdLst/>
            <a:ahLst/>
            <a:cxnLst/>
            <a:rect r="r" b="b" t="t" l="l"/>
            <a:pathLst>
              <a:path h="3771077" w="5121215">
                <a:moveTo>
                  <a:pt x="0" y="0"/>
                </a:moveTo>
                <a:lnTo>
                  <a:pt x="5121215" y="0"/>
                </a:lnTo>
                <a:lnTo>
                  <a:pt x="5121215" y="3771076"/>
                </a:lnTo>
                <a:lnTo>
                  <a:pt x="0" y="37710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266217">
            <a:off x="5556980" y="-1060729"/>
            <a:ext cx="7315200" cy="3165487"/>
          </a:xfrm>
          <a:custGeom>
            <a:avLst/>
            <a:gdLst/>
            <a:ahLst/>
            <a:cxnLst/>
            <a:rect r="r" b="b" t="t" l="l"/>
            <a:pathLst>
              <a:path h="3165487" w="7315200">
                <a:moveTo>
                  <a:pt x="0" y="0"/>
                </a:moveTo>
                <a:lnTo>
                  <a:pt x="7315200" y="0"/>
                </a:lnTo>
                <a:lnTo>
                  <a:pt x="7315200" y="3165487"/>
                </a:lnTo>
                <a:lnTo>
                  <a:pt x="0" y="3165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05739">
            <a:off x="6416724" y="7692852"/>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DAHSG0Fu_No</dc:identifier>
  <dcterms:modified xsi:type="dcterms:W3CDTF">2011-08-01T06:04:30Z</dcterms:modified>
  <cp:revision>1</cp:revision>
  <dc:title>Copia de Copia de Presentacion de Proyecto Trabajo Plan de Marketing Creativo Organico Moderno Azul </dc:title>
</cp:coreProperties>
</file>