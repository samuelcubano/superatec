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18288000" cy="10287000"/>
  <p:notesSz cx="6858000" cy="9144000"/>
  <p:embeddedFontLst>
    <p:embeddedFont>
      <p:font typeface="Pompiere" charset="1" panose="02000000000000000000"/>
      <p:regular r:id="rId31"/>
    </p:embeddedFont>
    <p:embeddedFont>
      <p:font typeface="A Day Without Sun Text Bold" charset="1" panose="02000506000000090004"/>
      <p:regular r:id="rId32"/>
    </p:embeddedFont>
    <p:embeddedFont>
      <p:font typeface="A Day Without Sun Text" charset="1" panose="02000506000000090004"/>
      <p:regular r:id="rId33"/>
    </p:embeddedFont>
    <p:embeddedFont>
      <p:font typeface="Telegraf Bold" charset="1" panose="00000800000000000000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11" Target="../media/image21.pn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11" Target="../media/image25.pn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4442528" cy="4867312"/>
          </a:xfrm>
          <a:custGeom>
            <a:avLst/>
            <a:gdLst/>
            <a:ahLst/>
            <a:cxnLst/>
            <a:rect r="r" b="b" t="t" l="l"/>
            <a:pathLst>
              <a:path h="4867312" w="4442528">
                <a:moveTo>
                  <a:pt x="0" y="0"/>
                </a:moveTo>
                <a:lnTo>
                  <a:pt x="4442528" y="0"/>
                </a:lnTo>
                <a:lnTo>
                  <a:pt x="4442528" y="4867312"/>
                </a:lnTo>
                <a:lnTo>
                  <a:pt x="0" y="4867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127318" y="6803185"/>
            <a:ext cx="6263964" cy="3507820"/>
          </a:xfrm>
          <a:custGeom>
            <a:avLst/>
            <a:gdLst/>
            <a:ahLst/>
            <a:cxnLst/>
            <a:rect r="r" b="b" t="t" l="l"/>
            <a:pathLst>
              <a:path h="3507820" w="6263964">
                <a:moveTo>
                  <a:pt x="0" y="0"/>
                </a:moveTo>
                <a:lnTo>
                  <a:pt x="6263964" y="0"/>
                </a:lnTo>
                <a:lnTo>
                  <a:pt x="6263964" y="3507820"/>
                </a:lnTo>
                <a:lnTo>
                  <a:pt x="0" y="35078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6803185"/>
            <a:ext cx="6221098" cy="3483815"/>
          </a:xfrm>
          <a:custGeom>
            <a:avLst/>
            <a:gdLst/>
            <a:ahLst/>
            <a:cxnLst/>
            <a:rect r="r" b="b" t="t" l="l"/>
            <a:pathLst>
              <a:path h="3483815" w="6221098">
                <a:moveTo>
                  <a:pt x="0" y="0"/>
                </a:moveTo>
                <a:lnTo>
                  <a:pt x="6221098" y="0"/>
                </a:lnTo>
                <a:lnTo>
                  <a:pt x="6221098" y="3483815"/>
                </a:lnTo>
                <a:lnTo>
                  <a:pt x="0" y="34838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166785" y="-81427"/>
            <a:ext cx="5121215" cy="3771077"/>
          </a:xfrm>
          <a:custGeom>
            <a:avLst/>
            <a:gdLst/>
            <a:ahLst/>
            <a:cxnLst/>
            <a:rect r="r" b="b" t="t" l="l"/>
            <a:pathLst>
              <a:path h="3771077" w="5121215">
                <a:moveTo>
                  <a:pt x="0" y="0"/>
                </a:moveTo>
                <a:lnTo>
                  <a:pt x="5121215" y="0"/>
                </a:lnTo>
                <a:lnTo>
                  <a:pt x="5121215" y="3771077"/>
                </a:lnTo>
                <a:lnTo>
                  <a:pt x="0" y="37710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0266217">
            <a:off x="5556980" y="-1060729"/>
            <a:ext cx="7315200" cy="3165487"/>
          </a:xfrm>
          <a:custGeom>
            <a:avLst/>
            <a:gdLst/>
            <a:ahLst/>
            <a:cxnLst/>
            <a:rect r="r" b="b" t="t" l="l"/>
            <a:pathLst>
              <a:path h="3165487" w="7315200">
                <a:moveTo>
                  <a:pt x="0" y="0"/>
                </a:moveTo>
                <a:lnTo>
                  <a:pt x="7315200" y="0"/>
                </a:lnTo>
                <a:lnTo>
                  <a:pt x="7315200" y="3165487"/>
                </a:lnTo>
                <a:lnTo>
                  <a:pt x="0" y="316548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05739">
            <a:off x="6416724" y="7692852"/>
            <a:ext cx="6775868" cy="4114800"/>
          </a:xfrm>
          <a:custGeom>
            <a:avLst/>
            <a:gdLst/>
            <a:ahLst/>
            <a:cxnLst/>
            <a:rect r="r" b="b" t="t" l="l"/>
            <a:pathLst>
              <a:path h="4114800" w="6775868">
                <a:moveTo>
                  <a:pt x="0" y="0"/>
                </a:moveTo>
                <a:lnTo>
                  <a:pt x="6775868" y="0"/>
                </a:lnTo>
                <a:lnTo>
                  <a:pt x="67758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208943" y="1730718"/>
            <a:ext cx="7870114" cy="30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10"/>
              </a:lnSpc>
            </a:pPr>
            <a:r>
              <a:rPr lang="en-US" sz="17507">
                <a:solidFill>
                  <a:srgbClr val="000000"/>
                </a:solidFill>
                <a:latin typeface="Pompiere"/>
                <a:ea typeface="Pompiere"/>
                <a:cs typeface="Pompiere"/>
                <a:sym typeface="Pompiere"/>
              </a:rPr>
              <a:t>CURSO  DE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32481" y="3015679"/>
            <a:ext cx="9623038" cy="4645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64"/>
              </a:lnSpc>
            </a:pPr>
            <a:r>
              <a:rPr lang="en-US" b="true" sz="26831">
                <a:solidFill>
                  <a:srgbClr val="000000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PYTHON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3167398" y="5624103"/>
            <a:ext cx="5120602" cy="5120602"/>
          </a:xfrm>
          <a:custGeom>
            <a:avLst/>
            <a:gdLst/>
            <a:ahLst/>
            <a:cxnLst/>
            <a:rect r="r" b="b" t="t" l="l"/>
            <a:pathLst>
              <a:path h="5120602" w="5120602">
                <a:moveTo>
                  <a:pt x="0" y="0"/>
                </a:moveTo>
                <a:lnTo>
                  <a:pt x="5120602" y="0"/>
                </a:lnTo>
                <a:lnTo>
                  <a:pt x="5120602" y="5120602"/>
                </a:lnTo>
                <a:lnTo>
                  <a:pt x="0" y="512060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128992" y="6958479"/>
            <a:ext cx="2030016" cy="712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0"/>
              </a:lnSpc>
            </a:pPr>
            <a:r>
              <a:rPr lang="en-US" sz="4185">
                <a:solidFill>
                  <a:srgbClr val="000000"/>
                </a:solidFill>
                <a:latin typeface="Pompiere"/>
                <a:ea typeface="Pompiere"/>
                <a:cs typeface="Pompiere"/>
                <a:sym typeface="Pompiere"/>
              </a:rPr>
              <a:t>SUPERATEC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578870" y="1727912"/>
            <a:ext cx="1130259" cy="576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5"/>
              </a:lnSpc>
            </a:pPr>
            <a:r>
              <a:rPr lang="en-US" sz="3289">
                <a:solidFill>
                  <a:srgbClr val="000000"/>
                </a:solidFill>
                <a:latin typeface="Pompiere"/>
                <a:ea typeface="Pompiere"/>
                <a:cs typeface="Pompiere"/>
                <a:sym typeface="Pompiere"/>
              </a:rPr>
              <a:t>CLASE V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007021">
            <a:off x="12622351" y="6816928"/>
            <a:ext cx="7783365" cy="4358685"/>
          </a:xfrm>
          <a:custGeom>
            <a:avLst/>
            <a:gdLst/>
            <a:ahLst/>
            <a:cxnLst/>
            <a:rect r="r" b="b" t="t" l="l"/>
            <a:pathLst>
              <a:path h="4358685" w="7783365">
                <a:moveTo>
                  <a:pt x="0" y="0"/>
                </a:moveTo>
                <a:lnTo>
                  <a:pt x="7783365" y="0"/>
                </a:lnTo>
                <a:lnTo>
                  <a:pt x="7783365" y="4358684"/>
                </a:lnTo>
                <a:lnTo>
                  <a:pt x="0" y="43586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87569" y="-789600"/>
            <a:ext cx="4442528" cy="4867312"/>
          </a:xfrm>
          <a:custGeom>
            <a:avLst/>
            <a:gdLst/>
            <a:ahLst/>
            <a:cxnLst/>
            <a:rect r="r" b="b" t="t" l="l"/>
            <a:pathLst>
              <a:path h="4867312" w="4442528">
                <a:moveTo>
                  <a:pt x="0" y="0"/>
                </a:moveTo>
                <a:lnTo>
                  <a:pt x="4442528" y="0"/>
                </a:lnTo>
                <a:lnTo>
                  <a:pt x="4442528" y="4867311"/>
                </a:lnTo>
                <a:lnTo>
                  <a:pt x="0" y="48673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301756">
            <a:off x="-1476855" y="8545092"/>
            <a:ext cx="6221098" cy="3483815"/>
          </a:xfrm>
          <a:custGeom>
            <a:avLst/>
            <a:gdLst/>
            <a:ahLst/>
            <a:cxnLst/>
            <a:rect r="r" b="b" t="t" l="l"/>
            <a:pathLst>
              <a:path h="3483815" w="6221098">
                <a:moveTo>
                  <a:pt x="0" y="0"/>
                </a:moveTo>
                <a:lnTo>
                  <a:pt x="6221099" y="0"/>
                </a:lnTo>
                <a:lnTo>
                  <a:pt x="6221099" y="3483816"/>
                </a:lnTo>
                <a:lnTo>
                  <a:pt x="0" y="34838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7310127">
            <a:off x="11263284" y="-2460977"/>
            <a:ext cx="9597730" cy="5008270"/>
          </a:xfrm>
          <a:custGeom>
            <a:avLst/>
            <a:gdLst/>
            <a:ahLst/>
            <a:cxnLst/>
            <a:rect r="r" b="b" t="t" l="l"/>
            <a:pathLst>
              <a:path h="5008270" w="9597730">
                <a:moveTo>
                  <a:pt x="0" y="0"/>
                </a:moveTo>
                <a:lnTo>
                  <a:pt x="9597730" y="0"/>
                </a:lnTo>
                <a:lnTo>
                  <a:pt x="9597730" y="5008270"/>
                </a:lnTo>
                <a:lnTo>
                  <a:pt x="0" y="50082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293774" y="1269524"/>
            <a:ext cx="6571651" cy="872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000000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RESUMEN</a:t>
            </a:r>
            <a:r>
              <a:rPr lang="en-US" b="true" sz="5000">
                <a:solidFill>
                  <a:srgbClr val="000000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 DE CLASE ANTERIOR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11867" y="2285754"/>
            <a:ext cx="13660248" cy="599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6"/>
              </a:lnSpc>
            </a:pPr>
            <a:r>
              <a:rPr lang="en-US" sz="5697">
                <a:solidFill>
                  <a:srgbClr val="000000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1- ¿Qué es Git?</a:t>
            </a:r>
          </a:p>
          <a:p>
            <a:pPr algn="l">
              <a:lnSpc>
                <a:spcPts val="7976"/>
              </a:lnSpc>
            </a:pPr>
            <a:r>
              <a:rPr lang="en-US" sz="5697">
                <a:solidFill>
                  <a:srgbClr val="000000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2- ¿Qué es Github?</a:t>
            </a:r>
          </a:p>
          <a:p>
            <a:pPr algn="l">
              <a:lnSpc>
                <a:spcPts val="7976"/>
              </a:lnSpc>
            </a:pPr>
            <a:r>
              <a:rPr lang="en-US" sz="5697">
                <a:solidFill>
                  <a:srgbClr val="000000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3- Listas [ ] e índices</a:t>
            </a:r>
          </a:p>
          <a:p>
            <a:pPr algn="l">
              <a:lnSpc>
                <a:spcPts val="7976"/>
              </a:lnSpc>
            </a:pPr>
            <a:r>
              <a:rPr lang="en-US" sz="5697">
                <a:solidFill>
                  <a:srgbClr val="000000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4- Métodos principales de las listas ( append, pop, len)</a:t>
            </a:r>
          </a:p>
          <a:p>
            <a:pPr algn="l">
              <a:lnSpc>
                <a:spcPts val="7976"/>
              </a:lnSpc>
              <a:spcBef>
                <a:spcPct val="0"/>
              </a:spcBef>
            </a:pPr>
            <a:r>
              <a:rPr lang="en-US" sz="5697">
                <a:solidFill>
                  <a:srgbClr val="000000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5- Introducción a Git y Github ( Repositorios, git add, git commit y git push ) &lt;---- Alojamiento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007021">
            <a:off x="12622351" y="6816928"/>
            <a:ext cx="7783365" cy="4358685"/>
          </a:xfrm>
          <a:custGeom>
            <a:avLst/>
            <a:gdLst/>
            <a:ahLst/>
            <a:cxnLst/>
            <a:rect r="r" b="b" t="t" l="l"/>
            <a:pathLst>
              <a:path h="4358685" w="7783365">
                <a:moveTo>
                  <a:pt x="0" y="0"/>
                </a:moveTo>
                <a:lnTo>
                  <a:pt x="7783365" y="0"/>
                </a:lnTo>
                <a:lnTo>
                  <a:pt x="7783365" y="4358684"/>
                </a:lnTo>
                <a:lnTo>
                  <a:pt x="0" y="43586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854959" y="2801949"/>
            <a:ext cx="10160820" cy="2892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2"/>
              </a:lnSpc>
              <a:spcBef>
                <a:spcPct val="0"/>
              </a:spcBef>
            </a:pPr>
            <a:r>
              <a:rPr lang="en-US" sz="5501">
                <a:solidFill>
                  <a:srgbClr val="000000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¿Cuáles son los comandos básicos de git para hacer un commit y alojar nuestro código en github?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587569" y="-789600"/>
            <a:ext cx="4442528" cy="4867312"/>
          </a:xfrm>
          <a:custGeom>
            <a:avLst/>
            <a:gdLst/>
            <a:ahLst/>
            <a:cxnLst/>
            <a:rect r="r" b="b" t="t" l="l"/>
            <a:pathLst>
              <a:path h="4867312" w="4442528">
                <a:moveTo>
                  <a:pt x="0" y="0"/>
                </a:moveTo>
                <a:lnTo>
                  <a:pt x="4442528" y="0"/>
                </a:lnTo>
                <a:lnTo>
                  <a:pt x="4442528" y="4867311"/>
                </a:lnTo>
                <a:lnTo>
                  <a:pt x="0" y="48673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301756">
            <a:off x="-1476855" y="8545092"/>
            <a:ext cx="6221098" cy="3483815"/>
          </a:xfrm>
          <a:custGeom>
            <a:avLst/>
            <a:gdLst/>
            <a:ahLst/>
            <a:cxnLst/>
            <a:rect r="r" b="b" t="t" l="l"/>
            <a:pathLst>
              <a:path h="3483815" w="6221098">
                <a:moveTo>
                  <a:pt x="0" y="0"/>
                </a:moveTo>
                <a:lnTo>
                  <a:pt x="6221099" y="0"/>
                </a:lnTo>
                <a:lnTo>
                  <a:pt x="6221099" y="3483816"/>
                </a:lnTo>
                <a:lnTo>
                  <a:pt x="0" y="34838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7310127">
            <a:off x="11256058" y="-1370536"/>
            <a:ext cx="9597730" cy="5008270"/>
          </a:xfrm>
          <a:custGeom>
            <a:avLst/>
            <a:gdLst/>
            <a:ahLst/>
            <a:cxnLst/>
            <a:rect r="r" b="b" t="t" l="l"/>
            <a:pathLst>
              <a:path h="5008270" w="9597730">
                <a:moveTo>
                  <a:pt x="0" y="0"/>
                </a:moveTo>
                <a:lnTo>
                  <a:pt x="9597730" y="0"/>
                </a:lnTo>
                <a:lnTo>
                  <a:pt x="9597730" y="5008270"/>
                </a:lnTo>
                <a:lnTo>
                  <a:pt x="0" y="50082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437268" y="1269524"/>
            <a:ext cx="6284664" cy="872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000000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REPASO DE CLASE ANTERIOR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007021">
            <a:off x="12622351" y="6816928"/>
            <a:ext cx="7783365" cy="4358685"/>
          </a:xfrm>
          <a:custGeom>
            <a:avLst/>
            <a:gdLst/>
            <a:ahLst/>
            <a:cxnLst/>
            <a:rect r="r" b="b" t="t" l="l"/>
            <a:pathLst>
              <a:path h="4358685" w="7783365">
                <a:moveTo>
                  <a:pt x="0" y="0"/>
                </a:moveTo>
                <a:lnTo>
                  <a:pt x="7783365" y="0"/>
                </a:lnTo>
                <a:lnTo>
                  <a:pt x="7783365" y="4358684"/>
                </a:lnTo>
                <a:lnTo>
                  <a:pt x="0" y="43586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33695" y="2817040"/>
            <a:ext cx="13660248" cy="3985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6"/>
              </a:lnSpc>
            </a:pPr>
            <a:r>
              <a:rPr lang="en-US" sz="5697">
                <a:solidFill>
                  <a:srgbClr val="000000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1- Diccionarios ( estructuras por clave valor { } )</a:t>
            </a:r>
          </a:p>
          <a:p>
            <a:pPr algn="l">
              <a:lnSpc>
                <a:spcPts val="7976"/>
              </a:lnSpc>
            </a:pPr>
            <a:r>
              <a:rPr lang="en-US" sz="5697">
                <a:solidFill>
                  <a:srgbClr val="000000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2- Funciones ( )</a:t>
            </a:r>
          </a:p>
          <a:p>
            <a:pPr algn="l">
              <a:lnSpc>
                <a:spcPts val="7976"/>
              </a:lnSpc>
            </a:pPr>
            <a:r>
              <a:rPr lang="en-US" sz="5697">
                <a:solidFill>
                  <a:srgbClr val="000000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3- Creación de funciones propias ( def )</a:t>
            </a:r>
          </a:p>
          <a:p>
            <a:pPr algn="l">
              <a:lnSpc>
                <a:spcPts val="7976"/>
              </a:lnSpc>
              <a:spcBef>
                <a:spcPct val="0"/>
              </a:spcBef>
            </a:pPr>
            <a:r>
              <a:rPr lang="en-US" sz="5697">
                <a:solidFill>
                  <a:srgbClr val="000000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4- Parametros y retorno de valores ( return )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587569" y="-789600"/>
            <a:ext cx="4442528" cy="4867312"/>
          </a:xfrm>
          <a:custGeom>
            <a:avLst/>
            <a:gdLst/>
            <a:ahLst/>
            <a:cxnLst/>
            <a:rect r="r" b="b" t="t" l="l"/>
            <a:pathLst>
              <a:path h="4867312" w="4442528">
                <a:moveTo>
                  <a:pt x="0" y="0"/>
                </a:moveTo>
                <a:lnTo>
                  <a:pt x="4442528" y="0"/>
                </a:lnTo>
                <a:lnTo>
                  <a:pt x="4442528" y="4867311"/>
                </a:lnTo>
                <a:lnTo>
                  <a:pt x="0" y="48673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301756">
            <a:off x="-1476855" y="8545092"/>
            <a:ext cx="6221098" cy="3483815"/>
          </a:xfrm>
          <a:custGeom>
            <a:avLst/>
            <a:gdLst/>
            <a:ahLst/>
            <a:cxnLst/>
            <a:rect r="r" b="b" t="t" l="l"/>
            <a:pathLst>
              <a:path h="3483815" w="6221098">
                <a:moveTo>
                  <a:pt x="0" y="0"/>
                </a:moveTo>
                <a:lnTo>
                  <a:pt x="6221099" y="0"/>
                </a:lnTo>
                <a:lnTo>
                  <a:pt x="6221099" y="3483816"/>
                </a:lnTo>
                <a:lnTo>
                  <a:pt x="0" y="34838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7310127">
            <a:off x="11256058" y="-1370536"/>
            <a:ext cx="9597730" cy="5008270"/>
          </a:xfrm>
          <a:custGeom>
            <a:avLst/>
            <a:gdLst/>
            <a:ahLst/>
            <a:cxnLst/>
            <a:rect r="r" b="b" t="t" l="l"/>
            <a:pathLst>
              <a:path h="5008270" w="9597730">
                <a:moveTo>
                  <a:pt x="0" y="0"/>
                </a:moveTo>
                <a:lnTo>
                  <a:pt x="9597730" y="0"/>
                </a:lnTo>
                <a:lnTo>
                  <a:pt x="9597730" y="5008270"/>
                </a:lnTo>
                <a:lnTo>
                  <a:pt x="0" y="50082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499702" y="1269524"/>
            <a:ext cx="8159797" cy="872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000000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PUNTOS A TRATAR EN EL DIA DE HOY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956048" y="282419"/>
            <a:ext cx="1063265" cy="1063265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B4BB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758059" y="7504390"/>
            <a:ext cx="6263964" cy="3507820"/>
          </a:xfrm>
          <a:custGeom>
            <a:avLst/>
            <a:gdLst/>
            <a:ahLst/>
            <a:cxnLst/>
            <a:rect r="r" b="b" t="t" l="l"/>
            <a:pathLst>
              <a:path h="3507820" w="6263964">
                <a:moveTo>
                  <a:pt x="0" y="0"/>
                </a:moveTo>
                <a:lnTo>
                  <a:pt x="6263964" y="0"/>
                </a:lnTo>
                <a:lnTo>
                  <a:pt x="6263964" y="3507820"/>
                </a:lnTo>
                <a:lnTo>
                  <a:pt x="0" y="35078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055321" y="-1495779"/>
            <a:ext cx="4442528" cy="4867312"/>
          </a:xfrm>
          <a:custGeom>
            <a:avLst/>
            <a:gdLst/>
            <a:ahLst/>
            <a:cxnLst/>
            <a:rect r="r" b="b" t="t" l="l"/>
            <a:pathLst>
              <a:path h="4867312" w="4442528">
                <a:moveTo>
                  <a:pt x="0" y="0"/>
                </a:moveTo>
                <a:lnTo>
                  <a:pt x="4442528" y="0"/>
                </a:lnTo>
                <a:lnTo>
                  <a:pt x="4442528" y="4867311"/>
                </a:lnTo>
                <a:lnTo>
                  <a:pt x="0" y="48673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301756">
            <a:off x="-914593" y="8451872"/>
            <a:ext cx="6221098" cy="3483815"/>
          </a:xfrm>
          <a:custGeom>
            <a:avLst/>
            <a:gdLst/>
            <a:ahLst/>
            <a:cxnLst/>
            <a:rect r="r" b="b" t="t" l="l"/>
            <a:pathLst>
              <a:path h="3483815" w="6221098">
                <a:moveTo>
                  <a:pt x="0" y="0"/>
                </a:moveTo>
                <a:lnTo>
                  <a:pt x="6221098" y="0"/>
                </a:lnTo>
                <a:lnTo>
                  <a:pt x="6221098" y="3483815"/>
                </a:lnTo>
                <a:lnTo>
                  <a:pt x="0" y="34838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7310127">
            <a:off x="13347506" y="-1686064"/>
            <a:ext cx="6299021" cy="3286944"/>
          </a:xfrm>
          <a:custGeom>
            <a:avLst/>
            <a:gdLst/>
            <a:ahLst/>
            <a:cxnLst/>
            <a:rect r="r" b="b" t="t" l="l"/>
            <a:pathLst>
              <a:path h="3286944" w="6299021">
                <a:moveTo>
                  <a:pt x="0" y="0"/>
                </a:moveTo>
                <a:lnTo>
                  <a:pt x="6299020" y="0"/>
                </a:lnTo>
                <a:lnTo>
                  <a:pt x="6299020" y="3286943"/>
                </a:lnTo>
                <a:lnTo>
                  <a:pt x="0" y="328694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447234" y="6160846"/>
            <a:ext cx="7169659" cy="4032933"/>
          </a:xfrm>
          <a:custGeom>
            <a:avLst/>
            <a:gdLst/>
            <a:ahLst/>
            <a:cxnLst/>
            <a:rect r="r" b="b" t="t" l="l"/>
            <a:pathLst>
              <a:path h="4032933" w="7169659">
                <a:moveTo>
                  <a:pt x="0" y="0"/>
                </a:moveTo>
                <a:lnTo>
                  <a:pt x="7169659" y="0"/>
                </a:lnTo>
                <a:lnTo>
                  <a:pt x="7169659" y="4032933"/>
                </a:lnTo>
                <a:lnTo>
                  <a:pt x="0" y="403293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  <p:sp>
        <p:nvSpPr>
          <p:cNvPr name="TextBox 10" id="10"/>
          <p:cNvSpPr txBox="true"/>
          <p:nvPr/>
        </p:nvSpPr>
        <p:spPr>
          <a:xfrm rot="0">
            <a:off x="6019313" y="303829"/>
            <a:ext cx="6709922" cy="872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000000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¿QUÉ ES UN DICCIONARIO?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956048" y="265729"/>
            <a:ext cx="1063265" cy="944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36265" y="1393309"/>
            <a:ext cx="14212754" cy="4646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320"/>
              </a:lnSpc>
              <a:spcBef>
                <a:spcPct val="0"/>
              </a:spcBef>
            </a:pPr>
            <a:r>
              <a:rPr lang="en-US" sz="3800">
                <a:solidFill>
                  <a:srgbClr val="000000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UN DICCIONARIO EN PYTHON ES COMO UN SISTEMA DE ETIQUETAS PERSONALIZADO DONDE GUARDAS INFORMACIÓN USANDO PAREJAS DE CLAVE Y VALOR DENTRO DE LLAVES {}. IMAGINA QUE ES COMO LA AGENDA DE TU TELÉFONO: EN VEZ DE BUSCAR POR UN NÚMERO DE POSICIÓN COMO EN LAS LISTAS, USAS UNA "CLAVE" ÚNICA (COMO "NOMBRE" O "NIVEL") PARA CONSULTAR O MODIFICAR DIRECTAMENTE SU "VALOR" ASOCIADO, PERMITIÉNDOTE ORGANIZAR DATOS DEL MUNDO REAL DE FORMA RÁPIDA, LIMPIA Y SIN ENREDOS.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55321" y="-1495779"/>
            <a:ext cx="4442528" cy="4867312"/>
          </a:xfrm>
          <a:custGeom>
            <a:avLst/>
            <a:gdLst/>
            <a:ahLst/>
            <a:cxnLst/>
            <a:rect r="r" b="b" t="t" l="l"/>
            <a:pathLst>
              <a:path h="4867312" w="4442528">
                <a:moveTo>
                  <a:pt x="0" y="0"/>
                </a:moveTo>
                <a:lnTo>
                  <a:pt x="4442528" y="0"/>
                </a:lnTo>
                <a:lnTo>
                  <a:pt x="4442528" y="4867311"/>
                </a:lnTo>
                <a:lnTo>
                  <a:pt x="0" y="48673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7310127">
            <a:off x="12246678" y="-1379687"/>
            <a:ext cx="7315200" cy="3817204"/>
          </a:xfrm>
          <a:custGeom>
            <a:avLst/>
            <a:gdLst/>
            <a:ahLst/>
            <a:cxnLst/>
            <a:rect r="r" b="b" t="t" l="l"/>
            <a:pathLst>
              <a:path h="3817204" w="7315200">
                <a:moveTo>
                  <a:pt x="0" y="0"/>
                </a:moveTo>
                <a:lnTo>
                  <a:pt x="7315200" y="0"/>
                </a:lnTo>
                <a:lnTo>
                  <a:pt x="7315200" y="3817204"/>
                </a:lnTo>
                <a:lnTo>
                  <a:pt x="0" y="38172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301756">
            <a:off x="-914593" y="8451872"/>
            <a:ext cx="6221098" cy="3483815"/>
          </a:xfrm>
          <a:custGeom>
            <a:avLst/>
            <a:gdLst/>
            <a:ahLst/>
            <a:cxnLst/>
            <a:rect r="r" b="b" t="t" l="l"/>
            <a:pathLst>
              <a:path h="3483815" w="6221098">
                <a:moveTo>
                  <a:pt x="0" y="0"/>
                </a:moveTo>
                <a:lnTo>
                  <a:pt x="6221098" y="0"/>
                </a:lnTo>
                <a:lnTo>
                  <a:pt x="6221098" y="3483815"/>
                </a:lnTo>
                <a:lnTo>
                  <a:pt x="0" y="34838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58059" y="7504390"/>
            <a:ext cx="6263964" cy="3507820"/>
          </a:xfrm>
          <a:custGeom>
            <a:avLst/>
            <a:gdLst/>
            <a:ahLst/>
            <a:cxnLst/>
            <a:rect r="r" b="b" t="t" l="l"/>
            <a:pathLst>
              <a:path h="3507820" w="6263964">
                <a:moveTo>
                  <a:pt x="0" y="0"/>
                </a:moveTo>
                <a:lnTo>
                  <a:pt x="6263964" y="0"/>
                </a:lnTo>
                <a:lnTo>
                  <a:pt x="6263964" y="3507820"/>
                </a:lnTo>
                <a:lnTo>
                  <a:pt x="0" y="35078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-12868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5628274" y="101145"/>
            <a:ext cx="1063265" cy="106326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B4BBB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691539" y="65411"/>
            <a:ext cx="6392172" cy="872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000000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EJEMPLO DE DICCIONARIOS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628274" y="84455"/>
            <a:ext cx="1063265" cy="944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2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748665" y="282419"/>
            <a:ext cx="1063265" cy="1063265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B4BB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758059" y="7504390"/>
            <a:ext cx="6263964" cy="3507820"/>
          </a:xfrm>
          <a:custGeom>
            <a:avLst/>
            <a:gdLst/>
            <a:ahLst/>
            <a:cxnLst/>
            <a:rect r="r" b="b" t="t" l="l"/>
            <a:pathLst>
              <a:path h="3507820" w="6263964">
                <a:moveTo>
                  <a:pt x="0" y="0"/>
                </a:moveTo>
                <a:lnTo>
                  <a:pt x="6263964" y="0"/>
                </a:lnTo>
                <a:lnTo>
                  <a:pt x="6263964" y="3507820"/>
                </a:lnTo>
                <a:lnTo>
                  <a:pt x="0" y="35078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055321" y="-1495779"/>
            <a:ext cx="4442528" cy="4867312"/>
          </a:xfrm>
          <a:custGeom>
            <a:avLst/>
            <a:gdLst/>
            <a:ahLst/>
            <a:cxnLst/>
            <a:rect r="r" b="b" t="t" l="l"/>
            <a:pathLst>
              <a:path h="4867312" w="4442528">
                <a:moveTo>
                  <a:pt x="0" y="0"/>
                </a:moveTo>
                <a:lnTo>
                  <a:pt x="4442528" y="0"/>
                </a:lnTo>
                <a:lnTo>
                  <a:pt x="4442528" y="4867311"/>
                </a:lnTo>
                <a:lnTo>
                  <a:pt x="0" y="48673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301756">
            <a:off x="-914593" y="8451872"/>
            <a:ext cx="6221098" cy="3483815"/>
          </a:xfrm>
          <a:custGeom>
            <a:avLst/>
            <a:gdLst/>
            <a:ahLst/>
            <a:cxnLst/>
            <a:rect r="r" b="b" t="t" l="l"/>
            <a:pathLst>
              <a:path h="3483815" w="6221098">
                <a:moveTo>
                  <a:pt x="0" y="0"/>
                </a:moveTo>
                <a:lnTo>
                  <a:pt x="6221098" y="0"/>
                </a:lnTo>
                <a:lnTo>
                  <a:pt x="6221098" y="3483815"/>
                </a:lnTo>
                <a:lnTo>
                  <a:pt x="0" y="34838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7310127">
            <a:off x="13347506" y="-1686064"/>
            <a:ext cx="6299021" cy="3286944"/>
          </a:xfrm>
          <a:custGeom>
            <a:avLst/>
            <a:gdLst/>
            <a:ahLst/>
            <a:cxnLst/>
            <a:rect r="r" b="b" t="t" l="l"/>
            <a:pathLst>
              <a:path h="3286944" w="6299021">
                <a:moveTo>
                  <a:pt x="0" y="0"/>
                </a:moveTo>
                <a:lnTo>
                  <a:pt x="6299020" y="0"/>
                </a:lnTo>
                <a:lnTo>
                  <a:pt x="6299020" y="3286943"/>
                </a:lnTo>
                <a:lnTo>
                  <a:pt x="0" y="328694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785420" y="4527967"/>
            <a:ext cx="8717161" cy="4576509"/>
          </a:xfrm>
          <a:custGeom>
            <a:avLst/>
            <a:gdLst/>
            <a:ahLst/>
            <a:cxnLst/>
            <a:rect r="r" b="b" t="t" l="l"/>
            <a:pathLst>
              <a:path h="4576509" w="8717161">
                <a:moveTo>
                  <a:pt x="0" y="0"/>
                </a:moveTo>
                <a:lnTo>
                  <a:pt x="8717160" y="0"/>
                </a:lnTo>
                <a:lnTo>
                  <a:pt x="8717160" y="4576510"/>
                </a:lnTo>
                <a:lnTo>
                  <a:pt x="0" y="457651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  <p:sp>
        <p:nvSpPr>
          <p:cNvPr name="TextBox 10" id="10"/>
          <p:cNvSpPr txBox="true"/>
          <p:nvPr/>
        </p:nvSpPr>
        <p:spPr>
          <a:xfrm rot="0">
            <a:off x="7811930" y="303829"/>
            <a:ext cx="3124687" cy="872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000000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FUNCIONES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748665" y="265729"/>
            <a:ext cx="1063265" cy="944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36265" y="1393309"/>
            <a:ext cx="14212754" cy="2646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320"/>
              </a:lnSpc>
              <a:spcBef>
                <a:spcPct val="0"/>
              </a:spcBef>
            </a:pPr>
            <a:r>
              <a:rPr lang="en-US" sz="3800">
                <a:solidFill>
                  <a:srgbClr val="000000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UNA FUNCIÓN EN PYTHON ES UN BLOQUE DE CÓDIGO REUTILIZABLE QUE REALIZA UNA TAREA ESPECÍFICA. IMAGINA QUE ES COMO UNA MINI-MÁQUINA O UNA HERRAMIENTA: TÚ LE METES UNOS DATOS DE ENTRADA (OPCIONALMENTE), ELLA HACE UN TRABAJO INTERNO Y TE DEVUELVE UN RESULTADO, O EJECUTA UNA ACCIÓN.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898180" y="242700"/>
            <a:ext cx="1063265" cy="1063265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B4BB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758059" y="7504390"/>
            <a:ext cx="6263964" cy="3507820"/>
          </a:xfrm>
          <a:custGeom>
            <a:avLst/>
            <a:gdLst/>
            <a:ahLst/>
            <a:cxnLst/>
            <a:rect r="r" b="b" t="t" l="l"/>
            <a:pathLst>
              <a:path h="3507820" w="6263964">
                <a:moveTo>
                  <a:pt x="0" y="0"/>
                </a:moveTo>
                <a:lnTo>
                  <a:pt x="6263964" y="0"/>
                </a:lnTo>
                <a:lnTo>
                  <a:pt x="6263964" y="3507820"/>
                </a:lnTo>
                <a:lnTo>
                  <a:pt x="0" y="35078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055321" y="-1495779"/>
            <a:ext cx="4442528" cy="4867312"/>
          </a:xfrm>
          <a:custGeom>
            <a:avLst/>
            <a:gdLst/>
            <a:ahLst/>
            <a:cxnLst/>
            <a:rect r="r" b="b" t="t" l="l"/>
            <a:pathLst>
              <a:path h="4867312" w="4442528">
                <a:moveTo>
                  <a:pt x="0" y="0"/>
                </a:moveTo>
                <a:lnTo>
                  <a:pt x="4442528" y="0"/>
                </a:lnTo>
                <a:lnTo>
                  <a:pt x="4442528" y="4867311"/>
                </a:lnTo>
                <a:lnTo>
                  <a:pt x="0" y="48673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301756">
            <a:off x="-914593" y="8451872"/>
            <a:ext cx="6221098" cy="3483815"/>
          </a:xfrm>
          <a:custGeom>
            <a:avLst/>
            <a:gdLst/>
            <a:ahLst/>
            <a:cxnLst/>
            <a:rect r="r" b="b" t="t" l="l"/>
            <a:pathLst>
              <a:path h="3483815" w="6221098">
                <a:moveTo>
                  <a:pt x="0" y="0"/>
                </a:moveTo>
                <a:lnTo>
                  <a:pt x="6221098" y="0"/>
                </a:lnTo>
                <a:lnTo>
                  <a:pt x="6221098" y="3483815"/>
                </a:lnTo>
                <a:lnTo>
                  <a:pt x="0" y="34838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7310127">
            <a:off x="13347506" y="-1686064"/>
            <a:ext cx="6299021" cy="3286944"/>
          </a:xfrm>
          <a:custGeom>
            <a:avLst/>
            <a:gdLst/>
            <a:ahLst/>
            <a:cxnLst/>
            <a:rect r="r" b="b" t="t" l="l"/>
            <a:pathLst>
              <a:path h="3286944" w="6299021">
                <a:moveTo>
                  <a:pt x="0" y="0"/>
                </a:moveTo>
                <a:lnTo>
                  <a:pt x="6299020" y="0"/>
                </a:lnTo>
                <a:lnTo>
                  <a:pt x="6299020" y="3286943"/>
                </a:lnTo>
                <a:lnTo>
                  <a:pt x="0" y="328694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279561" y="4551179"/>
            <a:ext cx="9728879" cy="5474267"/>
          </a:xfrm>
          <a:custGeom>
            <a:avLst/>
            <a:gdLst/>
            <a:ahLst/>
            <a:cxnLst/>
            <a:rect r="r" b="b" t="t" l="l"/>
            <a:pathLst>
              <a:path h="5474267" w="9728879">
                <a:moveTo>
                  <a:pt x="0" y="0"/>
                </a:moveTo>
                <a:lnTo>
                  <a:pt x="9728878" y="0"/>
                </a:lnTo>
                <a:lnTo>
                  <a:pt x="9728878" y="5474267"/>
                </a:lnTo>
                <a:lnTo>
                  <a:pt x="0" y="547426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  <p:sp>
        <p:nvSpPr>
          <p:cNvPr name="TextBox 10" id="10"/>
          <p:cNvSpPr txBox="true"/>
          <p:nvPr/>
        </p:nvSpPr>
        <p:spPr>
          <a:xfrm rot="0">
            <a:off x="6961445" y="264110"/>
            <a:ext cx="5428374" cy="872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000000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FUNCIONES INTEGRADAS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898180" y="226010"/>
            <a:ext cx="1063265" cy="944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36265" y="1393309"/>
            <a:ext cx="14212754" cy="2646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320"/>
              </a:lnSpc>
              <a:spcBef>
                <a:spcPct val="0"/>
              </a:spcBef>
            </a:pPr>
            <a:r>
              <a:rPr lang="en-US" sz="3800">
                <a:solidFill>
                  <a:srgbClr val="000000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LAS FUNCIONES INTERNAS (TAMBIÉN CONOCIDAS COMO BUILT-IN FUNCTIONS O FUNCIONES INTEGRADAS) SON AQUELLAS QUE YA VIENEN PREINSTALADAS EN PYTHON. NO NECESITAS IMPORTAR NINGUNA LIBRERÍA NI CREARLAS TÚ MISMO; ESTÁN LISTAS PARA USARSE DESDE EL PRIMER MOMENTO EN CUALQUIER SCRIPT.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631617" y="285293"/>
            <a:ext cx="1063265" cy="1063265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B4BB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758059" y="7504390"/>
            <a:ext cx="6263964" cy="3507820"/>
          </a:xfrm>
          <a:custGeom>
            <a:avLst/>
            <a:gdLst/>
            <a:ahLst/>
            <a:cxnLst/>
            <a:rect r="r" b="b" t="t" l="l"/>
            <a:pathLst>
              <a:path h="3507820" w="6263964">
                <a:moveTo>
                  <a:pt x="0" y="0"/>
                </a:moveTo>
                <a:lnTo>
                  <a:pt x="6263964" y="0"/>
                </a:lnTo>
                <a:lnTo>
                  <a:pt x="6263964" y="3507820"/>
                </a:lnTo>
                <a:lnTo>
                  <a:pt x="0" y="35078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055321" y="-1495779"/>
            <a:ext cx="4442528" cy="4867312"/>
          </a:xfrm>
          <a:custGeom>
            <a:avLst/>
            <a:gdLst/>
            <a:ahLst/>
            <a:cxnLst/>
            <a:rect r="r" b="b" t="t" l="l"/>
            <a:pathLst>
              <a:path h="4867312" w="4442528">
                <a:moveTo>
                  <a:pt x="0" y="0"/>
                </a:moveTo>
                <a:lnTo>
                  <a:pt x="4442528" y="0"/>
                </a:lnTo>
                <a:lnTo>
                  <a:pt x="4442528" y="4867311"/>
                </a:lnTo>
                <a:lnTo>
                  <a:pt x="0" y="48673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301756">
            <a:off x="-914593" y="8451872"/>
            <a:ext cx="6221098" cy="3483815"/>
          </a:xfrm>
          <a:custGeom>
            <a:avLst/>
            <a:gdLst/>
            <a:ahLst/>
            <a:cxnLst/>
            <a:rect r="r" b="b" t="t" l="l"/>
            <a:pathLst>
              <a:path h="3483815" w="6221098">
                <a:moveTo>
                  <a:pt x="0" y="0"/>
                </a:moveTo>
                <a:lnTo>
                  <a:pt x="6221098" y="0"/>
                </a:lnTo>
                <a:lnTo>
                  <a:pt x="6221098" y="3483815"/>
                </a:lnTo>
                <a:lnTo>
                  <a:pt x="0" y="34838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7310127">
            <a:off x="13610114" y="-1643472"/>
            <a:ext cx="6299021" cy="3286944"/>
          </a:xfrm>
          <a:custGeom>
            <a:avLst/>
            <a:gdLst/>
            <a:ahLst/>
            <a:cxnLst/>
            <a:rect r="r" b="b" t="t" l="l"/>
            <a:pathLst>
              <a:path h="3286944" w="6299021">
                <a:moveTo>
                  <a:pt x="0" y="0"/>
                </a:moveTo>
                <a:lnTo>
                  <a:pt x="6299021" y="0"/>
                </a:lnTo>
                <a:lnTo>
                  <a:pt x="6299021" y="3286944"/>
                </a:lnTo>
                <a:lnTo>
                  <a:pt x="0" y="32869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694882" y="306703"/>
            <a:ext cx="7573187" cy="872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000000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ALGUNAS FUNCIONES INTEGRADAS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631617" y="268603"/>
            <a:ext cx="1063265" cy="944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5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27864" y="1922272"/>
            <a:ext cx="15695538" cy="6366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54"/>
              </a:lnSpc>
            </a:pPr>
            <a:r>
              <a:rPr lang="en-US" b="true" sz="3610">
                <a:solidFill>
                  <a:srgbClr val="000000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1. ENTRADA Y SALIDA</a:t>
            </a:r>
          </a:p>
          <a:p>
            <a:pPr algn="l" marL="779400" indent="-389700" lvl="1">
              <a:lnSpc>
                <a:spcPts val="5054"/>
              </a:lnSpc>
              <a:buFont typeface="Arial"/>
              <a:buChar char="•"/>
            </a:pPr>
            <a:r>
              <a:rPr lang="en-US" b="true" sz="3610">
                <a:solidFill>
                  <a:srgbClr val="000000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PRINT(OBJETO): MUESTRA TEXTO O RESULTADOS EN LA PANTALLA.</a:t>
            </a:r>
          </a:p>
          <a:p>
            <a:pPr algn="l" marL="779400" indent="-389700" lvl="1">
              <a:lnSpc>
                <a:spcPts val="5054"/>
              </a:lnSpc>
              <a:buFont typeface="Arial"/>
              <a:buChar char="•"/>
            </a:pPr>
            <a:r>
              <a:rPr lang="en-US" b="true" sz="3610">
                <a:solidFill>
                  <a:srgbClr val="000000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INPUT(MENSAJE): PERMITE QUE EL USUARIO ESCRIBA DATOS DESDE LA CONSOLA.</a:t>
            </a:r>
          </a:p>
          <a:p>
            <a:pPr algn="l">
              <a:lnSpc>
                <a:spcPts val="5054"/>
              </a:lnSpc>
            </a:pPr>
          </a:p>
          <a:p>
            <a:pPr algn="l">
              <a:lnSpc>
                <a:spcPts val="5054"/>
              </a:lnSpc>
            </a:pPr>
            <a:r>
              <a:rPr lang="en-US" b="true" sz="3610">
                <a:solidFill>
                  <a:srgbClr val="000000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2. CONVERSIÓN DE TIPOS DE DATOS</a:t>
            </a:r>
          </a:p>
          <a:p>
            <a:pPr algn="l" marL="779400" indent="-389700" lvl="1">
              <a:lnSpc>
                <a:spcPts val="5054"/>
              </a:lnSpc>
              <a:buFont typeface="Arial"/>
              <a:buChar char="•"/>
            </a:pPr>
            <a:r>
              <a:rPr lang="en-US" b="true" sz="3610">
                <a:solidFill>
                  <a:srgbClr val="000000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INT(X): CONVIERTE UN VALOR A NÚMERO ENTERO (INTEGER).</a:t>
            </a:r>
          </a:p>
          <a:p>
            <a:pPr algn="l" marL="779400" indent="-389700" lvl="1">
              <a:lnSpc>
                <a:spcPts val="5054"/>
              </a:lnSpc>
              <a:buFont typeface="Arial"/>
              <a:buChar char="•"/>
            </a:pPr>
            <a:r>
              <a:rPr lang="en-US" b="true" sz="3610">
                <a:solidFill>
                  <a:srgbClr val="000000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FLOAT(X): CONVIERTE UN VALOR A NÚMERO DECIMAL.</a:t>
            </a:r>
          </a:p>
          <a:p>
            <a:pPr algn="l" marL="779400" indent="-389700" lvl="1">
              <a:lnSpc>
                <a:spcPts val="5054"/>
              </a:lnSpc>
              <a:buFont typeface="Arial"/>
              <a:buChar char="•"/>
            </a:pPr>
            <a:r>
              <a:rPr lang="en-US" b="true" sz="3610">
                <a:solidFill>
                  <a:srgbClr val="000000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STR(X): CONVIERTE UN VALOR A TEXTO (STRING).</a:t>
            </a:r>
          </a:p>
          <a:p>
            <a:pPr algn="l" marL="779400" indent="-389700" lvl="1">
              <a:lnSpc>
                <a:spcPts val="5054"/>
              </a:lnSpc>
              <a:buFont typeface="Arial"/>
              <a:buChar char="•"/>
            </a:pPr>
            <a:r>
              <a:rPr lang="en-US" b="true" sz="3610">
                <a:solidFill>
                  <a:srgbClr val="000000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BOOL(X): CONVIERTE UN VALOR A BOOLEANO (TRUE O FALSE).</a:t>
            </a:r>
          </a:p>
          <a:p>
            <a:pPr algn="l">
              <a:lnSpc>
                <a:spcPts val="5054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58059" y="7504390"/>
            <a:ext cx="6263964" cy="3507820"/>
          </a:xfrm>
          <a:custGeom>
            <a:avLst/>
            <a:gdLst/>
            <a:ahLst/>
            <a:cxnLst/>
            <a:rect r="r" b="b" t="t" l="l"/>
            <a:pathLst>
              <a:path h="3507820" w="6263964">
                <a:moveTo>
                  <a:pt x="0" y="0"/>
                </a:moveTo>
                <a:lnTo>
                  <a:pt x="6263964" y="0"/>
                </a:lnTo>
                <a:lnTo>
                  <a:pt x="6263964" y="3507820"/>
                </a:lnTo>
                <a:lnTo>
                  <a:pt x="0" y="35078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055321" y="-1495779"/>
            <a:ext cx="4442528" cy="4867312"/>
          </a:xfrm>
          <a:custGeom>
            <a:avLst/>
            <a:gdLst/>
            <a:ahLst/>
            <a:cxnLst/>
            <a:rect r="r" b="b" t="t" l="l"/>
            <a:pathLst>
              <a:path h="4867312" w="4442528">
                <a:moveTo>
                  <a:pt x="0" y="0"/>
                </a:moveTo>
                <a:lnTo>
                  <a:pt x="4442528" y="0"/>
                </a:lnTo>
                <a:lnTo>
                  <a:pt x="4442528" y="4867311"/>
                </a:lnTo>
                <a:lnTo>
                  <a:pt x="0" y="48673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301756">
            <a:off x="-914593" y="8451872"/>
            <a:ext cx="6221098" cy="3483815"/>
          </a:xfrm>
          <a:custGeom>
            <a:avLst/>
            <a:gdLst/>
            <a:ahLst/>
            <a:cxnLst/>
            <a:rect r="r" b="b" t="t" l="l"/>
            <a:pathLst>
              <a:path h="3483815" w="6221098">
                <a:moveTo>
                  <a:pt x="0" y="0"/>
                </a:moveTo>
                <a:lnTo>
                  <a:pt x="6221098" y="0"/>
                </a:lnTo>
                <a:lnTo>
                  <a:pt x="6221098" y="3483815"/>
                </a:lnTo>
                <a:lnTo>
                  <a:pt x="0" y="34838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7310127">
            <a:off x="13347506" y="-1686064"/>
            <a:ext cx="6299021" cy="3286944"/>
          </a:xfrm>
          <a:custGeom>
            <a:avLst/>
            <a:gdLst/>
            <a:ahLst/>
            <a:cxnLst/>
            <a:rect r="r" b="b" t="t" l="l"/>
            <a:pathLst>
              <a:path h="3286944" w="6299021">
                <a:moveTo>
                  <a:pt x="0" y="0"/>
                </a:moveTo>
                <a:lnTo>
                  <a:pt x="6299020" y="0"/>
                </a:lnTo>
                <a:lnTo>
                  <a:pt x="6299020" y="3286943"/>
                </a:lnTo>
                <a:lnTo>
                  <a:pt x="0" y="328694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65943" y="1589239"/>
            <a:ext cx="17122057" cy="7669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60"/>
              </a:lnSpc>
            </a:pPr>
            <a:r>
              <a:rPr lang="en-US" b="true" sz="3614">
                <a:solidFill>
                  <a:srgbClr val="000000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3. INFORMACIÓN Y ESTRUCTURAS</a:t>
            </a:r>
          </a:p>
          <a:p>
            <a:pPr algn="l" marL="780404" indent="-390202" lvl="1">
              <a:lnSpc>
                <a:spcPts val="5060"/>
              </a:lnSpc>
              <a:buFont typeface="Arial"/>
              <a:buChar char="•"/>
            </a:pPr>
            <a:r>
              <a:rPr lang="en-US" b="true" sz="3614">
                <a:solidFill>
                  <a:srgbClr val="000000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LEN(OBJETO): DEVUELVE LA CANTIDAD DE ELEMENTOS DE UNA ESTRUCTURA (COMO LOS CARACTERES DE UN TEXTO O LOS ELEMENTOS DE UNA LISTA/DICCIONARIO).</a:t>
            </a:r>
          </a:p>
          <a:p>
            <a:pPr algn="l" marL="780404" indent="-390202" lvl="1">
              <a:lnSpc>
                <a:spcPts val="5060"/>
              </a:lnSpc>
              <a:buFont typeface="Arial"/>
              <a:buChar char="•"/>
            </a:pPr>
            <a:r>
              <a:rPr lang="en-US" b="true" sz="3614">
                <a:solidFill>
                  <a:srgbClr val="000000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TYPE(X): DEVUELVE EL TIPO DE DATO DE UNA VARIABLE O VALOR.</a:t>
            </a:r>
          </a:p>
          <a:p>
            <a:pPr algn="l" marL="780404" indent="-390202" lvl="1">
              <a:lnSpc>
                <a:spcPts val="5060"/>
              </a:lnSpc>
              <a:buFont typeface="Arial"/>
              <a:buChar char="•"/>
            </a:pPr>
            <a:r>
              <a:rPr lang="en-US" b="true" sz="3614">
                <a:solidFill>
                  <a:srgbClr val="000000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RANGE(INICIO, FIN, PASO): GENERA UNA SECUENCIA DE NÚMEROS (MUY USADA EN BUCLES FOR).</a:t>
            </a:r>
          </a:p>
          <a:p>
            <a:pPr algn="l">
              <a:lnSpc>
                <a:spcPts val="5060"/>
              </a:lnSpc>
            </a:pPr>
          </a:p>
          <a:p>
            <a:pPr algn="l">
              <a:lnSpc>
                <a:spcPts val="5060"/>
              </a:lnSpc>
            </a:pPr>
            <a:r>
              <a:rPr lang="en-US" b="true" sz="3614">
                <a:solidFill>
                  <a:srgbClr val="000000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4. MATEMÁTICAS Y COLECCIONES</a:t>
            </a:r>
          </a:p>
          <a:p>
            <a:pPr algn="l" marL="780404" indent="-390202" lvl="1">
              <a:lnSpc>
                <a:spcPts val="5060"/>
              </a:lnSpc>
              <a:buFont typeface="Arial"/>
              <a:buChar char="•"/>
            </a:pPr>
            <a:r>
              <a:rPr lang="en-US" b="true" sz="3614">
                <a:solidFill>
                  <a:srgbClr val="000000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SUM(ITERABLE): SUMA TODOS LOS ELEMENTOS DE UNA LISTA O SECUENCIA NUMÉRICA.</a:t>
            </a:r>
          </a:p>
          <a:p>
            <a:pPr algn="l" marL="780404" indent="-390202" lvl="1">
              <a:lnSpc>
                <a:spcPts val="5060"/>
              </a:lnSpc>
              <a:buFont typeface="Arial"/>
              <a:buChar char="•"/>
            </a:pPr>
            <a:r>
              <a:rPr lang="en-US" b="true" sz="3614">
                <a:solidFill>
                  <a:srgbClr val="000000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MAX(ITERABLE): DEVUELVE EL VALOR MÁXIMO DE UNA SECUENCIA.</a:t>
            </a:r>
          </a:p>
          <a:p>
            <a:pPr algn="l" marL="780404" indent="-390202" lvl="1">
              <a:lnSpc>
                <a:spcPts val="5060"/>
              </a:lnSpc>
              <a:buFont typeface="Arial"/>
              <a:buChar char="•"/>
            </a:pPr>
            <a:r>
              <a:rPr lang="en-US" b="true" sz="3614">
                <a:solidFill>
                  <a:srgbClr val="000000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MIN(ITERABLE): DEVUELVE EL VALOR MÍNIMO DE UNA SECUENCIA.</a:t>
            </a:r>
          </a:p>
          <a:p>
            <a:pPr algn="l" marL="780404" indent="-390202" lvl="1">
              <a:lnSpc>
                <a:spcPts val="5060"/>
              </a:lnSpc>
              <a:buFont typeface="Arial"/>
              <a:buChar char="•"/>
            </a:pPr>
            <a:r>
              <a:rPr lang="en-US" b="true" sz="3614">
                <a:solidFill>
                  <a:srgbClr val="000000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ABS(X): DEVUELVE EL VALOR ABSOLUTO DE UN NÚMERO.</a:t>
            </a:r>
          </a:p>
          <a:p>
            <a:pPr algn="l" marL="780404" indent="-390202" lvl="1">
              <a:lnSpc>
                <a:spcPts val="5060"/>
              </a:lnSpc>
              <a:buFont typeface="Arial"/>
              <a:buChar char="•"/>
            </a:pPr>
            <a:r>
              <a:rPr lang="en-US" b="true" sz="3614">
                <a:solidFill>
                  <a:srgbClr val="000000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ROUND(X, N): REDONDEA UN NÚMERO DECIMAL A $N$ DECIMALES.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898180" y="242700"/>
            <a:ext cx="1063265" cy="1063265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B4BB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758059" y="7504390"/>
            <a:ext cx="6263964" cy="3507820"/>
          </a:xfrm>
          <a:custGeom>
            <a:avLst/>
            <a:gdLst/>
            <a:ahLst/>
            <a:cxnLst/>
            <a:rect r="r" b="b" t="t" l="l"/>
            <a:pathLst>
              <a:path h="3507820" w="6263964">
                <a:moveTo>
                  <a:pt x="0" y="0"/>
                </a:moveTo>
                <a:lnTo>
                  <a:pt x="6263964" y="0"/>
                </a:lnTo>
                <a:lnTo>
                  <a:pt x="6263964" y="3507820"/>
                </a:lnTo>
                <a:lnTo>
                  <a:pt x="0" y="35078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055321" y="-1495779"/>
            <a:ext cx="4442528" cy="4867312"/>
          </a:xfrm>
          <a:custGeom>
            <a:avLst/>
            <a:gdLst/>
            <a:ahLst/>
            <a:cxnLst/>
            <a:rect r="r" b="b" t="t" l="l"/>
            <a:pathLst>
              <a:path h="4867312" w="4442528">
                <a:moveTo>
                  <a:pt x="0" y="0"/>
                </a:moveTo>
                <a:lnTo>
                  <a:pt x="4442528" y="0"/>
                </a:lnTo>
                <a:lnTo>
                  <a:pt x="4442528" y="4867311"/>
                </a:lnTo>
                <a:lnTo>
                  <a:pt x="0" y="48673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301756">
            <a:off x="-914593" y="8451872"/>
            <a:ext cx="6221098" cy="3483815"/>
          </a:xfrm>
          <a:custGeom>
            <a:avLst/>
            <a:gdLst/>
            <a:ahLst/>
            <a:cxnLst/>
            <a:rect r="r" b="b" t="t" l="l"/>
            <a:pathLst>
              <a:path h="3483815" w="6221098">
                <a:moveTo>
                  <a:pt x="0" y="0"/>
                </a:moveTo>
                <a:lnTo>
                  <a:pt x="6221098" y="0"/>
                </a:lnTo>
                <a:lnTo>
                  <a:pt x="6221098" y="3483815"/>
                </a:lnTo>
                <a:lnTo>
                  <a:pt x="0" y="34838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7310127">
            <a:off x="13347506" y="-1686064"/>
            <a:ext cx="6299021" cy="3286944"/>
          </a:xfrm>
          <a:custGeom>
            <a:avLst/>
            <a:gdLst/>
            <a:ahLst/>
            <a:cxnLst/>
            <a:rect r="r" b="b" t="t" l="l"/>
            <a:pathLst>
              <a:path h="3286944" w="6299021">
                <a:moveTo>
                  <a:pt x="0" y="0"/>
                </a:moveTo>
                <a:lnTo>
                  <a:pt x="6299020" y="0"/>
                </a:lnTo>
                <a:lnTo>
                  <a:pt x="6299020" y="3286943"/>
                </a:lnTo>
                <a:lnTo>
                  <a:pt x="0" y="328694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52436" y="4299209"/>
            <a:ext cx="16983127" cy="5894571"/>
          </a:xfrm>
          <a:custGeom>
            <a:avLst/>
            <a:gdLst/>
            <a:ahLst/>
            <a:cxnLst/>
            <a:rect r="r" b="b" t="t" l="l"/>
            <a:pathLst>
              <a:path h="5894571" w="16983127">
                <a:moveTo>
                  <a:pt x="0" y="0"/>
                </a:moveTo>
                <a:lnTo>
                  <a:pt x="16983128" y="0"/>
                </a:lnTo>
                <a:lnTo>
                  <a:pt x="16983128" y="5894570"/>
                </a:lnTo>
                <a:lnTo>
                  <a:pt x="0" y="589457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158401" y="3967220"/>
            <a:ext cx="3270019" cy="3279274"/>
          </a:xfrm>
          <a:custGeom>
            <a:avLst/>
            <a:gdLst/>
            <a:ahLst/>
            <a:cxnLst/>
            <a:rect r="r" b="b" t="t" l="l"/>
            <a:pathLst>
              <a:path h="3279274" w="3270019">
                <a:moveTo>
                  <a:pt x="0" y="0"/>
                </a:moveTo>
                <a:lnTo>
                  <a:pt x="3270019" y="0"/>
                </a:lnTo>
                <a:lnTo>
                  <a:pt x="3270019" y="3279274"/>
                </a:lnTo>
                <a:lnTo>
                  <a:pt x="0" y="327927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961445" y="264110"/>
            <a:ext cx="5428374" cy="872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000000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FUNCIONES PROPIAS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898180" y="226010"/>
            <a:ext cx="1063265" cy="944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65943" y="1589239"/>
            <a:ext cx="15331073" cy="1905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60"/>
              </a:lnSpc>
            </a:pPr>
            <a:r>
              <a:rPr lang="en-US" b="true" sz="3614">
                <a:solidFill>
                  <a:srgbClr val="000000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PARA CREAR TUS PROPIAS FUNCIONES EN PYTHON, UTILIZAS LA PALABRA CLAVE DEF (ABREVIATURA DE DEFINE O DEFINIR). ESTO LE INDICA A PYTHON QUE VAS A EMPAQUETAR UN CONJUNTO DE INSTRUCCIONES BAJO UN NOMBRE PERSONALIZADO QUE TÚ ELIJAS.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55321" y="-1495779"/>
            <a:ext cx="4442528" cy="4867312"/>
          </a:xfrm>
          <a:custGeom>
            <a:avLst/>
            <a:gdLst/>
            <a:ahLst/>
            <a:cxnLst/>
            <a:rect r="r" b="b" t="t" l="l"/>
            <a:pathLst>
              <a:path h="4867312" w="4442528">
                <a:moveTo>
                  <a:pt x="0" y="0"/>
                </a:moveTo>
                <a:lnTo>
                  <a:pt x="4442528" y="0"/>
                </a:lnTo>
                <a:lnTo>
                  <a:pt x="4442528" y="4867311"/>
                </a:lnTo>
                <a:lnTo>
                  <a:pt x="0" y="48673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7310127">
            <a:off x="12246678" y="-1379687"/>
            <a:ext cx="7315200" cy="3817204"/>
          </a:xfrm>
          <a:custGeom>
            <a:avLst/>
            <a:gdLst/>
            <a:ahLst/>
            <a:cxnLst/>
            <a:rect r="r" b="b" t="t" l="l"/>
            <a:pathLst>
              <a:path h="3817204" w="7315200">
                <a:moveTo>
                  <a:pt x="0" y="0"/>
                </a:moveTo>
                <a:lnTo>
                  <a:pt x="7315200" y="0"/>
                </a:lnTo>
                <a:lnTo>
                  <a:pt x="7315200" y="3817204"/>
                </a:lnTo>
                <a:lnTo>
                  <a:pt x="0" y="38172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301756">
            <a:off x="-914593" y="8451872"/>
            <a:ext cx="6221098" cy="3483815"/>
          </a:xfrm>
          <a:custGeom>
            <a:avLst/>
            <a:gdLst/>
            <a:ahLst/>
            <a:cxnLst/>
            <a:rect r="r" b="b" t="t" l="l"/>
            <a:pathLst>
              <a:path h="3483815" w="6221098">
                <a:moveTo>
                  <a:pt x="0" y="0"/>
                </a:moveTo>
                <a:lnTo>
                  <a:pt x="6221098" y="0"/>
                </a:lnTo>
                <a:lnTo>
                  <a:pt x="6221098" y="3483815"/>
                </a:lnTo>
                <a:lnTo>
                  <a:pt x="0" y="34838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58059" y="7504390"/>
            <a:ext cx="6263964" cy="3507820"/>
          </a:xfrm>
          <a:custGeom>
            <a:avLst/>
            <a:gdLst/>
            <a:ahLst/>
            <a:cxnLst/>
            <a:rect r="r" b="b" t="t" l="l"/>
            <a:pathLst>
              <a:path h="3507820" w="6263964">
                <a:moveTo>
                  <a:pt x="0" y="0"/>
                </a:moveTo>
                <a:lnTo>
                  <a:pt x="6263964" y="0"/>
                </a:lnTo>
                <a:lnTo>
                  <a:pt x="6263964" y="3507820"/>
                </a:lnTo>
                <a:lnTo>
                  <a:pt x="0" y="35078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179711"/>
            <a:ext cx="21234413" cy="10107289"/>
          </a:xfrm>
          <a:custGeom>
            <a:avLst/>
            <a:gdLst/>
            <a:ahLst/>
            <a:cxnLst/>
            <a:rect r="r" b="b" t="t" l="l"/>
            <a:pathLst>
              <a:path h="10107289" w="21234413">
                <a:moveTo>
                  <a:pt x="0" y="0"/>
                </a:moveTo>
                <a:lnTo>
                  <a:pt x="21234413" y="0"/>
                </a:lnTo>
                <a:lnTo>
                  <a:pt x="21234413" y="10107289"/>
                </a:lnTo>
                <a:lnTo>
                  <a:pt x="0" y="1010728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5628274" y="101145"/>
            <a:ext cx="1063265" cy="106326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B4BBB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691539" y="65411"/>
            <a:ext cx="7762469" cy="872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000000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EJEMPLO DE FUNCIONES PROPIAS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628274" y="84455"/>
            <a:ext cx="1063265" cy="944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7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55321" y="-1495779"/>
            <a:ext cx="4442528" cy="4867312"/>
          </a:xfrm>
          <a:custGeom>
            <a:avLst/>
            <a:gdLst/>
            <a:ahLst/>
            <a:cxnLst/>
            <a:rect r="r" b="b" t="t" l="l"/>
            <a:pathLst>
              <a:path h="4867312" w="4442528">
                <a:moveTo>
                  <a:pt x="0" y="0"/>
                </a:moveTo>
                <a:lnTo>
                  <a:pt x="4442528" y="0"/>
                </a:lnTo>
                <a:lnTo>
                  <a:pt x="4442528" y="4867311"/>
                </a:lnTo>
                <a:lnTo>
                  <a:pt x="0" y="48673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7310127">
            <a:off x="12246678" y="-1379687"/>
            <a:ext cx="7315200" cy="3817204"/>
          </a:xfrm>
          <a:custGeom>
            <a:avLst/>
            <a:gdLst/>
            <a:ahLst/>
            <a:cxnLst/>
            <a:rect r="r" b="b" t="t" l="l"/>
            <a:pathLst>
              <a:path h="3817204" w="7315200">
                <a:moveTo>
                  <a:pt x="0" y="0"/>
                </a:moveTo>
                <a:lnTo>
                  <a:pt x="7315200" y="0"/>
                </a:lnTo>
                <a:lnTo>
                  <a:pt x="7315200" y="3817204"/>
                </a:lnTo>
                <a:lnTo>
                  <a:pt x="0" y="38172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301756">
            <a:off x="-914593" y="8451872"/>
            <a:ext cx="6221098" cy="3483815"/>
          </a:xfrm>
          <a:custGeom>
            <a:avLst/>
            <a:gdLst/>
            <a:ahLst/>
            <a:cxnLst/>
            <a:rect r="r" b="b" t="t" l="l"/>
            <a:pathLst>
              <a:path h="3483815" w="6221098">
                <a:moveTo>
                  <a:pt x="0" y="0"/>
                </a:moveTo>
                <a:lnTo>
                  <a:pt x="6221098" y="0"/>
                </a:lnTo>
                <a:lnTo>
                  <a:pt x="6221098" y="3483815"/>
                </a:lnTo>
                <a:lnTo>
                  <a:pt x="0" y="34838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58059" y="7504390"/>
            <a:ext cx="6263964" cy="3507820"/>
          </a:xfrm>
          <a:custGeom>
            <a:avLst/>
            <a:gdLst/>
            <a:ahLst/>
            <a:cxnLst/>
            <a:rect r="r" b="b" t="t" l="l"/>
            <a:pathLst>
              <a:path h="3507820" w="6263964">
                <a:moveTo>
                  <a:pt x="0" y="0"/>
                </a:moveTo>
                <a:lnTo>
                  <a:pt x="6263964" y="0"/>
                </a:lnTo>
                <a:lnTo>
                  <a:pt x="6263964" y="3507820"/>
                </a:lnTo>
                <a:lnTo>
                  <a:pt x="0" y="35078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-90388"/>
            <a:ext cx="17707448" cy="10377388"/>
          </a:xfrm>
          <a:custGeom>
            <a:avLst/>
            <a:gdLst/>
            <a:ahLst/>
            <a:cxnLst/>
            <a:rect r="r" b="b" t="t" l="l"/>
            <a:pathLst>
              <a:path h="10377388" w="17707448">
                <a:moveTo>
                  <a:pt x="0" y="0"/>
                </a:moveTo>
                <a:lnTo>
                  <a:pt x="17707448" y="0"/>
                </a:lnTo>
                <a:lnTo>
                  <a:pt x="17707448" y="10377388"/>
                </a:lnTo>
                <a:lnTo>
                  <a:pt x="0" y="1037738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5628274" y="101145"/>
            <a:ext cx="1063265" cy="106326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B4BBB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691539" y="65411"/>
            <a:ext cx="7762469" cy="872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000000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EJEMPLO DE FUNCIONES PROPIAS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628274" y="84455"/>
            <a:ext cx="1063265" cy="944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8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308397" y="139179"/>
            <a:ext cx="1063265" cy="1063265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B4BB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758059" y="7504390"/>
            <a:ext cx="6263964" cy="3507820"/>
          </a:xfrm>
          <a:custGeom>
            <a:avLst/>
            <a:gdLst/>
            <a:ahLst/>
            <a:cxnLst/>
            <a:rect r="r" b="b" t="t" l="l"/>
            <a:pathLst>
              <a:path h="3507820" w="6263964">
                <a:moveTo>
                  <a:pt x="0" y="0"/>
                </a:moveTo>
                <a:lnTo>
                  <a:pt x="6263964" y="0"/>
                </a:lnTo>
                <a:lnTo>
                  <a:pt x="6263964" y="3507820"/>
                </a:lnTo>
                <a:lnTo>
                  <a:pt x="0" y="35078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055321" y="-1495779"/>
            <a:ext cx="4442528" cy="4867312"/>
          </a:xfrm>
          <a:custGeom>
            <a:avLst/>
            <a:gdLst/>
            <a:ahLst/>
            <a:cxnLst/>
            <a:rect r="r" b="b" t="t" l="l"/>
            <a:pathLst>
              <a:path h="4867312" w="4442528">
                <a:moveTo>
                  <a:pt x="0" y="0"/>
                </a:moveTo>
                <a:lnTo>
                  <a:pt x="4442528" y="0"/>
                </a:lnTo>
                <a:lnTo>
                  <a:pt x="4442528" y="4867311"/>
                </a:lnTo>
                <a:lnTo>
                  <a:pt x="0" y="48673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301756">
            <a:off x="-914593" y="8451872"/>
            <a:ext cx="6221098" cy="3483815"/>
          </a:xfrm>
          <a:custGeom>
            <a:avLst/>
            <a:gdLst/>
            <a:ahLst/>
            <a:cxnLst/>
            <a:rect r="r" b="b" t="t" l="l"/>
            <a:pathLst>
              <a:path h="3483815" w="6221098">
                <a:moveTo>
                  <a:pt x="0" y="0"/>
                </a:moveTo>
                <a:lnTo>
                  <a:pt x="6221098" y="0"/>
                </a:lnTo>
                <a:lnTo>
                  <a:pt x="6221098" y="3483815"/>
                </a:lnTo>
                <a:lnTo>
                  <a:pt x="0" y="34838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7310127">
            <a:off x="12882178" y="-1379687"/>
            <a:ext cx="7315200" cy="3817204"/>
          </a:xfrm>
          <a:custGeom>
            <a:avLst/>
            <a:gdLst/>
            <a:ahLst/>
            <a:cxnLst/>
            <a:rect r="r" b="b" t="t" l="l"/>
            <a:pathLst>
              <a:path h="3817204" w="7315200">
                <a:moveTo>
                  <a:pt x="0" y="0"/>
                </a:moveTo>
                <a:lnTo>
                  <a:pt x="7315200" y="0"/>
                </a:lnTo>
                <a:lnTo>
                  <a:pt x="7315200" y="3817204"/>
                </a:lnTo>
                <a:lnTo>
                  <a:pt x="0" y="381720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1520758">
            <a:off x="12551929" y="4786671"/>
            <a:ext cx="6094741" cy="6094741"/>
          </a:xfrm>
          <a:custGeom>
            <a:avLst/>
            <a:gdLst/>
            <a:ahLst/>
            <a:cxnLst/>
            <a:rect r="r" b="b" t="t" l="l"/>
            <a:pathLst>
              <a:path h="6094741" w="6094741">
                <a:moveTo>
                  <a:pt x="0" y="0"/>
                </a:moveTo>
                <a:lnTo>
                  <a:pt x="6094741" y="0"/>
                </a:lnTo>
                <a:lnTo>
                  <a:pt x="6094741" y="6094741"/>
                </a:lnTo>
                <a:lnTo>
                  <a:pt x="0" y="609474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115008" y="4298724"/>
            <a:ext cx="9494986" cy="5348842"/>
          </a:xfrm>
          <a:custGeom>
            <a:avLst/>
            <a:gdLst/>
            <a:ahLst/>
            <a:cxnLst/>
            <a:rect r="r" b="b" t="t" l="l"/>
            <a:pathLst>
              <a:path h="5348842" w="9494986">
                <a:moveTo>
                  <a:pt x="0" y="0"/>
                </a:moveTo>
                <a:lnTo>
                  <a:pt x="9494986" y="0"/>
                </a:lnTo>
                <a:lnTo>
                  <a:pt x="9494986" y="5348842"/>
                </a:lnTo>
                <a:lnTo>
                  <a:pt x="0" y="534884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371662" y="160589"/>
            <a:ext cx="6696126" cy="1757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000000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PARÁMETROS Y RETORNO DE VALORES ( RETURN 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308397" y="122489"/>
            <a:ext cx="1063265" cy="944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9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56124" y="2080670"/>
            <a:ext cx="14212754" cy="1979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320"/>
              </a:lnSpc>
              <a:spcBef>
                <a:spcPct val="0"/>
              </a:spcBef>
            </a:pPr>
            <a:r>
              <a:rPr lang="en-US" sz="3800">
                <a:solidFill>
                  <a:srgbClr val="000000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HASTA AHORA, NUESTRAS FUNCIONES HACÍAN SIEMPRE LO MISMO PORQUE LOS DATOS ESTABAN "ATRAPADOS" ADENTRO. CON PARÁMETROS Y RETORNO, CONVERTIMOS LAS FUNCIONES EN MÁQUINAS FLEXIBLES Y REUTILIZABLES.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308397" y="139179"/>
            <a:ext cx="1063265" cy="1063265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B4BB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758059" y="7504390"/>
            <a:ext cx="6263964" cy="3507820"/>
          </a:xfrm>
          <a:custGeom>
            <a:avLst/>
            <a:gdLst/>
            <a:ahLst/>
            <a:cxnLst/>
            <a:rect r="r" b="b" t="t" l="l"/>
            <a:pathLst>
              <a:path h="3507820" w="6263964">
                <a:moveTo>
                  <a:pt x="0" y="0"/>
                </a:moveTo>
                <a:lnTo>
                  <a:pt x="6263964" y="0"/>
                </a:lnTo>
                <a:lnTo>
                  <a:pt x="6263964" y="3507820"/>
                </a:lnTo>
                <a:lnTo>
                  <a:pt x="0" y="35078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055321" y="-1495779"/>
            <a:ext cx="4442528" cy="4867312"/>
          </a:xfrm>
          <a:custGeom>
            <a:avLst/>
            <a:gdLst/>
            <a:ahLst/>
            <a:cxnLst/>
            <a:rect r="r" b="b" t="t" l="l"/>
            <a:pathLst>
              <a:path h="4867312" w="4442528">
                <a:moveTo>
                  <a:pt x="0" y="0"/>
                </a:moveTo>
                <a:lnTo>
                  <a:pt x="4442528" y="0"/>
                </a:lnTo>
                <a:lnTo>
                  <a:pt x="4442528" y="4867311"/>
                </a:lnTo>
                <a:lnTo>
                  <a:pt x="0" y="48673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301756">
            <a:off x="-914593" y="8451872"/>
            <a:ext cx="6221098" cy="3483815"/>
          </a:xfrm>
          <a:custGeom>
            <a:avLst/>
            <a:gdLst/>
            <a:ahLst/>
            <a:cxnLst/>
            <a:rect r="r" b="b" t="t" l="l"/>
            <a:pathLst>
              <a:path h="3483815" w="6221098">
                <a:moveTo>
                  <a:pt x="0" y="0"/>
                </a:moveTo>
                <a:lnTo>
                  <a:pt x="6221098" y="0"/>
                </a:lnTo>
                <a:lnTo>
                  <a:pt x="6221098" y="3483815"/>
                </a:lnTo>
                <a:lnTo>
                  <a:pt x="0" y="34838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7310127">
            <a:off x="12882178" y="-1379687"/>
            <a:ext cx="7315200" cy="3817204"/>
          </a:xfrm>
          <a:custGeom>
            <a:avLst/>
            <a:gdLst/>
            <a:ahLst/>
            <a:cxnLst/>
            <a:rect r="r" b="b" t="t" l="l"/>
            <a:pathLst>
              <a:path h="3817204" w="7315200">
                <a:moveTo>
                  <a:pt x="0" y="0"/>
                </a:moveTo>
                <a:lnTo>
                  <a:pt x="7315200" y="0"/>
                </a:lnTo>
                <a:lnTo>
                  <a:pt x="7315200" y="3817204"/>
                </a:lnTo>
                <a:lnTo>
                  <a:pt x="0" y="381720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371662" y="160589"/>
            <a:ext cx="6696126" cy="1757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000000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PARÁMETROS Y RETORNO DE VALORES ( RETURN 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308397" y="122489"/>
            <a:ext cx="1063265" cy="944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10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56124" y="2080670"/>
            <a:ext cx="14212754" cy="731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20"/>
              </a:lnSpc>
            </a:pPr>
            <a:r>
              <a:rPr lang="en-US" b="true" sz="3800">
                <a:solidFill>
                  <a:srgbClr val="000000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1.</a:t>
            </a:r>
            <a:r>
              <a:rPr lang="en-US" sz="3800">
                <a:solidFill>
                  <a:srgbClr val="000000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 </a:t>
            </a:r>
            <a:r>
              <a:rPr lang="en-US" b="true" sz="3800">
                <a:solidFill>
                  <a:srgbClr val="000000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PARÁMETROS (LAS ENTRADAS):</a:t>
            </a:r>
          </a:p>
          <a:p>
            <a:pPr algn="just">
              <a:lnSpc>
                <a:spcPts val="5320"/>
              </a:lnSpc>
            </a:pPr>
            <a:r>
              <a:rPr lang="en-US" sz="3800">
                <a:solidFill>
                  <a:srgbClr val="000000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UN PARÁMETRO ES UNA VARIABLE QUE COLOCAS DENTRO DE LOS PARÉNTESIS AL DEFINIR LA FUNCIÓN. FUNCIONA COMO UNA "PROMESA" DE QUE LA FUNCIÓN NECESITA RECIBIR UN DATO EXTERNO PARA PODER TRABAJAR.</a:t>
            </a:r>
          </a:p>
          <a:p>
            <a:pPr algn="just">
              <a:lnSpc>
                <a:spcPts val="5320"/>
              </a:lnSpc>
            </a:pPr>
          </a:p>
          <a:p>
            <a:pPr algn="just" marL="820421" indent="-410210" lvl="1">
              <a:lnSpc>
                <a:spcPts val="5320"/>
              </a:lnSpc>
              <a:buFont typeface="Arial"/>
              <a:buChar char="•"/>
            </a:pPr>
            <a:r>
              <a:rPr lang="en-US" b="true" sz="3800">
                <a:solidFill>
                  <a:srgbClr val="000000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PARÁMETRO</a:t>
            </a:r>
            <a:r>
              <a:rPr lang="en-US" sz="3800">
                <a:solidFill>
                  <a:srgbClr val="000000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: ES EL NOMBRE QUE LE DAS AL ESPACIO CUANDO DEFINES LA FUNCIÓN (DEF SUMAR(A, B):).</a:t>
            </a:r>
          </a:p>
          <a:p>
            <a:pPr algn="just">
              <a:lnSpc>
                <a:spcPts val="5320"/>
              </a:lnSpc>
            </a:pPr>
          </a:p>
          <a:p>
            <a:pPr algn="just" marL="820421" indent="-410210" lvl="1">
              <a:lnSpc>
                <a:spcPts val="53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800">
                <a:solidFill>
                  <a:srgbClr val="000000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ARGUMENTO</a:t>
            </a:r>
            <a:r>
              <a:rPr lang="en-US" sz="3800">
                <a:solidFill>
                  <a:srgbClr val="000000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: ES EL VALOR REAL QUE LE ENVÍAS CUANDO LLAMAS A LA FUNCIÓN (SUMAR(5, 3)).</a:t>
            </a:r>
          </a:p>
          <a:p>
            <a:pPr algn="just" marL="0" indent="0" lvl="0">
              <a:lnSpc>
                <a:spcPts val="532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58059" y="7504390"/>
            <a:ext cx="6263964" cy="3507820"/>
          </a:xfrm>
          <a:custGeom>
            <a:avLst/>
            <a:gdLst/>
            <a:ahLst/>
            <a:cxnLst/>
            <a:rect r="r" b="b" t="t" l="l"/>
            <a:pathLst>
              <a:path h="3507820" w="6263964">
                <a:moveTo>
                  <a:pt x="0" y="0"/>
                </a:moveTo>
                <a:lnTo>
                  <a:pt x="6263964" y="0"/>
                </a:lnTo>
                <a:lnTo>
                  <a:pt x="6263964" y="3507820"/>
                </a:lnTo>
                <a:lnTo>
                  <a:pt x="0" y="35078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055321" y="-1495779"/>
            <a:ext cx="4442528" cy="4867312"/>
          </a:xfrm>
          <a:custGeom>
            <a:avLst/>
            <a:gdLst/>
            <a:ahLst/>
            <a:cxnLst/>
            <a:rect r="r" b="b" t="t" l="l"/>
            <a:pathLst>
              <a:path h="4867312" w="4442528">
                <a:moveTo>
                  <a:pt x="0" y="0"/>
                </a:moveTo>
                <a:lnTo>
                  <a:pt x="4442528" y="0"/>
                </a:lnTo>
                <a:lnTo>
                  <a:pt x="4442528" y="4867311"/>
                </a:lnTo>
                <a:lnTo>
                  <a:pt x="0" y="48673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301756">
            <a:off x="-914593" y="8451872"/>
            <a:ext cx="6221098" cy="3483815"/>
          </a:xfrm>
          <a:custGeom>
            <a:avLst/>
            <a:gdLst/>
            <a:ahLst/>
            <a:cxnLst/>
            <a:rect r="r" b="b" t="t" l="l"/>
            <a:pathLst>
              <a:path h="3483815" w="6221098">
                <a:moveTo>
                  <a:pt x="0" y="0"/>
                </a:moveTo>
                <a:lnTo>
                  <a:pt x="6221098" y="0"/>
                </a:lnTo>
                <a:lnTo>
                  <a:pt x="6221098" y="3483815"/>
                </a:lnTo>
                <a:lnTo>
                  <a:pt x="0" y="34838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7310127">
            <a:off x="12882178" y="-1379687"/>
            <a:ext cx="7315200" cy="3817204"/>
          </a:xfrm>
          <a:custGeom>
            <a:avLst/>
            <a:gdLst/>
            <a:ahLst/>
            <a:cxnLst/>
            <a:rect r="r" b="b" t="t" l="l"/>
            <a:pathLst>
              <a:path h="3817204" w="7315200">
                <a:moveTo>
                  <a:pt x="0" y="0"/>
                </a:moveTo>
                <a:lnTo>
                  <a:pt x="7315200" y="0"/>
                </a:lnTo>
                <a:lnTo>
                  <a:pt x="7315200" y="3817204"/>
                </a:lnTo>
                <a:lnTo>
                  <a:pt x="0" y="381720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0"/>
            <a:ext cx="21661694" cy="10287000"/>
          </a:xfrm>
          <a:custGeom>
            <a:avLst/>
            <a:gdLst/>
            <a:ahLst/>
            <a:cxnLst/>
            <a:rect r="r" b="b" t="t" l="l"/>
            <a:pathLst>
              <a:path h="10287000" w="21661694">
                <a:moveTo>
                  <a:pt x="0" y="0"/>
                </a:moveTo>
                <a:lnTo>
                  <a:pt x="21661694" y="0"/>
                </a:lnTo>
                <a:lnTo>
                  <a:pt x="2166169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986273" y="134824"/>
            <a:ext cx="1063265" cy="106326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B4BBB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049539" y="173074"/>
            <a:ext cx="9640313" cy="872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000000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EJEMPLO DE PARAMETROS Y ARGUMENTOS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986273" y="118134"/>
            <a:ext cx="1063265" cy="944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11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319071" y="4655293"/>
            <a:ext cx="6570970" cy="353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000000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GRACIAS A LOS PARÁMETROS, UNA SOLA FUNCIÓN SIRVE PARA SALUDAR A CUALQUIER PERSONA.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308397" y="139179"/>
            <a:ext cx="1063265" cy="1063265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B4BB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758059" y="7504390"/>
            <a:ext cx="6263964" cy="3507820"/>
          </a:xfrm>
          <a:custGeom>
            <a:avLst/>
            <a:gdLst/>
            <a:ahLst/>
            <a:cxnLst/>
            <a:rect r="r" b="b" t="t" l="l"/>
            <a:pathLst>
              <a:path h="3507820" w="6263964">
                <a:moveTo>
                  <a:pt x="0" y="0"/>
                </a:moveTo>
                <a:lnTo>
                  <a:pt x="6263964" y="0"/>
                </a:lnTo>
                <a:lnTo>
                  <a:pt x="6263964" y="3507820"/>
                </a:lnTo>
                <a:lnTo>
                  <a:pt x="0" y="35078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055321" y="-1495779"/>
            <a:ext cx="4442528" cy="4867312"/>
          </a:xfrm>
          <a:custGeom>
            <a:avLst/>
            <a:gdLst/>
            <a:ahLst/>
            <a:cxnLst/>
            <a:rect r="r" b="b" t="t" l="l"/>
            <a:pathLst>
              <a:path h="4867312" w="4442528">
                <a:moveTo>
                  <a:pt x="0" y="0"/>
                </a:moveTo>
                <a:lnTo>
                  <a:pt x="4442528" y="0"/>
                </a:lnTo>
                <a:lnTo>
                  <a:pt x="4442528" y="4867311"/>
                </a:lnTo>
                <a:lnTo>
                  <a:pt x="0" y="48673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301756">
            <a:off x="-914593" y="8451872"/>
            <a:ext cx="6221098" cy="3483815"/>
          </a:xfrm>
          <a:custGeom>
            <a:avLst/>
            <a:gdLst/>
            <a:ahLst/>
            <a:cxnLst/>
            <a:rect r="r" b="b" t="t" l="l"/>
            <a:pathLst>
              <a:path h="3483815" w="6221098">
                <a:moveTo>
                  <a:pt x="0" y="0"/>
                </a:moveTo>
                <a:lnTo>
                  <a:pt x="6221098" y="0"/>
                </a:lnTo>
                <a:lnTo>
                  <a:pt x="6221098" y="3483815"/>
                </a:lnTo>
                <a:lnTo>
                  <a:pt x="0" y="34838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7310127">
            <a:off x="12882178" y="-1379687"/>
            <a:ext cx="7315200" cy="3817204"/>
          </a:xfrm>
          <a:custGeom>
            <a:avLst/>
            <a:gdLst/>
            <a:ahLst/>
            <a:cxnLst/>
            <a:rect r="r" b="b" t="t" l="l"/>
            <a:pathLst>
              <a:path h="3817204" w="7315200">
                <a:moveTo>
                  <a:pt x="0" y="0"/>
                </a:moveTo>
                <a:lnTo>
                  <a:pt x="7315200" y="0"/>
                </a:lnTo>
                <a:lnTo>
                  <a:pt x="7315200" y="3817204"/>
                </a:lnTo>
                <a:lnTo>
                  <a:pt x="0" y="381720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371662" y="160589"/>
            <a:ext cx="6696126" cy="1757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000000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PARÁMETROS Y RETORNO DE VALORES ( RETURN 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308397" y="122489"/>
            <a:ext cx="1063265" cy="944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12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56124" y="2080670"/>
            <a:ext cx="14212754" cy="5980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20"/>
              </a:lnSpc>
            </a:pPr>
            <a:r>
              <a:rPr lang="en-US" b="true" sz="3800">
                <a:solidFill>
                  <a:srgbClr val="000000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2. RETORNO DE VALORES CON RETURN (LA SALIDA):</a:t>
            </a:r>
          </a:p>
          <a:p>
            <a:pPr algn="just">
              <a:lnSpc>
                <a:spcPts val="5320"/>
              </a:lnSpc>
            </a:pPr>
          </a:p>
          <a:p>
            <a:pPr algn="just">
              <a:lnSpc>
                <a:spcPts val="5320"/>
              </a:lnSpc>
            </a:pPr>
            <a:r>
              <a:rPr lang="en-US" sz="3800">
                <a:solidFill>
                  <a:srgbClr val="000000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H</a:t>
            </a:r>
            <a:r>
              <a:rPr lang="en-US" sz="3800">
                <a:solidFill>
                  <a:srgbClr val="000000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ASTA AHORA USÁBAMOS PRINT() DENTRO DE LAS FUNCIONES PARA MOSTRAR COSAS EN PANTALLA. PERO PRINT SOLO MUESTRA TEXTO; NO GUARDA EL RESULTADO.</a:t>
            </a:r>
          </a:p>
          <a:p>
            <a:pPr algn="just">
              <a:lnSpc>
                <a:spcPts val="5320"/>
              </a:lnSpc>
            </a:pPr>
          </a:p>
          <a:p>
            <a:pPr algn="just">
              <a:lnSpc>
                <a:spcPts val="5320"/>
              </a:lnSpc>
              <a:spcBef>
                <a:spcPct val="0"/>
              </a:spcBef>
            </a:pPr>
            <a:r>
              <a:rPr lang="en-US" sz="3800">
                <a:solidFill>
                  <a:srgbClr val="000000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SI QUIERES QUE UNA FUNCIÓN HAGA UN CÁLCULO Y TE DEVUELVA ESE RESULTADO PARA QUE PUEDAS USARLO, GUARDARLO EN UNA VARIABLE O PASÁRSELO A OTRA PARTE DEL CÓDIGO, UTILIZAS LA PALABRA CLAVE RETURN.</a:t>
            </a:r>
          </a:p>
          <a:p>
            <a:pPr algn="just" marL="0" indent="0" lvl="0">
              <a:lnSpc>
                <a:spcPts val="532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58059" y="7504390"/>
            <a:ext cx="6263964" cy="3507820"/>
          </a:xfrm>
          <a:custGeom>
            <a:avLst/>
            <a:gdLst/>
            <a:ahLst/>
            <a:cxnLst/>
            <a:rect r="r" b="b" t="t" l="l"/>
            <a:pathLst>
              <a:path h="3507820" w="6263964">
                <a:moveTo>
                  <a:pt x="0" y="0"/>
                </a:moveTo>
                <a:lnTo>
                  <a:pt x="6263964" y="0"/>
                </a:lnTo>
                <a:lnTo>
                  <a:pt x="6263964" y="3507820"/>
                </a:lnTo>
                <a:lnTo>
                  <a:pt x="0" y="35078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055321" y="-1495779"/>
            <a:ext cx="4442528" cy="4867312"/>
          </a:xfrm>
          <a:custGeom>
            <a:avLst/>
            <a:gdLst/>
            <a:ahLst/>
            <a:cxnLst/>
            <a:rect r="r" b="b" t="t" l="l"/>
            <a:pathLst>
              <a:path h="4867312" w="4442528">
                <a:moveTo>
                  <a:pt x="0" y="0"/>
                </a:moveTo>
                <a:lnTo>
                  <a:pt x="4442528" y="0"/>
                </a:lnTo>
                <a:lnTo>
                  <a:pt x="4442528" y="4867311"/>
                </a:lnTo>
                <a:lnTo>
                  <a:pt x="0" y="48673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301756">
            <a:off x="-914593" y="8451872"/>
            <a:ext cx="6221098" cy="3483815"/>
          </a:xfrm>
          <a:custGeom>
            <a:avLst/>
            <a:gdLst/>
            <a:ahLst/>
            <a:cxnLst/>
            <a:rect r="r" b="b" t="t" l="l"/>
            <a:pathLst>
              <a:path h="3483815" w="6221098">
                <a:moveTo>
                  <a:pt x="0" y="0"/>
                </a:moveTo>
                <a:lnTo>
                  <a:pt x="6221098" y="0"/>
                </a:lnTo>
                <a:lnTo>
                  <a:pt x="6221098" y="3483815"/>
                </a:lnTo>
                <a:lnTo>
                  <a:pt x="0" y="34838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7310127">
            <a:off x="12882178" y="-1379687"/>
            <a:ext cx="7315200" cy="3817204"/>
          </a:xfrm>
          <a:custGeom>
            <a:avLst/>
            <a:gdLst/>
            <a:ahLst/>
            <a:cxnLst/>
            <a:rect r="r" b="b" t="t" l="l"/>
            <a:pathLst>
              <a:path h="3817204" w="7315200">
                <a:moveTo>
                  <a:pt x="0" y="0"/>
                </a:moveTo>
                <a:lnTo>
                  <a:pt x="7315200" y="0"/>
                </a:lnTo>
                <a:lnTo>
                  <a:pt x="7315200" y="3817204"/>
                </a:lnTo>
                <a:lnTo>
                  <a:pt x="0" y="381720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0"/>
            <a:ext cx="19336732" cy="10287000"/>
          </a:xfrm>
          <a:custGeom>
            <a:avLst/>
            <a:gdLst/>
            <a:ahLst/>
            <a:cxnLst/>
            <a:rect r="r" b="b" t="t" l="l"/>
            <a:pathLst>
              <a:path h="10287000" w="19336732">
                <a:moveTo>
                  <a:pt x="0" y="0"/>
                </a:moveTo>
                <a:lnTo>
                  <a:pt x="19336732" y="0"/>
                </a:lnTo>
                <a:lnTo>
                  <a:pt x="1933673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986273" y="134824"/>
            <a:ext cx="1063265" cy="106326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B4BBB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049539" y="173074"/>
            <a:ext cx="6939438" cy="872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000000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EJEMPLO DE RETURN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986273" y="118134"/>
            <a:ext cx="1063265" cy="944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13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279977" y="2209386"/>
            <a:ext cx="1063265" cy="1063265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B4BB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89189" y="-224270"/>
            <a:ext cx="4442528" cy="4867312"/>
          </a:xfrm>
          <a:custGeom>
            <a:avLst/>
            <a:gdLst/>
            <a:ahLst/>
            <a:cxnLst/>
            <a:rect r="r" b="b" t="t" l="l"/>
            <a:pathLst>
              <a:path h="4867312" w="4442528">
                <a:moveTo>
                  <a:pt x="0" y="0"/>
                </a:moveTo>
                <a:lnTo>
                  <a:pt x="4442528" y="0"/>
                </a:lnTo>
                <a:lnTo>
                  <a:pt x="4442528" y="4867312"/>
                </a:lnTo>
                <a:lnTo>
                  <a:pt x="0" y="4867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301756">
            <a:off x="-2081849" y="8823074"/>
            <a:ext cx="6221098" cy="3483815"/>
          </a:xfrm>
          <a:custGeom>
            <a:avLst/>
            <a:gdLst/>
            <a:ahLst/>
            <a:cxnLst/>
            <a:rect r="r" b="b" t="t" l="l"/>
            <a:pathLst>
              <a:path h="3483815" w="6221098">
                <a:moveTo>
                  <a:pt x="0" y="0"/>
                </a:moveTo>
                <a:lnTo>
                  <a:pt x="6221098" y="0"/>
                </a:lnTo>
                <a:lnTo>
                  <a:pt x="6221098" y="3483815"/>
                </a:lnTo>
                <a:lnTo>
                  <a:pt x="0" y="34838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7310127">
            <a:off x="12882178" y="-1379687"/>
            <a:ext cx="7315200" cy="3817204"/>
          </a:xfrm>
          <a:custGeom>
            <a:avLst/>
            <a:gdLst/>
            <a:ahLst/>
            <a:cxnLst/>
            <a:rect r="r" b="b" t="t" l="l"/>
            <a:pathLst>
              <a:path h="3817204" w="7315200">
                <a:moveTo>
                  <a:pt x="0" y="0"/>
                </a:moveTo>
                <a:lnTo>
                  <a:pt x="7315200" y="0"/>
                </a:lnTo>
                <a:lnTo>
                  <a:pt x="7315200" y="3817204"/>
                </a:lnTo>
                <a:lnTo>
                  <a:pt x="0" y="38172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127318" y="6803185"/>
            <a:ext cx="6263964" cy="3507820"/>
          </a:xfrm>
          <a:custGeom>
            <a:avLst/>
            <a:gdLst/>
            <a:ahLst/>
            <a:cxnLst/>
            <a:rect r="r" b="b" t="t" l="l"/>
            <a:pathLst>
              <a:path h="3507820" w="6263964">
                <a:moveTo>
                  <a:pt x="0" y="0"/>
                </a:moveTo>
                <a:lnTo>
                  <a:pt x="6263964" y="0"/>
                </a:lnTo>
                <a:lnTo>
                  <a:pt x="6263964" y="3507820"/>
                </a:lnTo>
                <a:lnTo>
                  <a:pt x="0" y="35078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988977" y="5257206"/>
            <a:ext cx="5120602" cy="5120602"/>
          </a:xfrm>
          <a:custGeom>
            <a:avLst/>
            <a:gdLst/>
            <a:ahLst/>
            <a:cxnLst/>
            <a:rect r="r" b="b" t="t" l="l"/>
            <a:pathLst>
              <a:path h="5120602" w="5120602">
                <a:moveTo>
                  <a:pt x="0" y="0"/>
                </a:moveTo>
                <a:lnTo>
                  <a:pt x="5120601" y="0"/>
                </a:lnTo>
                <a:lnTo>
                  <a:pt x="5120601" y="5120602"/>
                </a:lnTo>
                <a:lnTo>
                  <a:pt x="0" y="512060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343242" y="2368367"/>
            <a:ext cx="9664141" cy="669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74"/>
              </a:lnSpc>
              <a:spcBef>
                <a:spcPct val="0"/>
              </a:spcBef>
            </a:pPr>
            <a:r>
              <a:rPr lang="en-US" b="true" sz="3910">
                <a:solidFill>
                  <a:srgbClr val="000000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RETOS DE PROGRAMACIÓN EN PYTHON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279977" y="2192696"/>
            <a:ext cx="1063265" cy="944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14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92505" y="4248526"/>
            <a:ext cx="6485781" cy="662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74"/>
              </a:lnSpc>
              <a:spcBef>
                <a:spcPct val="0"/>
              </a:spcBef>
            </a:pPr>
            <a:r>
              <a:rPr lang="en-US" b="true" sz="3910">
                <a:solidFill>
                  <a:srgbClr val="000000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RETO 1: EL SALUDO PERSONALIZADO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92505" y="5216009"/>
            <a:ext cx="4151114" cy="662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74"/>
              </a:lnSpc>
              <a:spcBef>
                <a:spcPct val="0"/>
              </a:spcBef>
            </a:pPr>
            <a:r>
              <a:rPr lang="en-US" b="true" sz="3910">
                <a:solidFill>
                  <a:srgbClr val="000000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RETO 2: ¿PAR O IMPAR?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92505" y="6185416"/>
            <a:ext cx="11811298" cy="662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74"/>
              </a:lnSpc>
              <a:spcBef>
                <a:spcPct val="0"/>
              </a:spcBef>
            </a:pPr>
            <a:r>
              <a:rPr lang="en-US" b="true" sz="3910">
                <a:solidFill>
                  <a:srgbClr val="000000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RETO 3: LA CUENTA DEL RESTAURANTE (CALCULADORA DE PROPINAS)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51950" y="7154824"/>
            <a:ext cx="6735068" cy="662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74"/>
              </a:lnSpc>
              <a:spcBef>
                <a:spcPct val="0"/>
              </a:spcBef>
            </a:pPr>
            <a:r>
              <a:rPr lang="en-US" b="true" sz="3910">
                <a:solidFill>
                  <a:srgbClr val="000000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RETO 4: ADIVINA EL NÚMERO SECRETO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992505" y="8189871"/>
            <a:ext cx="6279803" cy="662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74"/>
              </a:lnSpc>
              <a:spcBef>
                <a:spcPct val="0"/>
              </a:spcBef>
            </a:pPr>
            <a:r>
              <a:rPr lang="en-US" b="true" sz="3910">
                <a:solidFill>
                  <a:srgbClr val="000000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RETO 5: EL CONTADOR DE VOCALES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9189" y="-224270"/>
            <a:ext cx="4442528" cy="4867312"/>
          </a:xfrm>
          <a:custGeom>
            <a:avLst/>
            <a:gdLst/>
            <a:ahLst/>
            <a:cxnLst/>
            <a:rect r="r" b="b" t="t" l="l"/>
            <a:pathLst>
              <a:path h="4867312" w="4442528">
                <a:moveTo>
                  <a:pt x="0" y="0"/>
                </a:moveTo>
                <a:lnTo>
                  <a:pt x="4442528" y="0"/>
                </a:lnTo>
                <a:lnTo>
                  <a:pt x="4442528" y="4867312"/>
                </a:lnTo>
                <a:lnTo>
                  <a:pt x="0" y="4867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301756">
            <a:off x="-2081849" y="8823074"/>
            <a:ext cx="6221098" cy="3483815"/>
          </a:xfrm>
          <a:custGeom>
            <a:avLst/>
            <a:gdLst/>
            <a:ahLst/>
            <a:cxnLst/>
            <a:rect r="r" b="b" t="t" l="l"/>
            <a:pathLst>
              <a:path h="3483815" w="6221098">
                <a:moveTo>
                  <a:pt x="0" y="0"/>
                </a:moveTo>
                <a:lnTo>
                  <a:pt x="6221098" y="0"/>
                </a:lnTo>
                <a:lnTo>
                  <a:pt x="6221098" y="3483815"/>
                </a:lnTo>
                <a:lnTo>
                  <a:pt x="0" y="34838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7310127">
            <a:off x="12882178" y="-1379687"/>
            <a:ext cx="7315200" cy="3817204"/>
          </a:xfrm>
          <a:custGeom>
            <a:avLst/>
            <a:gdLst/>
            <a:ahLst/>
            <a:cxnLst/>
            <a:rect r="r" b="b" t="t" l="l"/>
            <a:pathLst>
              <a:path h="3817204" w="7315200">
                <a:moveTo>
                  <a:pt x="0" y="0"/>
                </a:moveTo>
                <a:lnTo>
                  <a:pt x="7315200" y="0"/>
                </a:lnTo>
                <a:lnTo>
                  <a:pt x="7315200" y="3817204"/>
                </a:lnTo>
                <a:lnTo>
                  <a:pt x="0" y="38172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127318" y="6803185"/>
            <a:ext cx="6263964" cy="3507820"/>
          </a:xfrm>
          <a:custGeom>
            <a:avLst/>
            <a:gdLst/>
            <a:ahLst/>
            <a:cxnLst/>
            <a:rect r="r" b="b" t="t" l="l"/>
            <a:pathLst>
              <a:path h="3507820" w="6263964">
                <a:moveTo>
                  <a:pt x="0" y="0"/>
                </a:moveTo>
                <a:lnTo>
                  <a:pt x="6263964" y="0"/>
                </a:lnTo>
                <a:lnTo>
                  <a:pt x="6263964" y="3507820"/>
                </a:lnTo>
                <a:lnTo>
                  <a:pt x="0" y="35078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2933621"/>
            <a:ext cx="18288000" cy="7218509"/>
          </a:xfrm>
          <a:custGeom>
            <a:avLst/>
            <a:gdLst/>
            <a:ahLst/>
            <a:cxnLst/>
            <a:rect r="r" b="b" t="t" l="l"/>
            <a:pathLst>
              <a:path h="7218509" w="18288000">
                <a:moveTo>
                  <a:pt x="0" y="0"/>
                </a:moveTo>
                <a:lnTo>
                  <a:pt x="18288000" y="0"/>
                </a:lnTo>
                <a:lnTo>
                  <a:pt x="18288000" y="7218509"/>
                </a:lnTo>
                <a:lnTo>
                  <a:pt x="0" y="721850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463177" y="452715"/>
            <a:ext cx="9664141" cy="669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74"/>
              </a:lnSpc>
              <a:spcBef>
                <a:spcPct val="0"/>
              </a:spcBef>
            </a:pPr>
            <a:r>
              <a:rPr lang="en-US" b="true" sz="3910">
                <a:solidFill>
                  <a:srgbClr val="000000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RETOS DE PROGRAMACIÓN EN PYTHON + GIT Y GITHUB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901110" y="1289951"/>
            <a:ext cx="6485781" cy="662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74"/>
              </a:lnSpc>
              <a:spcBef>
                <a:spcPct val="0"/>
              </a:spcBef>
            </a:pPr>
            <a:r>
              <a:rPr lang="en-US" b="true" sz="3910">
                <a:solidFill>
                  <a:srgbClr val="000000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RETO 1: EL SALUDO PERSONALIZADO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9189" y="-224270"/>
            <a:ext cx="4442528" cy="4867312"/>
          </a:xfrm>
          <a:custGeom>
            <a:avLst/>
            <a:gdLst/>
            <a:ahLst/>
            <a:cxnLst/>
            <a:rect r="r" b="b" t="t" l="l"/>
            <a:pathLst>
              <a:path h="4867312" w="4442528">
                <a:moveTo>
                  <a:pt x="0" y="0"/>
                </a:moveTo>
                <a:lnTo>
                  <a:pt x="4442528" y="0"/>
                </a:lnTo>
                <a:lnTo>
                  <a:pt x="4442528" y="4867312"/>
                </a:lnTo>
                <a:lnTo>
                  <a:pt x="0" y="4867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301756">
            <a:off x="-2081849" y="8823074"/>
            <a:ext cx="6221098" cy="3483815"/>
          </a:xfrm>
          <a:custGeom>
            <a:avLst/>
            <a:gdLst/>
            <a:ahLst/>
            <a:cxnLst/>
            <a:rect r="r" b="b" t="t" l="l"/>
            <a:pathLst>
              <a:path h="3483815" w="6221098">
                <a:moveTo>
                  <a:pt x="0" y="0"/>
                </a:moveTo>
                <a:lnTo>
                  <a:pt x="6221098" y="0"/>
                </a:lnTo>
                <a:lnTo>
                  <a:pt x="6221098" y="3483815"/>
                </a:lnTo>
                <a:lnTo>
                  <a:pt x="0" y="34838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7310127">
            <a:off x="12882178" y="-1379687"/>
            <a:ext cx="7315200" cy="3817204"/>
          </a:xfrm>
          <a:custGeom>
            <a:avLst/>
            <a:gdLst/>
            <a:ahLst/>
            <a:cxnLst/>
            <a:rect r="r" b="b" t="t" l="l"/>
            <a:pathLst>
              <a:path h="3817204" w="7315200">
                <a:moveTo>
                  <a:pt x="0" y="0"/>
                </a:moveTo>
                <a:lnTo>
                  <a:pt x="7315200" y="0"/>
                </a:lnTo>
                <a:lnTo>
                  <a:pt x="7315200" y="3817204"/>
                </a:lnTo>
                <a:lnTo>
                  <a:pt x="0" y="38172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127318" y="6803185"/>
            <a:ext cx="6263964" cy="3507820"/>
          </a:xfrm>
          <a:custGeom>
            <a:avLst/>
            <a:gdLst/>
            <a:ahLst/>
            <a:cxnLst/>
            <a:rect r="r" b="b" t="t" l="l"/>
            <a:pathLst>
              <a:path h="3507820" w="6263964">
                <a:moveTo>
                  <a:pt x="0" y="0"/>
                </a:moveTo>
                <a:lnTo>
                  <a:pt x="6263964" y="0"/>
                </a:lnTo>
                <a:lnTo>
                  <a:pt x="6263964" y="3507820"/>
                </a:lnTo>
                <a:lnTo>
                  <a:pt x="0" y="35078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971867"/>
            <a:ext cx="15227391" cy="9315133"/>
          </a:xfrm>
          <a:custGeom>
            <a:avLst/>
            <a:gdLst/>
            <a:ahLst/>
            <a:cxnLst/>
            <a:rect r="r" b="b" t="t" l="l"/>
            <a:pathLst>
              <a:path h="9315133" w="15227391">
                <a:moveTo>
                  <a:pt x="0" y="0"/>
                </a:moveTo>
                <a:lnTo>
                  <a:pt x="15227391" y="0"/>
                </a:lnTo>
                <a:lnTo>
                  <a:pt x="15227391" y="9315133"/>
                </a:lnTo>
                <a:lnTo>
                  <a:pt x="0" y="931513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463177" y="452715"/>
            <a:ext cx="9664141" cy="669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74"/>
              </a:lnSpc>
              <a:spcBef>
                <a:spcPct val="0"/>
              </a:spcBef>
            </a:pPr>
            <a:r>
              <a:rPr lang="en-US" b="true" sz="3910">
                <a:solidFill>
                  <a:srgbClr val="000000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RETOS DE PROGRAMACIÓN EN PYTHON + GIT Y GITHUB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068443" y="1289951"/>
            <a:ext cx="4151114" cy="662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74"/>
              </a:lnSpc>
              <a:spcBef>
                <a:spcPct val="0"/>
              </a:spcBef>
            </a:pPr>
            <a:r>
              <a:rPr lang="en-US" b="true" sz="3910">
                <a:solidFill>
                  <a:srgbClr val="000000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RETO 2: ¿PAR O IMPAR?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9189" y="-224270"/>
            <a:ext cx="4442528" cy="4867312"/>
          </a:xfrm>
          <a:custGeom>
            <a:avLst/>
            <a:gdLst/>
            <a:ahLst/>
            <a:cxnLst/>
            <a:rect r="r" b="b" t="t" l="l"/>
            <a:pathLst>
              <a:path h="4867312" w="4442528">
                <a:moveTo>
                  <a:pt x="0" y="0"/>
                </a:moveTo>
                <a:lnTo>
                  <a:pt x="4442528" y="0"/>
                </a:lnTo>
                <a:lnTo>
                  <a:pt x="4442528" y="4867312"/>
                </a:lnTo>
                <a:lnTo>
                  <a:pt x="0" y="4867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301756">
            <a:off x="-2081849" y="8823074"/>
            <a:ext cx="6221098" cy="3483815"/>
          </a:xfrm>
          <a:custGeom>
            <a:avLst/>
            <a:gdLst/>
            <a:ahLst/>
            <a:cxnLst/>
            <a:rect r="r" b="b" t="t" l="l"/>
            <a:pathLst>
              <a:path h="3483815" w="6221098">
                <a:moveTo>
                  <a:pt x="0" y="0"/>
                </a:moveTo>
                <a:lnTo>
                  <a:pt x="6221098" y="0"/>
                </a:lnTo>
                <a:lnTo>
                  <a:pt x="6221098" y="3483815"/>
                </a:lnTo>
                <a:lnTo>
                  <a:pt x="0" y="34838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7310127">
            <a:off x="12882178" y="-1379687"/>
            <a:ext cx="7315200" cy="3817204"/>
          </a:xfrm>
          <a:custGeom>
            <a:avLst/>
            <a:gdLst/>
            <a:ahLst/>
            <a:cxnLst/>
            <a:rect r="r" b="b" t="t" l="l"/>
            <a:pathLst>
              <a:path h="3817204" w="7315200">
                <a:moveTo>
                  <a:pt x="0" y="0"/>
                </a:moveTo>
                <a:lnTo>
                  <a:pt x="7315200" y="0"/>
                </a:lnTo>
                <a:lnTo>
                  <a:pt x="7315200" y="3817204"/>
                </a:lnTo>
                <a:lnTo>
                  <a:pt x="0" y="38172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127318" y="6803185"/>
            <a:ext cx="6263964" cy="3507820"/>
          </a:xfrm>
          <a:custGeom>
            <a:avLst/>
            <a:gdLst/>
            <a:ahLst/>
            <a:cxnLst/>
            <a:rect r="r" b="b" t="t" l="l"/>
            <a:pathLst>
              <a:path h="3507820" w="6263964">
                <a:moveTo>
                  <a:pt x="0" y="0"/>
                </a:moveTo>
                <a:lnTo>
                  <a:pt x="6263964" y="0"/>
                </a:lnTo>
                <a:lnTo>
                  <a:pt x="6263964" y="3507820"/>
                </a:lnTo>
                <a:lnTo>
                  <a:pt x="0" y="35078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1097416"/>
            <a:ext cx="18288000" cy="9213589"/>
          </a:xfrm>
          <a:custGeom>
            <a:avLst/>
            <a:gdLst/>
            <a:ahLst/>
            <a:cxnLst/>
            <a:rect r="r" b="b" t="t" l="l"/>
            <a:pathLst>
              <a:path h="9213589" w="18288000">
                <a:moveTo>
                  <a:pt x="0" y="0"/>
                </a:moveTo>
                <a:lnTo>
                  <a:pt x="18288000" y="0"/>
                </a:lnTo>
                <a:lnTo>
                  <a:pt x="18288000" y="9213589"/>
                </a:lnTo>
                <a:lnTo>
                  <a:pt x="0" y="921358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463177" y="452715"/>
            <a:ext cx="9664141" cy="669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74"/>
              </a:lnSpc>
              <a:spcBef>
                <a:spcPct val="0"/>
              </a:spcBef>
            </a:pPr>
            <a:r>
              <a:rPr lang="en-US" b="true" sz="3910">
                <a:solidFill>
                  <a:srgbClr val="000000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RETOS DE PROGRAMACIÓN EN PYTHON + GIT Y GITHUB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863084" y="1289951"/>
            <a:ext cx="6561832" cy="662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74"/>
              </a:lnSpc>
              <a:spcBef>
                <a:spcPct val="0"/>
              </a:spcBef>
            </a:pPr>
            <a:r>
              <a:rPr lang="en-US" b="true" sz="3910">
                <a:solidFill>
                  <a:srgbClr val="000000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RETO 3: LA CUENTA DEL RESTAURANTE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9189" y="-224270"/>
            <a:ext cx="4442528" cy="4867312"/>
          </a:xfrm>
          <a:custGeom>
            <a:avLst/>
            <a:gdLst/>
            <a:ahLst/>
            <a:cxnLst/>
            <a:rect r="r" b="b" t="t" l="l"/>
            <a:pathLst>
              <a:path h="4867312" w="4442528">
                <a:moveTo>
                  <a:pt x="0" y="0"/>
                </a:moveTo>
                <a:lnTo>
                  <a:pt x="4442528" y="0"/>
                </a:lnTo>
                <a:lnTo>
                  <a:pt x="4442528" y="4867312"/>
                </a:lnTo>
                <a:lnTo>
                  <a:pt x="0" y="4867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301756">
            <a:off x="-2081849" y="8823074"/>
            <a:ext cx="6221098" cy="3483815"/>
          </a:xfrm>
          <a:custGeom>
            <a:avLst/>
            <a:gdLst/>
            <a:ahLst/>
            <a:cxnLst/>
            <a:rect r="r" b="b" t="t" l="l"/>
            <a:pathLst>
              <a:path h="3483815" w="6221098">
                <a:moveTo>
                  <a:pt x="0" y="0"/>
                </a:moveTo>
                <a:lnTo>
                  <a:pt x="6221098" y="0"/>
                </a:lnTo>
                <a:lnTo>
                  <a:pt x="6221098" y="3483815"/>
                </a:lnTo>
                <a:lnTo>
                  <a:pt x="0" y="34838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7310127">
            <a:off x="12882178" y="-1379687"/>
            <a:ext cx="7315200" cy="3817204"/>
          </a:xfrm>
          <a:custGeom>
            <a:avLst/>
            <a:gdLst/>
            <a:ahLst/>
            <a:cxnLst/>
            <a:rect r="r" b="b" t="t" l="l"/>
            <a:pathLst>
              <a:path h="3817204" w="7315200">
                <a:moveTo>
                  <a:pt x="0" y="0"/>
                </a:moveTo>
                <a:lnTo>
                  <a:pt x="7315200" y="0"/>
                </a:lnTo>
                <a:lnTo>
                  <a:pt x="7315200" y="3817204"/>
                </a:lnTo>
                <a:lnTo>
                  <a:pt x="0" y="38172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127318" y="6803185"/>
            <a:ext cx="6263964" cy="3507820"/>
          </a:xfrm>
          <a:custGeom>
            <a:avLst/>
            <a:gdLst/>
            <a:ahLst/>
            <a:cxnLst/>
            <a:rect r="r" b="b" t="t" l="l"/>
            <a:pathLst>
              <a:path h="3507820" w="6263964">
                <a:moveTo>
                  <a:pt x="0" y="0"/>
                </a:moveTo>
                <a:lnTo>
                  <a:pt x="6263964" y="0"/>
                </a:lnTo>
                <a:lnTo>
                  <a:pt x="6263964" y="3507820"/>
                </a:lnTo>
                <a:lnTo>
                  <a:pt x="0" y="35078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337207"/>
            <a:ext cx="18288000" cy="9949793"/>
          </a:xfrm>
          <a:custGeom>
            <a:avLst/>
            <a:gdLst/>
            <a:ahLst/>
            <a:cxnLst/>
            <a:rect r="r" b="b" t="t" l="l"/>
            <a:pathLst>
              <a:path h="9949793" w="18288000">
                <a:moveTo>
                  <a:pt x="0" y="0"/>
                </a:moveTo>
                <a:lnTo>
                  <a:pt x="18288000" y="0"/>
                </a:lnTo>
                <a:lnTo>
                  <a:pt x="18288000" y="9949793"/>
                </a:lnTo>
                <a:lnTo>
                  <a:pt x="0" y="994979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463177" y="452715"/>
            <a:ext cx="9664141" cy="669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74"/>
              </a:lnSpc>
              <a:spcBef>
                <a:spcPct val="0"/>
              </a:spcBef>
            </a:pPr>
            <a:r>
              <a:rPr lang="en-US" b="true" sz="3910">
                <a:solidFill>
                  <a:srgbClr val="000000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RETOS DE PROGRAMACIÓN EN PYTHON + GIT Y GITHUB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776466" y="1289951"/>
            <a:ext cx="6735068" cy="662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74"/>
              </a:lnSpc>
              <a:spcBef>
                <a:spcPct val="0"/>
              </a:spcBef>
            </a:pPr>
            <a:r>
              <a:rPr lang="en-US" b="true" sz="3910">
                <a:solidFill>
                  <a:srgbClr val="000000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RETO 4: ADIVINA EL NÚMERO SECRETO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9189" y="-224270"/>
            <a:ext cx="4442528" cy="4867312"/>
          </a:xfrm>
          <a:custGeom>
            <a:avLst/>
            <a:gdLst/>
            <a:ahLst/>
            <a:cxnLst/>
            <a:rect r="r" b="b" t="t" l="l"/>
            <a:pathLst>
              <a:path h="4867312" w="4442528">
                <a:moveTo>
                  <a:pt x="0" y="0"/>
                </a:moveTo>
                <a:lnTo>
                  <a:pt x="4442528" y="0"/>
                </a:lnTo>
                <a:lnTo>
                  <a:pt x="4442528" y="4867312"/>
                </a:lnTo>
                <a:lnTo>
                  <a:pt x="0" y="4867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301756">
            <a:off x="-2081849" y="8823074"/>
            <a:ext cx="6221098" cy="3483815"/>
          </a:xfrm>
          <a:custGeom>
            <a:avLst/>
            <a:gdLst/>
            <a:ahLst/>
            <a:cxnLst/>
            <a:rect r="r" b="b" t="t" l="l"/>
            <a:pathLst>
              <a:path h="3483815" w="6221098">
                <a:moveTo>
                  <a:pt x="0" y="0"/>
                </a:moveTo>
                <a:lnTo>
                  <a:pt x="6221098" y="0"/>
                </a:lnTo>
                <a:lnTo>
                  <a:pt x="6221098" y="3483815"/>
                </a:lnTo>
                <a:lnTo>
                  <a:pt x="0" y="34838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7310127">
            <a:off x="12882178" y="-1379687"/>
            <a:ext cx="7315200" cy="3817204"/>
          </a:xfrm>
          <a:custGeom>
            <a:avLst/>
            <a:gdLst/>
            <a:ahLst/>
            <a:cxnLst/>
            <a:rect r="r" b="b" t="t" l="l"/>
            <a:pathLst>
              <a:path h="3817204" w="7315200">
                <a:moveTo>
                  <a:pt x="0" y="0"/>
                </a:moveTo>
                <a:lnTo>
                  <a:pt x="7315200" y="0"/>
                </a:lnTo>
                <a:lnTo>
                  <a:pt x="7315200" y="3817204"/>
                </a:lnTo>
                <a:lnTo>
                  <a:pt x="0" y="38172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127318" y="6803185"/>
            <a:ext cx="6263964" cy="3507820"/>
          </a:xfrm>
          <a:custGeom>
            <a:avLst/>
            <a:gdLst/>
            <a:ahLst/>
            <a:cxnLst/>
            <a:rect r="r" b="b" t="t" l="l"/>
            <a:pathLst>
              <a:path h="3507820" w="6263964">
                <a:moveTo>
                  <a:pt x="0" y="0"/>
                </a:moveTo>
                <a:lnTo>
                  <a:pt x="6263964" y="0"/>
                </a:lnTo>
                <a:lnTo>
                  <a:pt x="6263964" y="3507820"/>
                </a:lnTo>
                <a:lnTo>
                  <a:pt x="0" y="35078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1324232"/>
            <a:ext cx="18288000" cy="8962768"/>
          </a:xfrm>
          <a:custGeom>
            <a:avLst/>
            <a:gdLst/>
            <a:ahLst/>
            <a:cxnLst/>
            <a:rect r="r" b="b" t="t" l="l"/>
            <a:pathLst>
              <a:path h="8962768" w="18288000">
                <a:moveTo>
                  <a:pt x="0" y="0"/>
                </a:moveTo>
                <a:lnTo>
                  <a:pt x="18288000" y="0"/>
                </a:lnTo>
                <a:lnTo>
                  <a:pt x="18288000" y="8962768"/>
                </a:lnTo>
                <a:lnTo>
                  <a:pt x="0" y="896276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463177" y="452715"/>
            <a:ext cx="9664141" cy="669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74"/>
              </a:lnSpc>
              <a:spcBef>
                <a:spcPct val="0"/>
              </a:spcBef>
            </a:pPr>
            <a:r>
              <a:rPr lang="en-US" b="true" sz="3910">
                <a:solidFill>
                  <a:srgbClr val="000000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RETOS DE PROGRAMACIÓN EN PYTHON + GIT Y GITHUB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004099" y="1289951"/>
            <a:ext cx="6279803" cy="662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74"/>
              </a:lnSpc>
              <a:spcBef>
                <a:spcPct val="0"/>
              </a:spcBef>
            </a:pPr>
            <a:r>
              <a:rPr lang="en-US" b="true" sz="3910">
                <a:solidFill>
                  <a:srgbClr val="000000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RETO 5: EL CONTADOR DE VOCALES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28990" y="4080310"/>
            <a:ext cx="13230019" cy="1888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207"/>
              </a:lnSpc>
            </a:pPr>
            <a:r>
              <a:rPr lang="en-US" sz="10862">
                <a:solidFill>
                  <a:srgbClr val="3B4BBB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¿QUE APRENDIMOS HOY?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134651" y="-180143"/>
            <a:ext cx="5168775" cy="5663001"/>
          </a:xfrm>
          <a:custGeom>
            <a:avLst/>
            <a:gdLst/>
            <a:ahLst/>
            <a:cxnLst/>
            <a:rect r="r" b="b" t="t" l="l"/>
            <a:pathLst>
              <a:path h="5663001" w="5168775">
                <a:moveTo>
                  <a:pt x="0" y="0"/>
                </a:moveTo>
                <a:lnTo>
                  <a:pt x="5168775" y="0"/>
                </a:lnTo>
                <a:lnTo>
                  <a:pt x="5168775" y="5663000"/>
                </a:lnTo>
                <a:lnTo>
                  <a:pt x="0" y="5663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127318" y="6803185"/>
            <a:ext cx="6263964" cy="3507820"/>
          </a:xfrm>
          <a:custGeom>
            <a:avLst/>
            <a:gdLst/>
            <a:ahLst/>
            <a:cxnLst/>
            <a:rect r="r" b="b" t="t" l="l"/>
            <a:pathLst>
              <a:path h="3507820" w="6263964">
                <a:moveTo>
                  <a:pt x="0" y="0"/>
                </a:moveTo>
                <a:lnTo>
                  <a:pt x="6263964" y="0"/>
                </a:lnTo>
                <a:lnTo>
                  <a:pt x="6263964" y="3507820"/>
                </a:lnTo>
                <a:lnTo>
                  <a:pt x="0" y="35078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6803185"/>
            <a:ext cx="6221098" cy="3483815"/>
          </a:xfrm>
          <a:custGeom>
            <a:avLst/>
            <a:gdLst/>
            <a:ahLst/>
            <a:cxnLst/>
            <a:rect r="r" b="b" t="t" l="l"/>
            <a:pathLst>
              <a:path h="3483815" w="6221098">
                <a:moveTo>
                  <a:pt x="0" y="0"/>
                </a:moveTo>
                <a:lnTo>
                  <a:pt x="6221098" y="0"/>
                </a:lnTo>
                <a:lnTo>
                  <a:pt x="6221098" y="3483815"/>
                </a:lnTo>
                <a:lnTo>
                  <a:pt x="0" y="34838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166785" y="-485379"/>
            <a:ext cx="5121215" cy="3771077"/>
          </a:xfrm>
          <a:custGeom>
            <a:avLst/>
            <a:gdLst/>
            <a:ahLst/>
            <a:cxnLst/>
            <a:rect r="r" b="b" t="t" l="l"/>
            <a:pathLst>
              <a:path h="3771077" w="5121215">
                <a:moveTo>
                  <a:pt x="0" y="0"/>
                </a:moveTo>
                <a:lnTo>
                  <a:pt x="5121215" y="0"/>
                </a:lnTo>
                <a:lnTo>
                  <a:pt x="5121215" y="3771076"/>
                </a:lnTo>
                <a:lnTo>
                  <a:pt x="0" y="37710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0266217">
            <a:off x="5556980" y="-1060729"/>
            <a:ext cx="7315200" cy="3165487"/>
          </a:xfrm>
          <a:custGeom>
            <a:avLst/>
            <a:gdLst/>
            <a:ahLst/>
            <a:cxnLst/>
            <a:rect r="r" b="b" t="t" l="l"/>
            <a:pathLst>
              <a:path h="3165487" w="7315200">
                <a:moveTo>
                  <a:pt x="0" y="0"/>
                </a:moveTo>
                <a:lnTo>
                  <a:pt x="7315200" y="0"/>
                </a:lnTo>
                <a:lnTo>
                  <a:pt x="7315200" y="3165487"/>
                </a:lnTo>
                <a:lnTo>
                  <a:pt x="0" y="316548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05739">
            <a:off x="6416724" y="7692852"/>
            <a:ext cx="6775868" cy="4114800"/>
          </a:xfrm>
          <a:custGeom>
            <a:avLst/>
            <a:gdLst/>
            <a:ahLst/>
            <a:cxnLst/>
            <a:rect r="r" b="b" t="t" l="l"/>
            <a:pathLst>
              <a:path h="4114800" w="6775868">
                <a:moveTo>
                  <a:pt x="0" y="0"/>
                </a:moveTo>
                <a:lnTo>
                  <a:pt x="6775868" y="0"/>
                </a:lnTo>
                <a:lnTo>
                  <a:pt x="67758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DAHSmGzdIA8</dc:identifier>
  <dcterms:modified xsi:type="dcterms:W3CDTF">2011-08-01T06:04:30Z</dcterms:modified>
  <cp:revision>1</cp:revision>
  <dc:title>Copia de Copia de Copia de Presentacion de Proyecto Trabajo Plan de Marketing Creativo Organico Moderno Azul </dc:title>
</cp:coreProperties>
</file>