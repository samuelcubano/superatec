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Pompiere" charset="1" panose="02000000000000000000"/>
      <p:regular r:id="rId21"/>
    </p:embeddedFont>
    <p:embeddedFont>
      <p:font typeface="A Day Without Sun Text Bold" charset="1" panose="02000506000000090004"/>
      <p:regular r:id="rId22"/>
    </p:embeddedFont>
    <p:embeddedFont>
      <p:font typeface="A Day Without Sun Text" charset="1" panose="02000506000000090004"/>
      <p:regular r:id="rId23"/>
    </p:embeddedFont>
    <p:embeddedFont>
      <p:font typeface="Telegraf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4.png" Type="http://schemas.openxmlformats.org/officeDocument/2006/relationships/image"/><Relationship Id="rId9" Target="../media/image1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0" y="6803185"/>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66785" y="-81427"/>
            <a:ext cx="5121215" cy="3771077"/>
          </a:xfrm>
          <a:custGeom>
            <a:avLst/>
            <a:gdLst/>
            <a:ahLst/>
            <a:cxnLst/>
            <a:rect r="r" b="b" t="t" l="l"/>
            <a:pathLst>
              <a:path h="3771077" w="5121215">
                <a:moveTo>
                  <a:pt x="0" y="0"/>
                </a:moveTo>
                <a:lnTo>
                  <a:pt x="5121215" y="0"/>
                </a:lnTo>
                <a:lnTo>
                  <a:pt x="5121215" y="3771077"/>
                </a:lnTo>
                <a:lnTo>
                  <a:pt x="0" y="37710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0266217">
            <a:off x="5556980" y="-1060729"/>
            <a:ext cx="7315200" cy="3165487"/>
          </a:xfrm>
          <a:custGeom>
            <a:avLst/>
            <a:gdLst/>
            <a:ahLst/>
            <a:cxnLst/>
            <a:rect r="r" b="b" t="t" l="l"/>
            <a:pathLst>
              <a:path h="3165487" w="7315200">
                <a:moveTo>
                  <a:pt x="0" y="0"/>
                </a:moveTo>
                <a:lnTo>
                  <a:pt x="7315200" y="0"/>
                </a:lnTo>
                <a:lnTo>
                  <a:pt x="7315200" y="3165487"/>
                </a:lnTo>
                <a:lnTo>
                  <a:pt x="0" y="3165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7" id="7"/>
          <p:cNvSpPr/>
          <p:nvPr/>
        </p:nvSpPr>
        <p:spPr>
          <a:xfrm flipH="false" flipV="false" rot="-1005739">
            <a:off x="6416724" y="7692852"/>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8" id="8"/>
          <p:cNvSpPr txBox="true"/>
          <p:nvPr/>
        </p:nvSpPr>
        <p:spPr>
          <a:xfrm rot="0">
            <a:off x="5208943" y="1730718"/>
            <a:ext cx="7870114" cy="3002419"/>
          </a:xfrm>
          <a:prstGeom prst="rect">
            <a:avLst/>
          </a:prstGeom>
        </p:spPr>
        <p:txBody>
          <a:bodyPr anchor="t" rtlCol="false" tIns="0" lIns="0" bIns="0" rIns="0">
            <a:spAutoFit/>
          </a:bodyPr>
          <a:lstStyle/>
          <a:p>
            <a:pPr algn="ctr">
              <a:lnSpc>
                <a:spcPts val="24510"/>
              </a:lnSpc>
            </a:pPr>
            <a:r>
              <a:rPr lang="en-US" sz="17507">
                <a:solidFill>
                  <a:srgbClr val="000000"/>
                </a:solidFill>
                <a:latin typeface="Pompiere"/>
                <a:ea typeface="Pompiere"/>
                <a:cs typeface="Pompiere"/>
                <a:sym typeface="Pompiere"/>
              </a:rPr>
              <a:t>CURSO  DE</a:t>
            </a:r>
          </a:p>
        </p:txBody>
      </p:sp>
      <p:sp>
        <p:nvSpPr>
          <p:cNvPr name="TextBox 9" id="9"/>
          <p:cNvSpPr txBox="true"/>
          <p:nvPr/>
        </p:nvSpPr>
        <p:spPr>
          <a:xfrm rot="0">
            <a:off x="4332481" y="3015679"/>
            <a:ext cx="9623038" cy="4645348"/>
          </a:xfrm>
          <a:prstGeom prst="rect">
            <a:avLst/>
          </a:prstGeom>
        </p:spPr>
        <p:txBody>
          <a:bodyPr anchor="t" rtlCol="false" tIns="0" lIns="0" bIns="0" rIns="0">
            <a:spAutoFit/>
          </a:bodyPr>
          <a:lstStyle/>
          <a:p>
            <a:pPr algn="ctr">
              <a:lnSpc>
                <a:spcPts val="37564"/>
              </a:lnSpc>
            </a:pPr>
            <a:r>
              <a:rPr lang="en-US" b="true" sz="26831">
                <a:solidFill>
                  <a:srgbClr val="000000"/>
                </a:solidFill>
                <a:latin typeface="A Day Without Sun Text Bold"/>
                <a:ea typeface="A Day Without Sun Text Bold"/>
                <a:cs typeface="A Day Without Sun Text Bold"/>
                <a:sym typeface="A Day Without Sun Text Bold"/>
              </a:rPr>
              <a:t>PYTHON</a:t>
            </a:r>
          </a:p>
        </p:txBody>
      </p:sp>
      <p:sp>
        <p:nvSpPr>
          <p:cNvPr name="Freeform 10" id="10"/>
          <p:cNvSpPr/>
          <p:nvPr/>
        </p:nvSpPr>
        <p:spPr>
          <a:xfrm flipH="false" flipV="false" rot="0">
            <a:off x="13167398" y="5624103"/>
            <a:ext cx="5120602" cy="5120602"/>
          </a:xfrm>
          <a:custGeom>
            <a:avLst/>
            <a:gdLst/>
            <a:ahLst/>
            <a:cxnLst/>
            <a:rect r="r" b="b" t="t" l="l"/>
            <a:pathLst>
              <a:path h="5120602" w="5120602">
                <a:moveTo>
                  <a:pt x="0" y="0"/>
                </a:moveTo>
                <a:lnTo>
                  <a:pt x="5120602" y="0"/>
                </a:lnTo>
                <a:lnTo>
                  <a:pt x="5120602" y="5120602"/>
                </a:lnTo>
                <a:lnTo>
                  <a:pt x="0" y="5120602"/>
                </a:lnTo>
                <a:lnTo>
                  <a:pt x="0" y="0"/>
                </a:lnTo>
                <a:close/>
              </a:path>
            </a:pathLst>
          </a:custGeom>
          <a:blipFill>
            <a:blip r:embed="rId14"/>
            <a:stretch>
              <a:fillRect l="0" t="0" r="0" b="0"/>
            </a:stretch>
          </a:blipFill>
        </p:spPr>
      </p:sp>
      <p:sp>
        <p:nvSpPr>
          <p:cNvPr name="TextBox 11" id="11"/>
          <p:cNvSpPr txBox="true"/>
          <p:nvPr/>
        </p:nvSpPr>
        <p:spPr>
          <a:xfrm rot="0">
            <a:off x="8128992" y="6958479"/>
            <a:ext cx="2030016" cy="712832"/>
          </a:xfrm>
          <a:prstGeom prst="rect">
            <a:avLst/>
          </a:prstGeom>
        </p:spPr>
        <p:txBody>
          <a:bodyPr anchor="t" rtlCol="false" tIns="0" lIns="0" bIns="0" rIns="0">
            <a:spAutoFit/>
          </a:bodyPr>
          <a:lstStyle/>
          <a:p>
            <a:pPr algn="ctr">
              <a:lnSpc>
                <a:spcPts val="5860"/>
              </a:lnSpc>
            </a:pPr>
            <a:r>
              <a:rPr lang="en-US" sz="4185">
                <a:solidFill>
                  <a:srgbClr val="000000"/>
                </a:solidFill>
                <a:latin typeface="Pompiere"/>
                <a:ea typeface="Pompiere"/>
                <a:cs typeface="Pompiere"/>
                <a:sym typeface="Pompiere"/>
              </a:rPr>
              <a:t>SUPERATEC</a:t>
            </a:r>
          </a:p>
        </p:txBody>
      </p:sp>
      <p:sp>
        <p:nvSpPr>
          <p:cNvPr name="TextBox 12" id="12"/>
          <p:cNvSpPr txBox="true"/>
          <p:nvPr/>
        </p:nvSpPr>
        <p:spPr>
          <a:xfrm rot="0">
            <a:off x="8528696" y="1727912"/>
            <a:ext cx="1230607" cy="576493"/>
          </a:xfrm>
          <a:prstGeom prst="rect">
            <a:avLst/>
          </a:prstGeom>
        </p:spPr>
        <p:txBody>
          <a:bodyPr anchor="t" rtlCol="false" tIns="0" lIns="0" bIns="0" rIns="0">
            <a:spAutoFit/>
          </a:bodyPr>
          <a:lstStyle/>
          <a:p>
            <a:pPr algn="ctr">
              <a:lnSpc>
                <a:spcPts val="4605"/>
              </a:lnSpc>
            </a:pPr>
            <a:r>
              <a:rPr lang="en-US" sz="3289">
                <a:solidFill>
                  <a:srgbClr val="000000"/>
                </a:solidFill>
                <a:latin typeface="Pompiere"/>
                <a:ea typeface="Pompiere"/>
                <a:cs typeface="Pompiere"/>
                <a:sym typeface="Pompiere"/>
              </a:rPr>
              <a:t>CLASE VI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7310127">
            <a:off x="11263284" y="-2460977"/>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5293774" y="1269524"/>
            <a:ext cx="6571651"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RESUMEN</a:t>
            </a:r>
            <a:r>
              <a:rPr lang="en-US" b="true" sz="5000">
                <a:solidFill>
                  <a:srgbClr val="000000"/>
                </a:solidFill>
                <a:latin typeface="A Day Without Sun Text Bold"/>
                <a:ea typeface="A Day Without Sun Text Bold"/>
                <a:cs typeface="A Day Without Sun Text Bold"/>
                <a:sym typeface="A Day Without Sun Text Bold"/>
              </a:rPr>
              <a:t> DE CLASE ANTERIOR</a:t>
            </a:r>
          </a:p>
        </p:txBody>
      </p:sp>
      <p:sp>
        <p:nvSpPr>
          <p:cNvPr name="TextBox 7" id="7"/>
          <p:cNvSpPr txBox="true"/>
          <p:nvPr/>
        </p:nvSpPr>
        <p:spPr>
          <a:xfrm rot="0">
            <a:off x="1633695" y="2817040"/>
            <a:ext cx="13660248" cy="3985435"/>
          </a:xfrm>
          <a:prstGeom prst="rect">
            <a:avLst/>
          </a:prstGeom>
        </p:spPr>
        <p:txBody>
          <a:bodyPr anchor="t" rtlCol="false" tIns="0" lIns="0" bIns="0" rIns="0">
            <a:spAutoFit/>
          </a:bodyPr>
          <a:lstStyle/>
          <a:p>
            <a:pPr algn="l">
              <a:lnSpc>
                <a:spcPts val="7976"/>
              </a:lnSpc>
            </a:pPr>
            <a:r>
              <a:rPr lang="en-US" sz="5697">
                <a:solidFill>
                  <a:srgbClr val="000000"/>
                </a:solidFill>
                <a:latin typeface="A Day Without Sun Text"/>
                <a:ea typeface="A Day Without Sun Text"/>
                <a:cs typeface="A Day Without Sun Text"/>
                <a:sym typeface="A Day Without Sun Text"/>
              </a:rPr>
              <a:t>1- Diccionarios ( estructuras por clave valor { } )</a:t>
            </a:r>
          </a:p>
          <a:p>
            <a:pPr algn="l">
              <a:lnSpc>
                <a:spcPts val="7976"/>
              </a:lnSpc>
            </a:pPr>
            <a:r>
              <a:rPr lang="en-US" sz="5697">
                <a:solidFill>
                  <a:srgbClr val="000000"/>
                </a:solidFill>
                <a:latin typeface="A Day Without Sun Text"/>
                <a:ea typeface="A Day Without Sun Text"/>
                <a:cs typeface="A Day Without Sun Text"/>
                <a:sym typeface="A Day Without Sun Text"/>
              </a:rPr>
              <a:t>2- Funciones ( )</a:t>
            </a:r>
          </a:p>
          <a:p>
            <a:pPr algn="l">
              <a:lnSpc>
                <a:spcPts val="7976"/>
              </a:lnSpc>
            </a:pPr>
            <a:r>
              <a:rPr lang="en-US" sz="5697">
                <a:solidFill>
                  <a:srgbClr val="000000"/>
                </a:solidFill>
                <a:latin typeface="A Day Without Sun Text"/>
                <a:ea typeface="A Day Without Sun Text"/>
                <a:cs typeface="A Day Without Sun Text"/>
                <a:sym typeface="A Day Without Sun Text"/>
              </a:rPr>
              <a:t>3- Creación de funciones propias ( def )</a:t>
            </a:r>
          </a:p>
          <a:p>
            <a:pPr algn="l">
              <a:lnSpc>
                <a:spcPts val="7976"/>
              </a:lnSpc>
              <a:spcBef>
                <a:spcPct val="0"/>
              </a:spcBef>
            </a:pPr>
            <a:r>
              <a:rPr lang="en-US" sz="5697">
                <a:solidFill>
                  <a:srgbClr val="000000"/>
                </a:solidFill>
                <a:latin typeface="A Day Without Sun Text"/>
                <a:ea typeface="A Day Without Sun Text"/>
                <a:cs typeface="A Day Without Sun Text"/>
                <a:sym typeface="A Day Without Sun Text"/>
              </a:rPr>
              <a:t>4- Parametros y retorno de valores ( return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854959" y="2801949"/>
            <a:ext cx="10160820" cy="4831370"/>
          </a:xfrm>
          <a:prstGeom prst="rect">
            <a:avLst/>
          </a:prstGeom>
        </p:spPr>
        <p:txBody>
          <a:bodyPr anchor="t" rtlCol="false" tIns="0" lIns="0" bIns="0" rIns="0">
            <a:spAutoFit/>
          </a:bodyPr>
          <a:lstStyle/>
          <a:p>
            <a:pPr algn="l">
              <a:lnSpc>
                <a:spcPts val="7702"/>
              </a:lnSpc>
            </a:pPr>
            <a:r>
              <a:rPr lang="en-US" sz="5501">
                <a:solidFill>
                  <a:srgbClr val="000000"/>
                </a:solidFill>
                <a:latin typeface="A Day Without Sun Text"/>
                <a:ea typeface="A Day Without Sun Text"/>
                <a:cs typeface="A Day Without Sun Text"/>
                <a:sym typeface="A Day Without Sun Text"/>
              </a:rPr>
              <a:t>¿Por qué es tan necesario crear funciones?</a:t>
            </a:r>
          </a:p>
          <a:p>
            <a:pPr algn="l">
              <a:lnSpc>
                <a:spcPts val="7702"/>
              </a:lnSpc>
            </a:pPr>
            <a:r>
              <a:rPr lang="en-US" sz="5501">
                <a:solidFill>
                  <a:srgbClr val="000000"/>
                </a:solidFill>
                <a:latin typeface="A Day Without Sun Text"/>
                <a:ea typeface="A Day Without Sun Text"/>
                <a:cs typeface="A Day Without Sun Text"/>
                <a:sym typeface="A Day Without Sun Text"/>
              </a:rPr>
              <a:t>¿Para que se usan los diccionarios?</a:t>
            </a:r>
          </a:p>
          <a:p>
            <a:pPr algn="l">
              <a:lnSpc>
                <a:spcPts val="7702"/>
              </a:lnSpc>
            </a:pPr>
          </a:p>
          <a:p>
            <a:pPr algn="l">
              <a:lnSpc>
                <a:spcPts val="7702"/>
              </a:lnSpc>
            </a:pPr>
            <a:r>
              <a:rPr lang="en-US" sz="5501">
                <a:solidFill>
                  <a:srgbClr val="000000"/>
                </a:solidFill>
                <a:latin typeface="A Day Without Sun Text"/>
                <a:ea typeface="A Day Without Sun Text"/>
                <a:cs typeface="A Day Without Sun Text"/>
                <a:sym typeface="A Day Without Sun Text"/>
              </a:rPr>
              <a:t>Explicar con ejemplos o analogías simples</a:t>
            </a:r>
          </a:p>
          <a:p>
            <a:pPr algn="l">
              <a:lnSpc>
                <a:spcPts val="7702"/>
              </a:lnSpc>
              <a:spcBef>
                <a:spcPct val="0"/>
              </a:spcBef>
            </a:pPr>
          </a:p>
        </p:txBody>
      </p:sp>
      <p:sp>
        <p:nvSpPr>
          <p:cNvPr name="Freeform 4" id="4"/>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310127">
            <a:off x="11256058" y="-1370536"/>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437268" y="1269524"/>
            <a:ext cx="6284664"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REPASO DE CLASE ANTERIOR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07021">
            <a:off x="12622351" y="6816928"/>
            <a:ext cx="7783365" cy="4358685"/>
          </a:xfrm>
          <a:custGeom>
            <a:avLst/>
            <a:gdLst/>
            <a:ahLst/>
            <a:cxnLst/>
            <a:rect r="r" b="b" t="t" l="l"/>
            <a:pathLst>
              <a:path h="4358685" w="7783365">
                <a:moveTo>
                  <a:pt x="0" y="0"/>
                </a:moveTo>
                <a:lnTo>
                  <a:pt x="7783365" y="0"/>
                </a:lnTo>
                <a:lnTo>
                  <a:pt x="7783365" y="4358684"/>
                </a:lnTo>
                <a:lnTo>
                  <a:pt x="0" y="43586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514538" y="3549966"/>
            <a:ext cx="13660248" cy="1977510"/>
          </a:xfrm>
          <a:prstGeom prst="rect">
            <a:avLst/>
          </a:prstGeom>
        </p:spPr>
        <p:txBody>
          <a:bodyPr anchor="t" rtlCol="false" tIns="0" lIns="0" bIns="0" rIns="0">
            <a:spAutoFit/>
          </a:bodyPr>
          <a:lstStyle/>
          <a:p>
            <a:pPr algn="l">
              <a:lnSpc>
                <a:spcPts val="7976"/>
              </a:lnSpc>
            </a:pPr>
            <a:r>
              <a:rPr lang="en-US" sz="5697">
                <a:solidFill>
                  <a:srgbClr val="000000"/>
                </a:solidFill>
                <a:latin typeface="A Day Without Sun Text"/>
                <a:ea typeface="A Day Without Sun Text"/>
                <a:cs typeface="A Day Without Sun Text"/>
                <a:sym typeface="A Day Without Sun Text"/>
              </a:rPr>
              <a:t>1- Manejo básico de errores ( try / except )</a:t>
            </a:r>
          </a:p>
          <a:p>
            <a:pPr algn="l">
              <a:lnSpc>
                <a:spcPts val="7976"/>
              </a:lnSpc>
              <a:spcBef>
                <a:spcPct val="0"/>
              </a:spcBef>
            </a:pPr>
            <a:r>
              <a:rPr lang="en-US" sz="5697">
                <a:solidFill>
                  <a:srgbClr val="000000"/>
                </a:solidFill>
                <a:latin typeface="A Day Without Sun Text"/>
                <a:ea typeface="A Day Without Sun Text"/>
                <a:cs typeface="A Day Without Sun Text"/>
                <a:sym typeface="A Day Without Sun Text"/>
              </a:rPr>
              <a:t>2- Desarrollo y Soluciones a errores simples</a:t>
            </a:r>
          </a:p>
        </p:txBody>
      </p:sp>
      <p:sp>
        <p:nvSpPr>
          <p:cNvPr name="Freeform 4" id="4"/>
          <p:cNvSpPr/>
          <p:nvPr/>
        </p:nvSpPr>
        <p:spPr>
          <a:xfrm flipH="false" flipV="false" rot="0">
            <a:off x="-587569" y="-789600"/>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301756">
            <a:off x="-1476855" y="8545092"/>
            <a:ext cx="6221098" cy="3483815"/>
          </a:xfrm>
          <a:custGeom>
            <a:avLst/>
            <a:gdLst/>
            <a:ahLst/>
            <a:cxnLst/>
            <a:rect r="r" b="b" t="t" l="l"/>
            <a:pathLst>
              <a:path h="3483815" w="6221098">
                <a:moveTo>
                  <a:pt x="0" y="0"/>
                </a:moveTo>
                <a:lnTo>
                  <a:pt x="6221099" y="0"/>
                </a:lnTo>
                <a:lnTo>
                  <a:pt x="6221099" y="3483816"/>
                </a:lnTo>
                <a:lnTo>
                  <a:pt x="0" y="348381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7310127">
            <a:off x="11256058" y="-1370536"/>
            <a:ext cx="9597730" cy="5008270"/>
          </a:xfrm>
          <a:custGeom>
            <a:avLst/>
            <a:gdLst/>
            <a:ahLst/>
            <a:cxnLst/>
            <a:rect r="r" b="b" t="t" l="l"/>
            <a:pathLst>
              <a:path h="5008270" w="9597730">
                <a:moveTo>
                  <a:pt x="0" y="0"/>
                </a:moveTo>
                <a:lnTo>
                  <a:pt x="9597730" y="0"/>
                </a:lnTo>
                <a:lnTo>
                  <a:pt x="9597730" y="5008270"/>
                </a:lnTo>
                <a:lnTo>
                  <a:pt x="0" y="50082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499702" y="1269524"/>
            <a:ext cx="8159797"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PUNTOS A TRATAR EN EL DIA DE HOY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3967" y="265579"/>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3347506" y="-1686064"/>
            <a:ext cx="6299021" cy="3286944"/>
          </a:xfrm>
          <a:custGeom>
            <a:avLst/>
            <a:gdLst/>
            <a:ahLst/>
            <a:cxnLst/>
            <a:rect r="r" b="b" t="t" l="l"/>
            <a:pathLst>
              <a:path h="3286944" w="6299021">
                <a:moveTo>
                  <a:pt x="0" y="0"/>
                </a:moveTo>
                <a:lnTo>
                  <a:pt x="6299020" y="0"/>
                </a:lnTo>
                <a:lnTo>
                  <a:pt x="6299020" y="3286943"/>
                </a:lnTo>
                <a:lnTo>
                  <a:pt x="0" y="32869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5589524" y="4254573"/>
            <a:ext cx="7569499" cy="6223246"/>
          </a:xfrm>
          <a:custGeom>
            <a:avLst/>
            <a:gdLst/>
            <a:ahLst/>
            <a:cxnLst/>
            <a:rect r="r" b="b" t="t" l="l"/>
            <a:pathLst>
              <a:path h="6223246" w="7569499">
                <a:moveTo>
                  <a:pt x="0" y="0"/>
                </a:moveTo>
                <a:lnTo>
                  <a:pt x="7569500" y="0"/>
                </a:lnTo>
                <a:lnTo>
                  <a:pt x="7569500" y="6223246"/>
                </a:lnTo>
                <a:lnTo>
                  <a:pt x="0" y="6223246"/>
                </a:lnTo>
                <a:lnTo>
                  <a:pt x="0" y="0"/>
                </a:lnTo>
                <a:close/>
              </a:path>
            </a:pathLst>
          </a:custGeom>
          <a:blipFill>
            <a:blip r:embed="rId10"/>
            <a:stretch>
              <a:fillRect l="0" t="0" r="0" b="0"/>
            </a:stretch>
          </a:blipFill>
        </p:spPr>
      </p:sp>
      <p:sp>
        <p:nvSpPr>
          <p:cNvPr name="TextBox 10" id="10"/>
          <p:cNvSpPr txBox="true"/>
          <p:nvPr/>
        </p:nvSpPr>
        <p:spPr>
          <a:xfrm rot="0">
            <a:off x="8036388" y="303829"/>
            <a:ext cx="2914084"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TRY / EXCEPT</a:t>
            </a:r>
          </a:p>
        </p:txBody>
      </p:sp>
      <p:sp>
        <p:nvSpPr>
          <p:cNvPr name="TextBox 11" id="11"/>
          <p:cNvSpPr txBox="true"/>
          <p:nvPr/>
        </p:nvSpPr>
        <p:spPr>
          <a:xfrm rot="0">
            <a:off x="6853967" y="232050"/>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1</a:t>
            </a:r>
          </a:p>
        </p:txBody>
      </p:sp>
      <p:sp>
        <p:nvSpPr>
          <p:cNvPr name="TextBox 12" id="12"/>
          <p:cNvSpPr txBox="true"/>
          <p:nvPr/>
        </p:nvSpPr>
        <p:spPr>
          <a:xfrm rot="0">
            <a:off x="1736265" y="1393309"/>
            <a:ext cx="14212754" cy="3313430"/>
          </a:xfrm>
          <a:prstGeom prst="rect">
            <a:avLst/>
          </a:prstGeom>
        </p:spPr>
        <p:txBody>
          <a:bodyPr anchor="t" rtlCol="false" tIns="0" lIns="0" bIns="0" rIns="0">
            <a:spAutoFit/>
          </a:bodyPr>
          <a:lstStyle/>
          <a:p>
            <a:pPr algn="ctr" marL="0" indent="0" lvl="0">
              <a:lnSpc>
                <a:spcPts val="5320"/>
              </a:lnSpc>
              <a:spcBef>
                <a:spcPct val="0"/>
              </a:spcBef>
            </a:pPr>
            <a:r>
              <a:rPr lang="en-US" sz="3800">
                <a:solidFill>
                  <a:srgbClr val="000000"/>
                </a:solidFill>
                <a:latin typeface="A Day Without Sun Text"/>
                <a:ea typeface="A Day Without Sun Text"/>
                <a:cs typeface="A Day Without Sun Text"/>
                <a:sym typeface="A Day Without Sun Text"/>
              </a:rPr>
              <a:t>EL TRY / EXCEPT ES UNA ESTRUCTURA DE CONTROL DE ERRORES QUE LE PERMITE A UN PROGRAMA "INTENTAR" EJECUTAR UN BLOQUE DE CÓDIGO POTENCIALMENTE PELIGROSO Y, SI OCURRE UN FALLO (COMO UN DATO MAL INGRESADO), ATRAPAR EL ERROR DE FORMA SEGURA EN EL BLOQUE EXCEPT PARA EVITAR QUE LA APLICACIÓN SE CONGELE O SE CIERRE DE GOLPE.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310127">
            <a:off x="122466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937877"/>
            <a:ext cx="18288000" cy="9221711"/>
          </a:xfrm>
          <a:custGeom>
            <a:avLst/>
            <a:gdLst/>
            <a:ahLst/>
            <a:cxnLst/>
            <a:rect r="r" b="b" t="t" l="l"/>
            <a:pathLst>
              <a:path h="9221711" w="18288000">
                <a:moveTo>
                  <a:pt x="0" y="0"/>
                </a:moveTo>
                <a:lnTo>
                  <a:pt x="18288000" y="0"/>
                </a:lnTo>
                <a:lnTo>
                  <a:pt x="18288000" y="9221711"/>
                </a:lnTo>
                <a:lnTo>
                  <a:pt x="0" y="9221711"/>
                </a:lnTo>
                <a:lnTo>
                  <a:pt x="0" y="0"/>
                </a:lnTo>
                <a:close/>
              </a:path>
            </a:pathLst>
          </a:custGeom>
          <a:blipFill>
            <a:blip r:embed="rId10"/>
            <a:stretch>
              <a:fillRect l="0" t="0" r="0" b="0"/>
            </a:stretch>
          </a:blipFill>
        </p:spPr>
      </p:sp>
      <p:grpSp>
        <p:nvGrpSpPr>
          <p:cNvPr name="Group 7" id="7"/>
          <p:cNvGrpSpPr/>
          <p:nvPr/>
        </p:nvGrpSpPr>
        <p:grpSpPr>
          <a:xfrm rot="0">
            <a:off x="5628274" y="101145"/>
            <a:ext cx="1063265" cy="1063265"/>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9" id="9"/>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6691539" y="65411"/>
            <a:ext cx="6094281"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EJEMPLO DE TRY / EXCEPT</a:t>
            </a:r>
          </a:p>
        </p:txBody>
      </p:sp>
      <p:sp>
        <p:nvSpPr>
          <p:cNvPr name="TextBox 11" id="11"/>
          <p:cNvSpPr txBox="true"/>
          <p:nvPr/>
        </p:nvSpPr>
        <p:spPr>
          <a:xfrm rot="0">
            <a:off x="5628274" y="84455"/>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723943" y="248740"/>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4758059" y="7504390"/>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55321" y="-1495779"/>
            <a:ext cx="4442528" cy="4867312"/>
          </a:xfrm>
          <a:custGeom>
            <a:avLst/>
            <a:gdLst/>
            <a:ahLst/>
            <a:cxnLst/>
            <a:rect r="r" b="b" t="t" l="l"/>
            <a:pathLst>
              <a:path h="4867312" w="4442528">
                <a:moveTo>
                  <a:pt x="0" y="0"/>
                </a:moveTo>
                <a:lnTo>
                  <a:pt x="4442528" y="0"/>
                </a:lnTo>
                <a:lnTo>
                  <a:pt x="4442528" y="4867311"/>
                </a:lnTo>
                <a:lnTo>
                  <a:pt x="0" y="48673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1756">
            <a:off x="-914593" y="8451872"/>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7310127">
            <a:off x="13347506" y="-1686064"/>
            <a:ext cx="6299021" cy="3286944"/>
          </a:xfrm>
          <a:custGeom>
            <a:avLst/>
            <a:gdLst/>
            <a:ahLst/>
            <a:cxnLst/>
            <a:rect r="r" b="b" t="t" l="l"/>
            <a:pathLst>
              <a:path h="3286944" w="6299021">
                <a:moveTo>
                  <a:pt x="0" y="0"/>
                </a:moveTo>
                <a:lnTo>
                  <a:pt x="6299020" y="0"/>
                </a:lnTo>
                <a:lnTo>
                  <a:pt x="6299020" y="3286943"/>
                </a:lnTo>
                <a:lnTo>
                  <a:pt x="0" y="328694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907117" y="286989"/>
            <a:ext cx="7412444" cy="872466"/>
          </a:xfrm>
          <a:prstGeom prst="rect">
            <a:avLst/>
          </a:prstGeom>
        </p:spPr>
        <p:txBody>
          <a:bodyPr anchor="t" rtlCol="false" tIns="0" lIns="0" bIns="0" rIns="0">
            <a:spAutoFit/>
          </a:bodyPr>
          <a:lstStyle/>
          <a:p>
            <a:pPr algn="ctr" marL="0" indent="0" lvl="0">
              <a:lnSpc>
                <a:spcPts val="7000"/>
              </a:lnSpc>
              <a:spcBef>
                <a:spcPct val="0"/>
              </a:spcBef>
            </a:pPr>
            <a:r>
              <a:rPr lang="en-US" b="true" sz="5000">
                <a:solidFill>
                  <a:srgbClr val="000000"/>
                </a:solidFill>
                <a:latin typeface="A Day Without Sun Text Bold"/>
                <a:ea typeface="A Day Without Sun Text Bold"/>
                <a:cs typeface="A Day Without Sun Text Bold"/>
                <a:sym typeface="A Day Without Sun Text Bold"/>
              </a:rPr>
              <a:t>TRY / EXCEPT VS CONDICIONALES</a:t>
            </a:r>
          </a:p>
        </p:txBody>
      </p:sp>
      <p:sp>
        <p:nvSpPr>
          <p:cNvPr name="TextBox 10" id="10"/>
          <p:cNvSpPr txBox="true"/>
          <p:nvPr/>
        </p:nvSpPr>
        <p:spPr>
          <a:xfrm rot="0">
            <a:off x="4723943" y="232050"/>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3</a:t>
            </a:r>
          </a:p>
        </p:txBody>
      </p:sp>
      <p:sp>
        <p:nvSpPr>
          <p:cNvPr name="TextBox 11" id="11"/>
          <p:cNvSpPr txBox="true"/>
          <p:nvPr/>
        </p:nvSpPr>
        <p:spPr>
          <a:xfrm rot="0">
            <a:off x="1165943" y="1393309"/>
            <a:ext cx="16093357" cy="9314180"/>
          </a:xfrm>
          <a:prstGeom prst="rect">
            <a:avLst/>
          </a:prstGeom>
        </p:spPr>
        <p:txBody>
          <a:bodyPr anchor="t" rtlCol="false" tIns="0" lIns="0" bIns="0" rIns="0">
            <a:spAutoFit/>
          </a:bodyPr>
          <a:lstStyle/>
          <a:p>
            <a:pPr algn="l">
              <a:lnSpc>
                <a:spcPts val="5320"/>
              </a:lnSpc>
            </a:pPr>
            <a:r>
              <a:rPr lang="en-US" sz="3800">
                <a:solidFill>
                  <a:srgbClr val="000000"/>
                </a:solidFill>
                <a:latin typeface="A Day Without Sun Text"/>
                <a:ea typeface="A Day Without Sun Text"/>
                <a:cs typeface="A Day Without Sun Text"/>
                <a:sym typeface="A Day Without Sun Text"/>
              </a:rPr>
              <a:t>LA CONFUSIÓN ENTRE </a:t>
            </a:r>
            <a:r>
              <a:rPr lang="en-US" sz="3800" b="true">
                <a:solidFill>
                  <a:srgbClr val="000000"/>
                </a:solidFill>
                <a:latin typeface="A Day Without Sun Text Bold"/>
                <a:ea typeface="A Day Without Sun Text Bold"/>
                <a:cs typeface="A Day Without Sun Text Bold"/>
                <a:sym typeface="A Day Without Sun Text Bold"/>
              </a:rPr>
              <a:t>IF/ELIF/ELSE Y TRY/EXCEPT</a:t>
            </a:r>
            <a:r>
              <a:rPr lang="en-US" sz="3800">
                <a:solidFill>
                  <a:srgbClr val="000000"/>
                </a:solidFill>
                <a:latin typeface="A Day Without Sun Text"/>
                <a:ea typeface="A Day Without Sun Text"/>
                <a:cs typeface="A Day Without Sun Text"/>
                <a:sym typeface="A Day Without Sun Text"/>
              </a:rPr>
              <a:t> ES SÚPER COMÚN AL PRINCIPIO, PERO LA DIFERENCIA DE ENFOQUE ES ABISMAL.</a:t>
            </a:r>
          </a:p>
          <a:p>
            <a:pPr algn="l" marL="820421" indent="-410210" lvl="1">
              <a:lnSpc>
                <a:spcPts val="5320"/>
              </a:lnSpc>
              <a:buFont typeface="Arial"/>
              <a:buChar char="•"/>
            </a:pPr>
            <a:r>
              <a:rPr lang="en-US" b="true" sz="3800">
                <a:solidFill>
                  <a:srgbClr val="000000"/>
                </a:solidFill>
                <a:latin typeface="A Day Without Sun Text Bold"/>
                <a:ea typeface="A Day Without Sun Text Bold"/>
                <a:cs typeface="A Day Without Sun Text Bold"/>
                <a:sym typeface="A Day Without Sun Text Bold"/>
              </a:rPr>
              <a:t>IF / ELIF / ELSE</a:t>
            </a:r>
            <a:r>
              <a:rPr lang="en-US" sz="3800">
                <a:solidFill>
                  <a:srgbClr val="000000"/>
                </a:solidFill>
                <a:latin typeface="A Day Without Sun Text"/>
                <a:ea typeface="A Day Without Sun Text"/>
                <a:cs typeface="A Day Without Sun Text"/>
                <a:sym typeface="A Day Without Sun Text"/>
              </a:rPr>
              <a:t> TOMA DECISIONES SOBRE LA LÓGICA DE TU NEGOCIO. EVALÚA SITUACIONES QUE TÚ ESPERAS Y CONTROLAS (EJ: "SI LA NOTA ES MAYOR A 18, HAZ ESTO; SI NO, HAZ LO OTRO").</a:t>
            </a:r>
          </a:p>
          <a:p>
            <a:pPr algn="l" marL="820421" indent="-410210" lvl="1">
              <a:lnSpc>
                <a:spcPts val="5320"/>
              </a:lnSpc>
              <a:buFont typeface="Arial"/>
              <a:buChar char="•"/>
            </a:pPr>
            <a:r>
              <a:rPr lang="en-US" b="true" sz="3800">
                <a:solidFill>
                  <a:srgbClr val="000000"/>
                </a:solidFill>
                <a:latin typeface="A Day Without Sun Text Bold"/>
                <a:ea typeface="A Day Without Sun Text Bold"/>
                <a:cs typeface="A Day Without Sun Text Bold"/>
                <a:sym typeface="A Day Without Sun Text Bold"/>
              </a:rPr>
              <a:t>TRY / EXCEPT</a:t>
            </a:r>
            <a:r>
              <a:rPr lang="en-US" sz="3800">
                <a:solidFill>
                  <a:srgbClr val="000000"/>
                </a:solidFill>
                <a:latin typeface="A Day Without Sun Text"/>
                <a:ea typeface="A Day Without Sun Text"/>
                <a:cs typeface="A Day Without Sun Text"/>
                <a:sym typeface="A Day Without Sun Text"/>
              </a:rPr>
              <a:t> MANEJA ACCIDENTES O IMPREVISTOS TÉCNICOS. EVALÚA ERRORES QUE NO SABES SI VAN A PASAR, GENERALMENTE CAUSADOS POR FALLOS EXTERNOS O ERRORES DEL USUARIO (EJ: "INTENTA CONVERTIR ESTO A NÚMERO, PERO SI EL USUARIO ESCRIBE LETRAS, ATRÁPALO PARA QUE EL PROGRAMA NO EXPLOTE").</a:t>
            </a:r>
          </a:p>
          <a:p>
            <a:pPr algn="l">
              <a:lnSpc>
                <a:spcPts val="5320"/>
              </a:lnSpc>
            </a:pPr>
            <a:r>
              <a:rPr lang="en-US" sz="3800" b="true">
                <a:solidFill>
                  <a:srgbClr val="000000"/>
                </a:solidFill>
                <a:latin typeface="A Day Without Sun Text Bold"/>
                <a:ea typeface="A Day Without Sun Text Bold"/>
                <a:cs typeface="A Day Without Sun Text Bold"/>
                <a:sym typeface="A Day Without Sun Text Bold"/>
              </a:rPr>
              <a:t>LA GRAN DIFERENCIA EN UNA SOLA FRASE:</a:t>
            </a:r>
          </a:p>
          <a:p>
            <a:pPr algn="l" marL="820421" indent="-410210" lvl="1">
              <a:lnSpc>
                <a:spcPts val="5320"/>
              </a:lnSpc>
              <a:buFont typeface="Arial"/>
              <a:buChar char="•"/>
            </a:pPr>
            <a:r>
              <a:rPr lang="en-US" sz="3800">
                <a:solidFill>
                  <a:srgbClr val="000000"/>
                </a:solidFill>
                <a:latin typeface="A Day Without Sun Text"/>
                <a:ea typeface="A Day Without Sun Text"/>
                <a:cs typeface="A Day Without Sun Text"/>
                <a:sym typeface="A Day Without Sun Text"/>
              </a:rPr>
              <a:t>USAS </a:t>
            </a:r>
            <a:r>
              <a:rPr lang="en-US" b="true" sz="3800">
                <a:solidFill>
                  <a:srgbClr val="000000"/>
                </a:solidFill>
                <a:latin typeface="A Day Without Sun Text Bold"/>
                <a:ea typeface="A Day Without Sun Text Bold"/>
                <a:cs typeface="A Day Without Sun Text Bold"/>
                <a:sym typeface="A Day Without Sun Text Bold"/>
              </a:rPr>
              <a:t>IF / ELSE</a:t>
            </a:r>
            <a:r>
              <a:rPr lang="en-US" sz="3800">
                <a:solidFill>
                  <a:srgbClr val="000000"/>
                </a:solidFill>
                <a:latin typeface="A Day Without Sun Text"/>
                <a:ea typeface="A Day Without Sun Text"/>
                <a:cs typeface="A Day Without Sun Text"/>
                <a:sym typeface="A Day Without Sun Text"/>
              </a:rPr>
              <a:t> PARA DECIDIR CAMINOS LÓGICOS SEGÚN LAS REGLAS DEL PROGRAMA.</a:t>
            </a:r>
          </a:p>
          <a:p>
            <a:pPr algn="l" marL="820421" indent="-410210" lvl="1">
              <a:lnSpc>
                <a:spcPts val="5320"/>
              </a:lnSpc>
              <a:spcBef>
                <a:spcPct val="0"/>
              </a:spcBef>
              <a:buFont typeface="Arial"/>
              <a:buChar char="•"/>
            </a:pPr>
            <a:r>
              <a:rPr lang="en-US" sz="3800">
                <a:solidFill>
                  <a:srgbClr val="000000"/>
                </a:solidFill>
                <a:latin typeface="A Day Without Sun Text"/>
                <a:ea typeface="A Day Without Sun Text"/>
                <a:cs typeface="A Day Without Sun Text"/>
                <a:sym typeface="A Day Without Sun Text"/>
              </a:rPr>
              <a:t>USAS </a:t>
            </a:r>
            <a:r>
              <a:rPr lang="en-US" b="true" sz="3800">
                <a:solidFill>
                  <a:srgbClr val="000000"/>
                </a:solidFill>
                <a:latin typeface="A Day Without Sun Text Bold"/>
                <a:ea typeface="A Day Without Sun Text Bold"/>
                <a:cs typeface="A Day Without Sun Text Bold"/>
                <a:sym typeface="A Day Without Sun Text Bold"/>
              </a:rPr>
              <a:t>TRY / EXCEPT</a:t>
            </a:r>
            <a:r>
              <a:rPr lang="en-US" sz="3800">
                <a:solidFill>
                  <a:srgbClr val="000000"/>
                </a:solidFill>
                <a:latin typeface="A Day Without Sun Text"/>
                <a:ea typeface="A Day Without Sun Text"/>
                <a:cs typeface="A Day Without Sun Text"/>
                <a:sym typeface="A Day Without Sun Text"/>
              </a:rPr>
              <a:t> PARA SOBREVIVIR A UN ERROR INESPERADO QUE ROMPERÍA EL PROGRAMA.</a:t>
            </a:r>
          </a:p>
          <a:p>
            <a:pPr algn="l" marL="0" indent="0" lvl="0">
              <a:lnSpc>
                <a:spcPts val="532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79977" y="2209386"/>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2988977" y="5257206"/>
            <a:ext cx="5120602" cy="5120602"/>
          </a:xfrm>
          <a:custGeom>
            <a:avLst/>
            <a:gdLst/>
            <a:ahLst/>
            <a:cxnLst/>
            <a:rect r="r" b="b" t="t" l="l"/>
            <a:pathLst>
              <a:path h="5120602" w="5120602">
                <a:moveTo>
                  <a:pt x="0" y="0"/>
                </a:moveTo>
                <a:lnTo>
                  <a:pt x="5120601" y="0"/>
                </a:lnTo>
                <a:lnTo>
                  <a:pt x="5120601" y="5120602"/>
                </a:lnTo>
                <a:lnTo>
                  <a:pt x="0" y="5120602"/>
                </a:lnTo>
                <a:lnTo>
                  <a:pt x="0" y="0"/>
                </a:lnTo>
                <a:close/>
              </a:path>
            </a:pathLst>
          </a:custGeom>
          <a:blipFill>
            <a:blip r:embed="rId10"/>
            <a:stretch>
              <a:fillRect l="0" t="0" r="0" b="0"/>
            </a:stretch>
          </a:blipFill>
        </p:spPr>
      </p:sp>
      <p:sp>
        <p:nvSpPr>
          <p:cNvPr name="TextBox 10" id="10"/>
          <p:cNvSpPr txBox="true"/>
          <p:nvPr/>
        </p:nvSpPr>
        <p:spPr>
          <a:xfrm rot="0">
            <a:off x="5343242" y="2368367"/>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a:t>
            </a:r>
          </a:p>
        </p:txBody>
      </p:sp>
      <p:sp>
        <p:nvSpPr>
          <p:cNvPr name="TextBox 11" id="11"/>
          <p:cNvSpPr txBox="true"/>
          <p:nvPr/>
        </p:nvSpPr>
        <p:spPr>
          <a:xfrm rot="0">
            <a:off x="4279977" y="2192696"/>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4</a:t>
            </a:r>
          </a:p>
        </p:txBody>
      </p:sp>
      <p:sp>
        <p:nvSpPr>
          <p:cNvPr name="TextBox 12" id="12"/>
          <p:cNvSpPr txBox="true"/>
          <p:nvPr/>
        </p:nvSpPr>
        <p:spPr>
          <a:xfrm rot="0">
            <a:off x="1992505" y="4248526"/>
            <a:ext cx="6485781"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1: EL SALUDO PERSONALIZADO</a:t>
            </a:r>
          </a:p>
        </p:txBody>
      </p:sp>
      <p:sp>
        <p:nvSpPr>
          <p:cNvPr name="TextBox 13" id="13"/>
          <p:cNvSpPr txBox="true"/>
          <p:nvPr/>
        </p:nvSpPr>
        <p:spPr>
          <a:xfrm rot="0">
            <a:off x="1992505" y="5216009"/>
            <a:ext cx="4151114"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2: ¿PAR O IMPAR?</a:t>
            </a:r>
          </a:p>
        </p:txBody>
      </p:sp>
      <p:sp>
        <p:nvSpPr>
          <p:cNvPr name="TextBox 14" id="14"/>
          <p:cNvSpPr txBox="true"/>
          <p:nvPr/>
        </p:nvSpPr>
        <p:spPr>
          <a:xfrm rot="0">
            <a:off x="1992505" y="6185416"/>
            <a:ext cx="11811298"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3: LA CUENTA DEL RESTAURANTE (CALCULADORA DE PROPINAS)</a:t>
            </a:r>
          </a:p>
        </p:txBody>
      </p:sp>
      <p:sp>
        <p:nvSpPr>
          <p:cNvPr name="TextBox 15" id="15"/>
          <p:cNvSpPr txBox="true"/>
          <p:nvPr/>
        </p:nvSpPr>
        <p:spPr>
          <a:xfrm rot="0">
            <a:off x="2051950" y="7154824"/>
            <a:ext cx="6735068"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4: ADIVINA EL NÚMERO SECRETO</a:t>
            </a:r>
          </a:p>
        </p:txBody>
      </p:sp>
      <p:sp>
        <p:nvSpPr>
          <p:cNvPr name="TextBox 16" id="16"/>
          <p:cNvSpPr txBox="true"/>
          <p:nvPr/>
        </p:nvSpPr>
        <p:spPr>
          <a:xfrm rot="0">
            <a:off x="1992505" y="8189871"/>
            <a:ext cx="6279803"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5: EL CONTADOR DE VOCALES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2933621"/>
            <a:ext cx="18288000" cy="7218509"/>
          </a:xfrm>
          <a:custGeom>
            <a:avLst/>
            <a:gdLst/>
            <a:ahLst/>
            <a:cxnLst/>
            <a:rect r="r" b="b" t="t" l="l"/>
            <a:pathLst>
              <a:path h="7218509" w="18288000">
                <a:moveTo>
                  <a:pt x="0" y="0"/>
                </a:moveTo>
                <a:lnTo>
                  <a:pt x="18288000" y="0"/>
                </a:lnTo>
                <a:lnTo>
                  <a:pt x="18288000" y="7218509"/>
                </a:lnTo>
                <a:lnTo>
                  <a:pt x="0" y="7218509"/>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5901110" y="1289951"/>
            <a:ext cx="6485781"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1: EL SALUDO PERSONALIZADO</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971867"/>
            <a:ext cx="15227391" cy="9315133"/>
          </a:xfrm>
          <a:custGeom>
            <a:avLst/>
            <a:gdLst/>
            <a:ahLst/>
            <a:cxnLst/>
            <a:rect r="r" b="b" t="t" l="l"/>
            <a:pathLst>
              <a:path h="9315133" w="15227391">
                <a:moveTo>
                  <a:pt x="0" y="0"/>
                </a:moveTo>
                <a:lnTo>
                  <a:pt x="15227391" y="0"/>
                </a:lnTo>
                <a:lnTo>
                  <a:pt x="15227391" y="9315133"/>
                </a:lnTo>
                <a:lnTo>
                  <a:pt x="0" y="9315133"/>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7068443" y="1289951"/>
            <a:ext cx="4151114"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2: ¿PAR O IMPAR?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1097416"/>
            <a:ext cx="18288000" cy="9213589"/>
          </a:xfrm>
          <a:custGeom>
            <a:avLst/>
            <a:gdLst/>
            <a:ahLst/>
            <a:cxnLst/>
            <a:rect r="r" b="b" t="t" l="l"/>
            <a:pathLst>
              <a:path h="9213589" w="18288000">
                <a:moveTo>
                  <a:pt x="0" y="0"/>
                </a:moveTo>
                <a:lnTo>
                  <a:pt x="18288000" y="0"/>
                </a:lnTo>
                <a:lnTo>
                  <a:pt x="18288000" y="9213589"/>
                </a:lnTo>
                <a:lnTo>
                  <a:pt x="0" y="9213589"/>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5863084" y="1289951"/>
            <a:ext cx="6561832"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3: LA CUENTA DEL RESTAURANTE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337207"/>
            <a:ext cx="18288000" cy="9949793"/>
          </a:xfrm>
          <a:custGeom>
            <a:avLst/>
            <a:gdLst/>
            <a:ahLst/>
            <a:cxnLst/>
            <a:rect r="r" b="b" t="t" l="l"/>
            <a:pathLst>
              <a:path h="9949793" w="18288000">
                <a:moveTo>
                  <a:pt x="0" y="0"/>
                </a:moveTo>
                <a:lnTo>
                  <a:pt x="18288000" y="0"/>
                </a:lnTo>
                <a:lnTo>
                  <a:pt x="18288000" y="9949793"/>
                </a:lnTo>
                <a:lnTo>
                  <a:pt x="0" y="9949793"/>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5776466" y="1289951"/>
            <a:ext cx="6735068"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4: ADIVINA EL NÚMERO SECRETO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0">
            <a:off x="0" y="1324232"/>
            <a:ext cx="18288000" cy="8962768"/>
          </a:xfrm>
          <a:custGeom>
            <a:avLst/>
            <a:gdLst/>
            <a:ahLst/>
            <a:cxnLst/>
            <a:rect r="r" b="b" t="t" l="l"/>
            <a:pathLst>
              <a:path h="8962768" w="18288000">
                <a:moveTo>
                  <a:pt x="0" y="0"/>
                </a:moveTo>
                <a:lnTo>
                  <a:pt x="18288000" y="0"/>
                </a:lnTo>
                <a:lnTo>
                  <a:pt x="18288000" y="8962768"/>
                </a:lnTo>
                <a:lnTo>
                  <a:pt x="0" y="8962768"/>
                </a:lnTo>
                <a:lnTo>
                  <a:pt x="0" y="0"/>
                </a:lnTo>
                <a:close/>
              </a:path>
            </a:pathLst>
          </a:custGeom>
          <a:blipFill>
            <a:blip r:embed="rId10"/>
            <a:stretch>
              <a:fillRect l="0" t="0" r="0" b="0"/>
            </a:stretch>
          </a:blipFill>
        </p:spPr>
      </p:sp>
      <p:sp>
        <p:nvSpPr>
          <p:cNvPr name="TextBox 7" id="7"/>
          <p:cNvSpPr txBox="true"/>
          <p:nvPr/>
        </p:nvSpPr>
        <p:spPr>
          <a:xfrm rot="0">
            <a:off x="4463177" y="452715"/>
            <a:ext cx="9664141"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RETOS DE PROGRAMACIÓN EN PYTHON + GIT Y GITHUB</a:t>
            </a:r>
          </a:p>
        </p:txBody>
      </p:sp>
      <p:sp>
        <p:nvSpPr>
          <p:cNvPr name="TextBox 8" id="8"/>
          <p:cNvSpPr txBox="true"/>
          <p:nvPr/>
        </p:nvSpPr>
        <p:spPr>
          <a:xfrm rot="0">
            <a:off x="6004099" y="1289951"/>
            <a:ext cx="6279803"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RETO 5: EL CONTADOR DE VOCALES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50594" y="2209386"/>
            <a:ext cx="1063265" cy="1063265"/>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4BBB"/>
            </a:solidFill>
          </p:spPr>
        </p:sp>
        <p:sp>
          <p:nvSpPr>
            <p:cNvPr name="TextBox 4" id="4"/>
            <p:cNvSpPr txBox="true"/>
            <p:nvPr/>
          </p:nvSpPr>
          <p:spPr>
            <a:xfrm>
              <a:off x="76200" y="9525"/>
              <a:ext cx="660400" cy="727075"/>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89189" y="-224270"/>
            <a:ext cx="4442528" cy="4867312"/>
          </a:xfrm>
          <a:custGeom>
            <a:avLst/>
            <a:gdLst/>
            <a:ahLst/>
            <a:cxnLst/>
            <a:rect r="r" b="b" t="t" l="l"/>
            <a:pathLst>
              <a:path h="4867312" w="4442528">
                <a:moveTo>
                  <a:pt x="0" y="0"/>
                </a:moveTo>
                <a:lnTo>
                  <a:pt x="4442528" y="0"/>
                </a:lnTo>
                <a:lnTo>
                  <a:pt x="4442528" y="4867312"/>
                </a:lnTo>
                <a:lnTo>
                  <a:pt x="0" y="48673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301756">
            <a:off x="-2081849" y="8823074"/>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7310127">
            <a:off x="12882178" y="-1379687"/>
            <a:ext cx="7315200" cy="3817204"/>
          </a:xfrm>
          <a:custGeom>
            <a:avLst/>
            <a:gdLst/>
            <a:ahLst/>
            <a:cxnLst/>
            <a:rect r="r" b="b" t="t" l="l"/>
            <a:pathLst>
              <a:path h="3817204" w="7315200">
                <a:moveTo>
                  <a:pt x="0" y="0"/>
                </a:moveTo>
                <a:lnTo>
                  <a:pt x="7315200" y="0"/>
                </a:lnTo>
                <a:lnTo>
                  <a:pt x="7315200" y="3817204"/>
                </a:lnTo>
                <a:lnTo>
                  <a:pt x="0" y="38172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2988977" y="5257206"/>
            <a:ext cx="5120602" cy="5120602"/>
          </a:xfrm>
          <a:custGeom>
            <a:avLst/>
            <a:gdLst/>
            <a:ahLst/>
            <a:cxnLst/>
            <a:rect r="r" b="b" t="t" l="l"/>
            <a:pathLst>
              <a:path h="5120602" w="5120602">
                <a:moveTo>
                  <a:pt x="0" y="0"/>
                </a:moveTo>
                <a:lnTo>
                  <a:pt x="5120601" y="0"/>
                </a:lnTo>
                <a:lnTo>
                  <a:pt x="5120601" y="5120602"/>
                </a:lnTo>
                <a:lnTo>
                  <a:pt x="0" y="5120602"/>
                </a:lnTo>
                <a:lnTo>
                  <a:pt x="0" y="0"/>
                </a:lnTo>
                <a:close/>
              </a:path>
            </a:pathLst>
          </a:custGeom>
          <a:blipFill>
            <a:blip r:embed="rId10"/>
            <a:stretch>
              <a:fillRect l="0" t="0" r="0" b="0"/>
            </a:stretch>
          </a:blipFill>
        </p:spPr>
      </p:sp>
      <p:sp>
        <p:nvSpPr>
          <p:cNvPr name="TextBox 10" id="10"/>
          <p:cNvSpPr txBox="true"/>
          <p:nvPr/>
        </p:nvSpPr>
        <p:spPr>
          <a:xfrm rot="0">
            <a:off x="6213859" y="2368367"/>
            <a:ext cx="6923547" cy="669103"/>
          </a:xfrm>
          <a:prstGeom prst="rect">
            <a:avLst/>
          </a:prstGeom>
        </p:spPr>
        <p:txBody>
          <a:bodyPr anchor="t" rtlCol="false" tIns="0" lIns="0" bIns="0" rIns="0">
            <a:spAutoFit/>
          </a:bodyPr>
          <a:lstStyle/>
          <a:p>
            <a:pPr algn="ctr" marL="0" indent="0" lvl="0">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MAS RETOS DE PROGRAMACIÓN BÁSICA</a:t>
            </a:r>
          </a:p>
        </p:txBody>
      </p:sp>
      <p:sp>
        <p:nvSpPr>
          <p:cNvPr name="TextBox 11" id="11"/>
          <p:cNvSpPr txBox="true"/>
          <p:nvPr/>
        </p:nvSpPr>
        <p:spPr>
          <a:xfrm rot="0">
            <a:off x="5150594" y="2192696"/>
            <a:ext cx="1063265" cy="944245"/>
          </a:xfrm>
          <a:prstGeom prst="rect">
            <a:avLst/>
          </a:prstGeom>
        </p:spPr>
        <p:txBody>
          <a:bodyPr anchor="t" rtlCol="false" tIns="0" lIns="0" bIns="0" rIns="0">
            <a:spAutoFit/>
          </a:bodyPr>
          <a:lstStyle/>
          <a:p>
            <a:pPr algn="ctr">
              <a:lnSpc>
                <a:spcPts val="7279"/>
              </a:lnSpc>
            </a:pPr>
            <a:r>
              <a:rPr lang="en-US" sz="5199" b="true">
                <a:solidFill>
                  <a:srgbClr val="FFFFFF"/>
                </a:solidFill>
                <a:latin typeface="Telegraf Bold"/>
                <a:ea typeface="Telegraf Bold"/>
                <a:cs typeface="Telegraf Bold"/>
                <a:sym typeface="Telegraf Bold"/>
              </a:rPr>
              <a:t>5</a:t>
            </a:r>
          </a:p>
        </p:txBody>
      </p:sp>
      <p:sp>
        <p:nvSpPr>
          <p:cNvPr name="TextBox 12" id="12"/>
          <p:cNvSpPr txBox="true"/>
          <p:nvPr/>
        </p:nvSpPr>
        <p:spPr>
          <a:xfrm rot="0">
            <a:off x="3120797" y="5353672"/>
            <a:ext cx="12046405" cy="662683"/>
          </a:xfrm>
          <a:prstGeom prst="rect">
            <a:avLst/>
          </a:prstGeom>
        </p:spPr>
        <p:txBody>
          <a:bodyPr anchor="t" rtlCol="false" tIns="0" lIns="0" bIns="0" rIns="0">
            <a:spAutoFit/>
          </a:bodyPr>
          <a:lstStyle/>
          <a:p>
            <a:pPr algn="ctr">
              <a:lnSpc>
                <a:spcPts val="5474"/>
              </a:lnSpc>
              <a:spcBef>
                <a:spcPct val="0"/>
              </a:spcBef>
            </a:pPr>
            <a:r>
              <a:rPr lang="en-US" b="true" sz="3910">
                <a:solidFill>
                  <a:srgbClr val="000000"/>
                </a:solidFill>
                <a:latin typeface="A Day Without Sun Text Bold"/>
                <a:ea typeface="A Day Without Sun Text Bold"/>
                <a:cs typeface="A Day Without Sun Text Bold"/>
                <a:sym typeface="A Day Without Sun Text Bold"/>
              </a:rPr>
              <a:t>HTTPS://GITHUB.COM/SAMUELCUBANO/SUPERATEC</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528990" y="4080310"/>
            <a:ext cx="13230019" cy="1888256"/>
          </a:xfrm>
          <a:prstGeom prst="rect">
            <a:avLst/>
          </a:prstGeom>
        </p:spPr>
        <p:txBody>
          <a:bodyPr anchor="t" rtlCol="false" tIns="0" lIns="0" bIns="0" rIns="0">
            <a:spAutoFit/>
          </a:bodyPr>
          <a:lstStyle/>
          <a:p>
            <a:pPr algn="ctr">
              <a:lnSpc>
                <a:spcPts val="15207"/>
              </a:lnSpc>
            </a:pPr>
            <a:r>
              <a:rPr lang="en-US" sz="10862">
                <a:solidFill>
                  <a:srgbClr val="3B4BBB"/>
                </a:solidFill>
                <a:latin typeface="A Day Without Sun Text"/>
                <a:ea typeface="A Day Without Sun Text"/>
                <a:cs typeface="A Day Without Sun Text"/>
                <a:sym typeface="A Day Without Sun Text"/>
              </a:rPr>
              <a:t>¿QUE APRENDIMOS HOY?</a:t>
            </a:r>
          </a:p>
        </p:txBody>
      </p:sp>
      <p:sp>
        <p:nvSpPr>
          <p:cNvPr name="Freeform 3" id="3"/>
          <p:cNvSpPr/>
          <p:nvPr/>
        </p:nvSpPr>
        <p:spPr>
          <a:xfrm flipH="false" flipV="false" rot="0">
            <a:off x="-134651" y="-180143"/>
            <a:ext cx="5168775" cy="5663001"/>
          </a:xfrm>
          <a:custGeom>
            <a:avLst/>
            <a:gdLst/>
            <a:ahLst/>
            <a:cxnLst/>
            <a:rect r="r" b="b" t="t" l="l"/>
            <a:pathLst>
              <a:path h="5663001" w="5168775">
                <a:moveTo>
                  <a:pt x="0" y="0"/>
                </a:moveTo>
                <a:lnTo>
                  <a:pt x="5168775" y="0"/>
                </a:lnTo>
                <a:lnTo>
                  <a:pt x="5168775" y="5663000"/>
                </a:lnTo>
                <a:lnTo>
                  <a:pt x="0" y="56630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127318" y="6803185"/>
            <a:ext cx="6263964" cy="3507820"/>
          </a:xfrm>
          <a:custGeom>
            <a:avLst/>
            <a:gdLst/>
            <a:ahLst/>
            <a:cxnLst/>
            <a:rect r="r" b="b" t="t" l="l"/>
            <a:pathLst>
              <a:path h="3507820" w="6263964">
                <a:moveTo>
                  <a:pt x="0" y="0"/>
                </a:moveTo>
                <a:lnTo>
                  <a:pt x="6263964" y="0"/>
                </a:lnTo>
                <a:lnTo>
                  <a:pt x="6263964" y="3507820"/>
                </a:lnTo>
                <a:lnTo>
                  <a:pt x="0" y="350782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0" y="6803185"/>
            <a:ext cx="6221098" cy="3483815"/>
          </a:xfrm>
          <a:custGeom>
            <a:avLst/>
            <a:gdLst/>
            <a:ahLst/>
            <a:cxnLst/>
            <a:rect r="r" b="b" t="t" l="l"/>
            <a:pathLst>
              <a:path h="3483815" w="6221098">
                <a:moveTo>
                  <a:pt x="0" y="0"/>
                </a:moveTo>
                <a:lnTo>
                  <a:pt x="6221098" y="0"/>
                </a:lnTo>
                <a:lnTo>
                  <a:pt x="6221098" y="3483815"/>
                </a:lnTo>
                <a:lnTo>
                  <a:pt x="0" y="348381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3166785" y="-485379"/>
            <a:ext cx="5121215" cy="3771077"/>
          </a:xfrm>
          <a:custGeom>
            <a:avLst/>
            <a:gdLst/>
            <a:ahLst/>
            <a:cxnLst/>
            <a:rect r="r" b="b" t="t" l="l"/>
            <a:pathLst>
              <a:path h="3771077" w="5121215">
                <a:moveTo>
                  <a:pt x="0" y="0"/>
                </a:moveTo>
                <a:lnTo>
                  <a:pt x="5121215" y="0"/>
                </a:lnTo>
                <a:lnTo>
                  <a:pt x="5121215" y="3771076"/>
                </a:lnTo>
                <a:lnTo>
                  <a:pt x="0" y="377107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0266217">
            <a:off x="5556980" y="-1060729"/>
            <a:ext cx="7315200" cy="3165487"/>
          </a:xfrm>
          <a:custGeom>
            <a:avLst/>
            <a:gdLst/>
            <a:ahLst/>
            <a:cxnLst/>
            <a:rect r="r" b="b" t="t" l="l"/>
            <a:pathLst>
              <a:path h="3165487" w="7315200">
                <a:moveTo>
                  <a:pt x="0" y="0"/>
                </a:moveTo>
                <a:lnTo>
                  <a:pt x="7315200" y="0"/>
                </a:lnTo>
                <a:lnTo>
                  <a:pt x="7315200" y="3165487"/>
                </a:lnTo>
                <a:lnTo>
                  <a:pt x="0" y="31654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1005739">
            <a:off x="6416724" y="7692852"/>
            <a:ext cx="6775868" cy="4114800"/>
          </a:xfrm>
          <a:custGeom>
            <a:avLst/>
            <a:gdLst/>
            <a:ahLst/>
            <a:cxnLst/>
            <a:rect r="r" b="b" t="t" l="l"/>
            <a:pathLst>
              <a:path h="4114800" w="6775868">
                <a:moveTo>
                  <a:pt x="0" y="0"/>
                </a:moveTo>
                <a:lnTo>
                  <a:pt x="6775868" y="0"/>
                </a:lnTo>
                <a:lnTo>
                  <a:pt x="6775868" y="4114800"/>
                </a:lnTo>
                <a:lnTo>
                  <a:pt x="0" y="41148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DAHS0QC_G1k</dc:identifier>
  <dcterms:modified xsi:type="dcterms:W3CDTF">2011-08-01T06:04:30Z</dcterms:modified>
  <cp:revision>1</cp:revision>
  <dc:title>Copia de Copia de Copia de Copia de Presentacion de Proyecto Trabajo Plan de Marketing Creativo Organico Moderno Azul </dc:title>
</cp:coreProperties>
</file>